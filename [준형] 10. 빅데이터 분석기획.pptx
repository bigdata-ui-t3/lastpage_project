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9" r:id="rId2"/>
    <p:sldId id="320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>
        <p:scale>
          <a:sx n="75" d="100"/>
          <a:sy n="75" d="100"/>
        </p:scale>
        <p:origin x="2094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b="1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-apple-system"/>
              </a:rPr>
              <a:t>1)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-apple-system"/>
              </a:rPr>
              <a:t>개념적 설계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-apple-system"/>
              </a:rPr>
              <a:t>(Conceptual) —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latin typeface="-apple-system"/>
              </a:rPr>
              <a:t>엔터티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-apple-system"/>
              </a:rPr>
              <a:t>/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-apple-system"/>
              </a:rPr>
              <a:t>관계 요약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표 3">
            <a:extLst>
              <a:ext uri="{FF2B5EF4-FFF2-40B4-BE49-F238E27FC236}">
                <a16:creationId xmlns:a16="http://schemas.microsoft.com/office/drawing/2014/main" id="{E84066DC-8077-44E9-A546-FC0D8217C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779413"/>
              </p:ext>
            </p:extLst>
          </p:nvPr>
        </p:nvGraphicFramePr>
        <p:xfrm>
          <a:off x="1007801" y="1453881"/>
          <a:ext cx="10176396" cy="541741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07270">
                  <a:extLst>
                    <a:ext uri="{9D8B030D-6E8A-4147-A177-3AD203B41FA5}">
                      <a16:colId xmlns:a16="http://schemas.microsoft.com/office/drawing/2014/main" val="1344673237"/>
                    </a:ext>
                  </a:extLst>
                </a:gridCol>
                <a:gridCol w="2980928">
                  <a:extLst>
                    <a:ext uri="{9D8B030D-6E8A-4147-A177-3AD203B41FA5}">
                      <a16:colId xmlns:a16="http://schemas.microsoft.com/office/drawing/2014/main" val="749706230"/>
                    </a:ext>
                  </a:extLst>
                </a:gridCol>
                <a:gridCol w="2544099">
                  <a:extLst>
                    <a:ext uri="{9D8B030D-6E8A-4147-A177-3AD203B41FA5}">
                      <a16:colId xmlns:a16="http://schemas.microsoft.com/office/drawing/2014/main" val="3584374462"/>
                    </a:ext>
                  </a:extLst>
                </a:gridCol>
                <a:gridCol w="2544099">
                  <a:extLst>
                    <a:ext uri="{9D8B030D-6E8A-4147-A177-3AD203B41FA5}">
                      <a16:colId xmlns:a16="http://schemas.microsoft.com/office/drawing/2014/main" val="2594297005"/>
                    </a:ext>
                  </a:extLst>
                </a:gridCol>
              </a:tblGrid>
              <a:tr h="4028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엔티티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핵심 속성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관계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738384"/>
                  </a:ext>
                </a:extLst>
              </a:tr>
              <a:tr h="7243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User(</a:t>
                      </a:r>
                      <a:r>
                        <a:rPr lang="ko-KR" altLang="en-US" sz="1200" b="1" dirty="0"/>
                        <a:t>사용자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age_group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relation_with_deceased</a:t>
                      </a:r>
                      <a:r>
                        <a:rPr lang="en-US" altLang="ko-KR" sz="1200" dirty="0"/>
                        <a:t>(FAMILY/FRIEND), </a:t>
                      </a:r>
                      <a:r>
                        <a:rPr lang="en-US" altLang="ko-KR" sz="1200" dirty="0" err="1"/>
                        <a:t>signup_channel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1:N → </a:t>
                      </a:r>
                      <a:r>
                        <a:rPr lang="en-US" altLang="ko-KR" sz="1200" dirty="0" err="1"/>
                        <a:t>UserLocation</a:t>
                      </a:r>
                      <a:r>
                        <a:rPr lang="en-US" altLang="ko-KR" sz="1200" dirty="0"/>
                        <a:t>,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1:N → Review,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1:N → </a:t>
                      </a:r>
                      <a:r>
                        <a:rPr lang="en-US" altLang="ko-KR" sz="1200" dirty="0" err="1"/>
                        <a:t>CounselingSession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PII </a:t>
                      </a:r>
                      <a:r>
                        <a:rPr lang="ko-KR" altLang="en-US" sz="1200" dirty="0"/>
                        <a:t>분리 저장 권장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611901"/>
                  </a:ext>
                </a:extLst>
              </a:tr>
              <a:tr h="5133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err="1"/>
                        <a:t>UserLocation</a:t>
                      </a:r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위치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lat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lon</a:t>
                      </a:r>
                      <a:r>
                        <a:rPr lang="en-US" altLang="ko-KR" sz="1200" dirty="0"/>
                        <a:t>, </a:t>
                      </a:r>
                    </a:p>
                    <a:p>
                      <a:pPr algn="ctr" latinLnBrk="1"/>
                      <a:r>
                        <a:rPr lang="en-US" altLang="ko-KR" sz="1200" dirty="0" err="1"/>
                        <a:t>accuracy_m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collected_at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N:1 → User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실시간 이벤트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780334"/>
                  </a:ext>
                </a:extLst>
              </a:tr>
              <a:tr h="660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Facility(</a:t>
                      </a:r>
                      <a:r>
                        <a:rPr lang="ko-KR" altLang="en-US" sz="1200" b="1" dirty="0"/>
                        <a:t>장례식장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납골당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facility_id</a:t>
                      </a:r>
                      <a:r>
                        <a:rPr lang="en-US" altLang="ko-KR" sz="1200" dirty="0"/>
                        <a:t>, name, type(FUNERAL_HALL/COLUMBARIUM), </a:t>
                      </a:r>
                      <a:r>
                        <a:rPr lang="en-US" altLang="ko-KR" sz="1200" dirty="0" err="1"/>
                        <a:t>lat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lon</a:t>
                      </a:r>
                      <a:r>
                        <a:rPr lang="en-US" altLang="ko-KR" sz="1200" dirty="0"/>
                        <a:t>, capacity, description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/>
                        <a:t>1:N → Review,</a:t>
                      </a:r>
                    </a:p>
                    <a:p>
                      <a:pPr algn="ctr" latinLnBrk="1"/>
                      <a:r>
                        <a:rPr lang="pt-BR" altLang="ko-KR" sz="1200" dirty="0"/>
                        <a:t>1:N → FacilitySnapshot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지역 </a:t>
                      </a:r>
                      <a:r>
                        <a:rPr lang="en-US" altLang="ko-KR" sz="1200" dirty="0"/>
                        <a:t>DB </a:t>
                      </a:r>
                      <a:r>
                        <a:rPr lang="ko-KR" altLang="en-US" sz="1200" dirty="0"/>
                        <a:t>및 공공 </a:t>
                      </a:r>
                      <a:r>
                        <a:rPr lang="en-US" altLang="ko-KR" sz="1200" dirty="0"/>
                        <a:t>API </a:t>
                      </a:r>
                      <a:r>
                        <a:rPr lang="ko-KR" altLang="en-US" sz="1200" dirty="0"/>
                        <a:t>연계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855080"/>
                  </a:ext>
                </a:extLst>
              </a:tr>
              <a:tr h="6075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err="1"/>
                        <a:t>FacilitySnapshot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혼잡도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상태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facility_id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obs_time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crowd_index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available_slots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N:1 → Facility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r>
                        <a:rPr lang="ko-KR" altLang="en-US" sz="1200" dirty="0"/>
                        <a:t>분 </a:t>
                      </a:r>
                      <a:r>
                        <a:rPr lang="ko-KR" altLang="en-US" sz="1200" dirty="0" err="1"/>
                        <a:t>폴링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183419"/>
                  </a:ext>
                </a:extLst>
              </a:tr>
              <a:tr h="6153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Review(</a:t>
                      </a:r>
                      <a:r>
                        <a:rPr lang="ko-KR" altLang="en-US" sz="1200" b="1" dirty="0"/>
                        <a:t>리뷰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review_id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, source, rating, text, </a:t>
                      </a:r>
                      <a:r>
                        <a:rPr lang="en-US" altLang="ko-KR" sz="1200" dirty="0" err="1"/>
                        <a:t>sentiment_score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reviewed_at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N:1 → Facility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감성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품질 반영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644808"/>
                  </a:ext>
                </a:extLst>
              </a:tr>
              <a:tr h="6267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Counselor(</a:t>
                      </a:r>
                      <a:r>
                        <a:rPr lang="ko-KR" altLang="en-US" sz="1200" b="1" dirty="0"/>
                        <a:t>상담사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counselor_id</a:t>
                      </a:r>
                      <a:r>
                        <a:rPr lang="en-US" altLang="ko-KR" sz="1200" dirty="0"/>
                        <a:t>, specialty, </a:t>
                      </a:r>
                      <a:r>
                        <a:rPr lang="en-US" altLang="ko-KR" sz="1200" dirty="0" err="1"/>
                        <a:t>available_time</a:t>
                      </a:r>
                      <a:r>
                        <a:rPr lang="en-US" altLang="ko-KR" sz="1200" dirty="0"/>
                        <a:t>, rating, description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1:N → </a:t>
                      </a:r>
                      <a:r>
                        <a:rPr lang="en-US" altLang="ko-KR" sz="1200" dirty="0" err="1"/>
                        <a:t>CounselingSession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전문가 </a:t>
                      </a:r>
                      <a:r>
                        <a:rPr lang="en-US" altLang="ko-KR" sz="1200" dirty="0"/>
                        <a:t>DB </a:t>
                      </a:r>
                      <a:r>
                        <a:rPr lang="ko-KR" altLang="en-US" sz="1200" dirty="0"/>
                        <a:t>연계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582960"/>
                  </a:ext>
                </a:extLst>
              </a:tr>
              <a:tr h="6267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err="1"/>
                        <a:t>CounselingSession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상담 세션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session_id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counselor_id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context_json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created_at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/>
                        <a:t>N:1 → User,</a:t>
                      </a:r>
                    </a:p>
                    <a:p>
                      <a:pPr algn="ctr" latinLnBrk="1"/>
                      <a:r>
                        <a:rPr lang="pt-BR" altLang="ko-KR" sz="1200" dirty="0"/>
                        <a:t>N:1 → Counselor,</a:t>
                      </a:r>
                    </a:p>
                    <a:p>
                      <a:pPr algn="ctr" latinLnBrk="1"/>
                      <a:r>
                        <a:rPr lang="pt-BR" altLang="ko-KR" sz="1200" dirty="0"/>
                        <a:t>1:N → Recommendation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기록 보관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465030"/>
                  </a:ext>
                </a:extLst>
              </a:tr>
              <a:tr h="6267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Recommendation</a:t>
                      </a:r>
                    </a:p>
                    <a:p>
                      <a:pPr algn="ctr" latinLnBrk="1"/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추천 결과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rec_id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session_id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counselor_id</a:t>
                      </a:r>
                      <a:r>
                        <a:rPr lang="en-US" altLang="ko-KR" sz="1200" dirty="0"/>
                        <a:t>,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score, </a:t>
                      </a:r>
                      <a:r>
                        <a:rPr lang="en-US" altLang="ko-KR" sz="1200" dirty="0" err="1"/>
                        <a:t>rationale_text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N:1 → </a:t>
                      </a:r>
                      <a:r>
                        <a:rPr lang="en-US" altLang="ko-KR" sz="1200" dirty="0" err="1"/>
                        <a:t>CounselingSession</a:t>
                      </a:r>
                      <a:r>
                        <a:rPr lang="en-US" altLang="ko-KR" sz="1200" dirty="0"/>
                        <a:t>,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N:1 → Counselor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맞춤형 추천 근거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923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845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32135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b="1" i="0" dirty="0">
                <a:solidFill>
                  <a:srgbClr val="000000"/>
                </a:solidFill>
                <a:effectLst/>
                <a:latin typeface="-apple-system"/>
              </a:rPr>
              <a:t>2)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-apple-system"/>
              </a:rPr>
              <a:t>논리적 설계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-apple-system"/>
              </a:rPr>
              <a:t>(Logical) —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-apple-system"/>
              </a:rPr>
              <a:t>테이블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-apple-system"/>
              </a:rPr>
              <a:t>/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-apple-system"/>
              </a:rPr>
              <a:t>키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-apple-system"/>
              </a:rPr>
              <a:t>/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-apple-system"/>
              </a:rPr>
              <a:t>인덱스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-apple-system"/>
              </a:rPr>
              <a:t>(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-apple-system"/>
              </a:rPr>
              <a:t>자료형 포함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-apple-system"/>
              </a:rPr>
              <a:t>)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표 3">
            <a:extLst>
              <a:ext uri="{FF2B5EF4-FFF2-40B4-BE49-F238E27FC236}">
                <a16:creationId xmlns:a16="http://schemas.microsoft.com/office/drawing/2014/main" id="{E84066DC-8077-44E9-A546-FC0D8217C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400122"/>
              </p:ext>
            </p:extLst>
          </p:nvPr>
        </p:nvGraphicFramePr>
        <p:xfrm>
          <a:off x="0" y="1321355"/>
          <a:ext cx="12191998" cy="5791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1344673237"/>
                    </a:ext>
                  </a:extLst>
                </a:gridCol>
                <a:gridCol w="6165850">
                  <a:extLst>
                    <a:ext uri="{9D8B030D-6E8A-4147-A177-3AD203B41FA5}">
                      <a16:colId xmlns:a16="http://schemas.microsoft.com/office/drawing/2014/main" val="74970623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3584374462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594297005"/>
                    </a:ext>
                  </a:extLst>
                </a:gridCol>
                <a:gridCol w="1930398">
                  <a:extLst>
                    <a:ext uri="{9D8B030D-6E8A-4147-A177-3AD203B41FA5}">
                      <a16:colId xmlns:a16="http://schemas.microsoft.com/office/drawing/2014/main" val="2336383843"/>
                    </a:ext>
                  </a:extLst>
                </a:gridCol>
              </a:tblGrid>
              <a:tr h="2359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테이블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컬럼 정의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자료형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PK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FK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인덱스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기타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738384"/>
                  </a:ext>
                </a:extLst>
              </a:tr>
              <a:tr h="4954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TB_USER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 BIGINT UNSIGNED; </a:t>
                      </a:r>
                      <a:r>
                        <a:rPr lang="en-US" altLang="ko-KR" sz="1200" dirty="0" err="1"/>
                        <a:t>age_group</a:t>
                      </a:r>
                      <a:r>
                        <a:rPr lang="en-US" altLang="ko-KR" sz="1200" dirty="0"/>
                        <a:t> ENUM('20</a:t>
                      </a:r>
                      <a:r>
                        <a:rPr lang="ko-KR" altLang="en-US" sz="1200" dirty="0"/>
                        <a:t>대</a:t>
                      </a:r>
                      <a:r>
                        <a:rPr lang="en-US" altLang="ko-KR" sz="1200" dirty="0"/>
                        <a:t>','30</a:t>
                      </a:r>
                      <a:r>
                        <a:rPr lang="ko-KR" altLang="en-US" sz="1200" dirty="0"/>
                        <a:t>대</a:t>
                      </a:r>
                      <a:r>
                        <a:rPr lang="en-US" altLang="ko-KR" sz="1200" dirty="0"/>
                        <a:t>','40</a:t>
                      </a:r>
                      <a:r>
                        <a:rPr lang="ko-KR" altLang="en-US" sz="1200" dirty="0"/>
                        <a:t>대</a:t>
                      </a:r>
                      <a:r>
                        <a:rPr lang="en-US" altLang="ko-KR" sz="1200" dirty="0"/>
                        <a:t>','50</a:t>
                      </a:r>
                      <a:r>
                        <a:rPr lang="ko-KR" altLang="en-US" sz="1200" dirty="0"/>
                        <a:t>대</a:t>
                      </a:r>
                      <a:r>
                        <a:rPr lang="en-US" altLang="ko-KR" sz="1200" dirty="0"/>
                        <a:t>+'); </a:t>
                      </a:r>
                      <a:r>
                        <a:rPr lang="en-US" altLang="ko-KR" sz="1200" dirty="0" err="1"/>
                        <a:t>relation_with_deceased</a:t>
                      </a:r>
                      <a:r>
                        <a:rPr lang="en-US" altLang="ko-KR" sz="1200" dirty="0"/>
                        <a:t> ENUM('FAMILY','FRIEND'); </a:t>
                      </a:r>
                      <a:r>
                        <a:rPr lang="en-US" altLang="ko-KR" sz="1200" dirty="0" err="1"/>
                        <a:t>signup_channel</a:t>
                      </a:r>
                      <a:r>
                        <a:rPr lang="en-US" altLang="ko-KR" sz="1200" dirty="0"/>
                        <a:t> VARCHAR(30); </a:t>
                      </a:r>
                      <a:r>
                        <a:rPr lang="en-US" altLang="ko-KR" sz="1200" dirty="0" err="1"/>
                        <a:t>created_at</a:t>
                      </a:r>
                      <a:r>
                        <a:rPr lang="en-US" altLang="ko-KR" sz="1200" dirty="0"/>
                        <a:t> DATETIME(3)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user_id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—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—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611901"/>
                  </a:ext>
                </a:extLst>
              </a:tr>
              <a:tr h="353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TB_USER_LOCATION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loc_id</a:t>
                      </a:r>
                      <a:r>
                        <a:rPr lang="en-US" altLang="ko-KR" sz="1200" dirty="0"/>
                        <a:t> BIGINT UNSIGNED AUTO_INCREMENT; </a:t>
                      </a:r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 BIGINT UNSIGNED; </a:t>
                      </a:r>
                      <a:r>
                        <a:rPr lang="en-US" altLang="ko-KR" sz="1200" dirty="0" err="1"/>
                        <a:t>lat</a:t>
                      </a:r>
                      <a:r>
                        <a:rPr lang="en-US" altLang="ko-KR" sz="1200" dirty="0"/>
                        <a:t> DECIMAL(9,6); </a:t>
                      </a:r>
                      <a:r>
                        <a:rPr lang="en-US" altLang="ko-KR" sz="1200" dirty="0" err="1"/>
                        <a:t>lon</a:t>
                      </a:r>
                      <a:r>
                        <a:rPr lang="en-US" altLang="ko-KR" sz="1200" dirty="0"/>
                        <a:t> DECIMAL(9,6); </a:t>
                      </a:r>
                      <a:r>
                        <a:rPr lang="en-US" altLang="ko-KR" sz="1200" dirty="0" err="1"/>
                        <a:t>accuracy_m</a:t>
                      </a:r>
                      <a:r>
                        <a:rPr lang="en-US" altLang="ko-KR" sz="1200" dirty="0"/>
                        <a:t> FLOAT; </a:t>
                      </a:r>
                      <a:r>
                        <a:rPr lang="en-US" altLang="ko-KR" sz="1200" dirty="0" err="1"/>
                        <a:t>collected_at</a:t>
                      </a:r>
                      <a:r>
                        <a:rPr lang="en-US" altLang="ko-KR" sz="1200" dirty="0"/>
                        <a:t> DATETIME(3)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loc_id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 → </a:t>
                      </a:r>
                      <a:r>
                        <a:rPr lang="en-US" altLang="ko-KR" sz="1200" dirty="0" err="1"/>
                        <a:t>TB_USER.user_id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IDX(</a:t>
                      </a:r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collected_at</a:t>
                      </a:r>
                      <a:r>
                        <a:rPr lang="en-US" altLang="ko-KR" sz="1200" dirty="0"/>
                        <a:t>), GEO(</a:t>
                      </a:r>
                      <a:r>
                        <a:rPr lang="en-US" altLang="ko-KR" sz="1200" dirty="0" err="1"/>
                        <a:t>lat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lon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780334"/>
                  </a:ext>
                </a:extLst>
              </a:tr>
              <a:tr h="4954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TB_FACILITY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facility_id</a:t>
                      </a:r>
                      <a:r>
                        <a:rPr lang="en-US" altLang="ko-KR" sz="1200" dirty="0"/>
                        <a:t> VARCHAR(32); name VARCHAR(200); type ENUM('FUNERAL_HALL','COLUMBARIUM'); </a:t>
                      </a:r>
                      <a:r>
                        <a:rPr lang="en-US" altLang="ko-KR" sz="1200" dirty="0" err="1"/>
                        <a:t>lat</a:t>
                      </a:r>
                      <a:r>
                        <a:rPr lang="en-US" altLang="ko-KR" sz="1200" dirty="0"/>
                        <a:t> DECIMAL(9,6); </a:t>
                      </a:r>
                      <a:r>
                        <a:rPr lang="en-US" altLang="ko-KR" sz="1200" dirty="0" err="1"/>
                        <a:t>lon</a:t>
                      </a:r>
                      <a:r>
                        <a:rPr lang="en-US" altLang="ko-KR" sz="1200" dirty="0"/>
                        <a:t> DECIMAL(9,6); capacity INT; description TEXT; </a:t>
                      </a:r>
                      <a:r>
                        <a:rPr lang="en-US" altLang="ko-KR" sz="1200" dirty="0" err="1"/>
                        <a:t>updated_at</a:t>
                      </a:r>
                      <a:r>
                        <a:rPr lang="en-US" altLang="ko-KR" sz="1200" dirty="0"/>
                        <a:t> DATETIME(0)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facility_id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—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GEO(</a:t>
                      </a:r>
                      <a:r>
                        <a:rPr lang="en-US" altLang="ko-KR" sz="1200" dirty="0" err="1"/>
                        <a:t>lat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lon</a:t>
                      </a:r>
                      <a:r>
                        <a:rPr lang="en-US" altLang="ko-KR" sz="1200" dirty="0"/>
                        <a:t>), IDX(type)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855080"/>
                  </a:ext>
                </a:extLst>
              </a:tr>
              <a:tr h="353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TB_FACILITY_SNAPSHOT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snapshot_id</a:t>
                      </a:r>
                      <a:r>
                        <a:rPr lang="en-US" altLang="ko-KR" sz="1200" dirty="0"/>
                        <a:t> BIGINT UNSIGNED AUTO_INCREMENT; </a:t>
                      </a:r>
                      <a:r>
                        <a:rPr lang="en-US" altLang="ko-KR" sz="1200" dirty="0" err="1"/>
                        <a:t>facility_id</a:t>
                      </a:r>
                      <a:r>
                        <a:rPr lang="en-US" altLang="ko-KR" sz="1200" dirty="0"/>
                        <a:t> VARCHAR(32) NULL; </a:t>
                      </a:r>
                      <a:r>
                        <a:rPr lang="en-US" altLang="ko-KR" sz="1200" dirty="0" err="1"/>
                        <a:t>obs_time</a:t>
                      </a:r>
                      <a:r>
                        <a:rPr lang="en-US" altLang="ko-KR" sz="1200" dirty="0"/>
                        <a:t> DATETIME(0); </a:t>
                      </a:r>
                      <a:r>
                        <a:rPr lang="en-US" altLang="ko-KR" sz="1200" dirty="0" err="1"/>
                        <a:t>crowd_index</a:t>
                      </a:r>
                      <a:r>
                        <a:rPr lang="en-US" altLang="ko-KR" sz="1200" dirty="0"/>
                        <a:t> DECIMAL(5,2); </a:t>
                      </a:r>
                      <a:r>
                        <a:rPr lang="en-US" altLang="ko-KR" sz="1200" dirty="0" err="1"/>
                        <a:t>available_slots</a:t>
                      </a:r>
                      <a:r>
                        <a:rPr lang="en-US" altLang="ko-KR" sz="1200" dirty="0"/>
                        <a:t> INT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snapshot_id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옵션</a:t>
                      </a:r>
                      <a:r>
                        <a:rPr lang="en-US" altLang="ko-KR" sz="1200" dirty="0"/>
                        <a:t>) </a:t>
                      </a:r>
                      <a:r>
                        <a:rPr lang="en-US" altLang="ko-KR" sz="1200" dirty="0" err="1"/>
                        <a:t>facility_id</a:t>
                      </a:r>
                      <a:r>
                        <a:rPr lang="en-US" altLang="ko-KR" sz="1200" dirty="0"/>
                        <a:t> → </a:t>
                      </a:r>
                      <a:r>
                        <a:rPr lang="en-US" altLang="ko-KR" sz="1200" dirty="0" err="1"/>
                        <a:t>TB_FACILITY.facility_id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IDX(</a:t>
                      </a:r>
                      <a:r>
                        <a:rPr lang="en-US" altLang="ko-KR" sz="1200" dirty="0" err="1"/>
                        <a:t>obs_time</a:t>
                      </a:r>
                      <a:r>
                        <a:rPr lang="en-US" altLang="ko-KR" sz="1200" dirty="0"/>
                        <a:t>), IDX(</a:t>
                      </a:r>
                      <a:r>
                        <a:rPr lang="en-US" altLang="ko-KR" sz="1200" dirty="0" err="1"/>
                        <a:t>facility_id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obs_time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183419"/>
                  </a:ext>
                </a:extLst>
              </a:tr>
              <a:tr h="4954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TB_REVIEW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review_id</a:t>
                      </a:r>
                      <a:r>
                        <a:rPr lang="en-US" altLang="ko-KR" sz="1200" dirty="0"/>
                        <a:t> VARCHAR(64); </a:t>
                      </a:r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 BIGINT UNSIGNED; </a:t>
                      </a:r>
                      <a:r>
                        <a:rPr lang="en-US" altLang="ko-KR" sz="1200" dirty="0" err="1"/>
                        <a:t>facility_id</a:t>
                      </a:r>
                      <a:r>
                        <a:rPr lang="en-US" altLang="ko-KR" sz="1200" dirty="0"/>
                        <a:t> VARCHAR(32); source ENUM('DIRECT','NAVER','GOOGLE'); rating DECIMAL(2,1); text </a:t>
                      </a:r>
                      <a:r>
                        <a:rPr lang="en-US" altLang="ko-KR" sz="1200" dirty="0" err="1"/>
                        <a:t>TEXT</a:t>
                      </a:r>
                      <a:r>
                        <a:rPr lang="en-US" altLang="ko-KR" sz="1200" dirty="0"/>
                        <a:t>; </a:t>
                      </a:r>
                      <a:r>
                        <a:rPr lang="en-US" altLang="ko-KR" sz="1200" dirty="0" err="1"/>
                        <a:t>sentiment_score</a:t>
                      </a:r>
                      <a:r>
                        <a:rPr lang="en-US" altLang="ko-KR" sz="1200" dirty="0"/>
                        <a:t> DECIMAL(3,2); </a:t>
                      </a:r>
                      <a:r>
                        <a:rPr lang="en-US" altLang="ko-KR" sz="1200" dirty="0" err="1"/>
                        <a:t>reviewed_at</a:t>
                      </a:r>
                      <a:r>
                        <a:rPr lang="en-US" altLang="ko-KR" sz="1200" dirty="0"/>
                        <a:t> DATETIME(0)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review_id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facility_id</a:t>
                      </a:r>
                      <a:r>
                        <a:rPr lang="en-US" altLang="ko-KR" sz="1200" dirty="0"/>
                        <a:t> → </a:t>
                      </a:r>
                      <a:r>
                        <a:rPr lang="en-US" altLang="ko-KR" sz="1200" dirty="0" err="1"/>
                        <a:t>TB_FACILITY.facility_id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IDX(</a:t>
                      </a:r>
                      <a:r>
                        <a:rPr lang="en-US" altLang="ko-KR" sz="1200" dirty="0" err="1"/>
                        <a:t>facility_id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reviewed_at</a:t>
                      </a:r>
                      <a:r>
                        <a:rPr lang="en-US" altLang="ko-KR" sz="1200" dirty="0"/>
                        <a:t>), FULLTEXT(text)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644808"/>
                  </a:ext>
                </a:extLst>
              </a:tr>
              <a:tr h="353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TB_COUNSELOR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counselor_id BIGINT UNSIGNED AUTO_INCREMENT; specialty VARCHAR(100); available_time JSON; rating DECIMAL(2,1); description TEXT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counselor_id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—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IDX(specialty), IDX(rating)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582960"/>
                  </a:ext>
                </a:extLst>
              </a:tr>
              <a:tr h="7785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TB_COUNSELING_SESSION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session_id</a:t>
                      </a:r>
                      <a:r>
                        <a:rPr lang="en-US" altLang="ko-KR" sz="1200" dirty="0"/>
                        <a:t> CHAR(36); </a:t>
                      </a:r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 BIGINT UNSIGNED; </a:t>
                      </a:r>
                      <a:r>
                        <a:rPr lang="en-US" altLang="ko-KR" sz="1200" dirty="0" err="1"/>
                        <a:t>counselor_id</a:t>
                      </a:r>
                      <a:r>
                        <a:rPr lang="en-US" altLang="ko-KR" sz="1200" dirty="0"/>
                        <a:t> BIGINT UNSIGNED; </a:t>
                      </a:r>
                      <a:r>
                        <a:rPr lang="en-US" altLang="ko-KR" sz="1200" dirty="0" err="1"/>
                        <a:t>context_json</a:t>
                      </a:r>
                      <a:r>
                        <a:rPr lang="en-US" altLang="ko-KR" sz="1200" dirty="0"/>
                        <a:t> JSON; </a:t>
                      </a:r>
                      <a:r>
                        <a:rPr lang="en-US" altLang="ko-KR" sz="1200" dirty="0" err="1"/>
                        <a:t>created_at</a:t>
                      </a:r>
                      <a:r>
                        <a:rPr lang="en-US" altLang="ko-KR" sz="1200" dirty="0"/>
                        <a:t> DATETIME(3)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session_id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 → </a:t>
                      </a:r>
                      <a:r>
                        <a:rPr lang="en-US" altLang="ko-KR" sz="1200" dirty="0" err="1"/>
                        <a:t>TB_USER.user_id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counselor_id</a:t>
                      </a:r>
                      <a:r>
                        <a:rPr lang="en-US" altLang="ko-KR" sz="1200" dirty="0"/>
                        <a:t> → </a:t>
                      </a:r>
                      <a:r>
                        <a:rPr lang="en-US" altLang="ko-KR" sz="1200" dirty="0" err="1"/>
                        <a:t>TB_COUNSELOR.counselor_id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IDX(</a:t>
                      </a:r>
                      <a:r>
                        <a:rPr lang="en-US" altLang="ko-KR" sz="1200" dirty="0" err="1"/>
                        <a:t>user_id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created_at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465030"/>
                  </a:ext>
                </a:extLst>
              </a:tr>
              <a:tr h="9201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TB_RECOMMENDATION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rec_id</a:t>
                      </a:r>
                      <a:r>
                        <a:rPr lang="en-US" altLang="ko-KR" sz="1200" dirty="0"/>
                        <a:t> CHAR(36); </a:t>
                      </a:r>
                      <a:r>
                        <a:rPr lang="en-US" altLang="ko-KR" sz="1200" dirty="0" err="1"/>
                        <a:t>session_id</a:t>
                      </a:r>
                      <a:r>
                        <a:rPr lang="en-US" altLang="ko-KR" sz="1200" dirty="0"/>
                        <a:t> CHAR(36); </a:t>
                      </a:r>
                      <a:r>
                        <a:rPr lang="en-US" altLang="ko-KR" sz="1200" dirty="0" err="1"/>
                        <a:t>counselor_id</a:t>
                      </a:r>
                      <a:r>
                        <a:rPr lang="en-US" altLang="ko-KR" sz="1200" dirty="0"/>
                        <a:t> BIGINT UNSIGNED; score DECIMAL(3,2); </a:t>
                      </a:r>
                      <a:r>
                        <a:rPr lang="en-US" altLang="ko-KR" sz="1200" dirty="0" err="1"/>
                        <a:t>rationale_text</a:t>
                      </a:r>
                      <a:r>
                        <a:rPr lang="en-US" altLang="ko-KR" sz="1200" dirty="0"/>
                        <a:t> TEXT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rec_id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session_id → TB_COUNSELING_SESSION.session_id, counselor_id → TB_COUNSELOR.counselor_id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—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923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4479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2125</TotalTime>
  <Words>851</Words>
  <Application>Microsoft Office PowerPoint</Application>
  <PresentationFormat>와이드스크린</PresentationFormat>
  <Paragraphs>96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-apple-system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111</cp:revision>
  <dcterms:created xsi:type="dcterms:W3CDTF">2025-08-05T00:27:28Z</dcterms:created>
  <dcterms:modified xsi:type="dcterms:W3CDTF">2025-09-30T08:06:44Z</dcterms:modified>
</cp:coreProperties>
</file>