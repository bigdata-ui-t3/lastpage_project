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8" r:id="rId2"/>
    <p:sldId id="257" r:id="rId3"/>
    <p:sldId id="337" r:id="rId4"/>
    <p:sldId id="348" r:id="rId5"/>
    <p:sldId id="349" r:id="rId6"/>
    <p:sldId id="350" r:id="rId7"/>
    <p:sldId id="351" r:id="rId8"/>
    <p:sldId id="35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35" autoAdjust="0"/>
    <p:restoredTop sz="94660"/>
  </p:normalViewPr>
  <p:slideViewPr>
    <p:cSldViewPr snapToGrid="0">
      <p:cViewPr varScale="1">
        <p:scale>
          <a:sx n="83" d="100"/>
          <a:sy n="83" d="100"/>
        </p:scale>
        <p:origin x="114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64FBC-A603-4149-BCAB-2D4F768B91F6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F3FA8-2471-4FD8-B750-534028B4DD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304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409213"/>
            <a:ext cx="2247122" cy="1261535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분석 데이터 </a:t>
            </a:r>
            <a:r>
              <a:rPr lang="ko-KR" altLang="en-US" sz="4400" dirty="0" err="1">
                <a:solidFill>
                  <a:schemeClr val="bg1"/>
                </a:solidFill>
              </a:rPr>
              <a:t>전처리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2E548-C65D-48A7-AF17-BB29D6CB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42967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altLang="ko-KR" sz="2800" dirty="0"/>
              <a:t>INDEX </a:t>
            </a:r>
            <a:r>
              <a:rPr lang="ko-KR" altLang="en-US" sz="2800" dirty="0"/>
              <a:t>및 </a:t>
            </a:r>
            <a:r>
              <a:rPr lang="en-US" altLang="ko-KR" sz="2800" dirty="0"/>
              <a:t>CONTENTS</a:t>
            </a:r>
            <a:endParaRPr lang="ko-KR" altLang="en-US" sz="2800" dirty="0"/>
          </a:p>
        </p:txBody>
      </p:sp>
      <p:pic>
        <p:nvPicPr>
          <p:cNvPr id="5" name="그림 4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4ED27-7257-EC1F-98C4-E6E38551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1" y="236265"/>
            <a:ext cx="815249" cy="8152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93E1F-B78C-523A-B7A0-7AA31B32F725}"/>
              </a:ext>
            </a:extLst>
          </p:cNvPr>
          <p:cNvSpPr txBox="1"/>
          <p:nvPr/>
        </p:nvSpPr>
        <p:spPr>
          <a:xfrm>
            <a:off x="11446707" y="6439943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EA2501B-6B7D-417C-BE87-5373F6C9C5A5}"/>
              </a:ext>
            </a:extLst>
          </p:cNvPr>
          <p:cNvSpPr txBox="1">
            <a:spLocks/>
          </p:cNvSpPr>
          <p:nvPr/>
        </p:nvSpPr>
        <p:spPr>
          <a:xfrm>
            <a:off x="463405" y="1716269"/>
            <a:ext cx="5442445" cy="2304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결측치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처리</a:t>
            </a:r>
            <a:r>
              <a:rPr kumimoji="0" lang="en-US" altLang="ko-KR" sz="15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 – </a:t>
            </a:r>
            <a:r>
              <a:rPr kumimoji="0" lang="ko-KR" altLang="en-US" sz="15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박준형</a:t>
            </a:r>
            <a:r>
              <a:rPr kumimoji="0" lang="en-US" altLang="ko-KR" sz="15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(4p-5p)</a:t>
            </a:r>
            <a:r>
              <a:rPr kumimoji="0" lang="en-US" altLang="ko-KR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n-cs"/>
              </a:rPr>
              <a:t> </a:t>
            </a:r>
            <a:endParaRPr lang="ko-KR" altLang="en-US" sz="20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프로젝트 품질 이슈 분석 및 근본 원인 보고서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프로젝트 생명 </a:t>
            </a:r>
            <a:r>
              <a:rPr lang="ko-KR" altLang="en-US" sz="1500" dirty="0" err="1">
                <a:solidFill>
                  <a:schemeClr val="bg1"/>
                </a:solidFill>
                <a:latin typeface="+mj-lt"/>
              </a:rPr>
              <a:t>주기별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 품질 관리 계획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15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CFC6EAA-8325-4486-8D16-3BE392A7BDB4}"/>
              </a:ext>
            </a:extLst>
          </p:cNvPr>
          <p:cNvSpPr txBox="1">
            <a:spLocks/>
          </p:cNvSpPr>
          <p:nvPr/>
        </p:nvSpPr>
        <p:spPr>
          <a:xfrm>
            <a:off x="6398522" y="1716269"/>
            <a:ext cx="5327661" cy="15722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레이블 인코딩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– </a:t>
            </a:r>
            <a:r>
              <a:rPr lang="ko-KR" altLang="en-US" sz="1500" b="1" u="sng" dirty="0" err="1">
                <a:solidFill>
                  <a:schemeClr val="bg1"/>
                </a:solidFill>
                <a:latin typeface="+mj-lt"/>
              </a:rPr>
              <a:t>손보금</a:t>
            </a:r>
            <a:r>
              <a:rPr lang="en-US" altLang="ko-KR" sz="1500" b="1" u="sng" dirty="0">
                <a:solidFill>
                  <a:schemeClr val="bg1"/>
                </a:solidFill>
                <a:latin typeface="+mj-lt"/>
              </a:rPr>
              <a:t>(6p-9p)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조직 역할 및 책임 할당표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(RACI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분석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분석가를 위한 역량 교육 체계 설계 보고서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D7B18B17-BE04-4BE0-B812-06966B97BD73}"/>
              </a:ext>
            </a:extLst>
          </p:cNvPr>
          <p:cNvSpPr txBox="1">
            <a:spLocks/>
          </p:cNvSpPr>
          <p:nvPr/>
        </p:nvSpPr>
        <p:spPr>
          <a:xfrm>
            <a:off x="463404" y="4157238"/>
            <a:ext cx="5442445" cy="2304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2"/>
            </a:pP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이상치 처리</a:t>
            </a:r>
            <a:r>
              <a:rPr lang="en-US" altLang="ko-KR" sz="1500" b="1" u="sng" dirty="0">
                <a:solidFill>
                  <a:schemeClr val="bg1"/>
                </a:solidFill>
                <a:latin typeface="+mj-lt"/>
              </a:rPr>
              <a:t>– </a:t>
            </a:r>
            <a:r>
              <a:rPr lang="ko-KR" altLang="en-US" sz="1500" b="1" u="sng" dirty="0">
                <a:solidFill>
                  <a:schemeClr val="bg1"/>
                </a:solidFill>
                <a:latin typeface="+mj-lt"/>
              </a:rPr>
              <a:t>심예진</a:t>
            </a:r>
            <a:r>
              <a:rPr lang="en-US" altLang="ko-KR" sz="1500" b="1" u="sng" dirty="0">
                <a:solidFill>
                  <a:schemeClr val="bg1"/>
                </a:solidFill>
                <a:latin typeface="+mj-lt"/>
              </a:rPr>
              <a:t>(4p-5p)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개인 정보 </a:t>
            </a:r>
            <a:r>
              <a:rPr lang="ko-KR" altLang="en-US" sz="1500" dirty="0" err="1">
                <a:solidFill>
                  <a:schemeClr val="bg1"/>
                </a:solidFill>
                <a:latin typeface="+mj-lt"/>
              </a:rPr>
              <a:t>비식별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 조치 계획 보고서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수명 </a:t>
            </a:r>
            <a:r>
              <a:rPr lang="ko-KR" altLang="en-US" sz="1500" dirty="0" err="1">
                <a:solidFill>
                  <a:schemeClr val="bg1"/>
                </a:solidFill>
                <a:latin typeface="+mj-lt"/>
              </a:rPr>
              <a:t>주기별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 위협 요소 분석 및 대응방안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     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17CA8DE4-6BE9-4BE6-AC91-FFD8E1E3EC2D}"/>
              </a:ext>
            </a:extLst>
          </p:cNvPr>
          <p:cNvSpPr txBox="1">
            <a:spLocks/>
          </p:cNvSpPr>
          <p:nvPr/>
        </p:nvSpPr>
        <p:spPr>
          <a:xfrm>
            <a:off x="6398521" y="4157238"/>
            <a:ext cx="5726365" cy="968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4"/>
            </a:pP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표준화 처리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– </a:t>
            </a:r>
            <a:r>
              <a:rPr lang="ko-KR" altLang="en-US" sz="1500" b="1" u="sng" dirty="0" err="1">
                <a:solidFill>
                  <a:schemeClr val="bg1"/>
                </a:solidFill>
                <a:latin typeface="+mj-lt"/>
              </a:rPr>
              <a:t>손보금</a:t>
            </a:r>
            <a:r>
              <a:rPr lang="en-US" altLang="ko-KR" sz="1500" b="1" u="sng" dirty="0">
                <a:solidFill>
                  <a:schemeClr val="bg1"/>
                </a:solidFill>
                <a:latin typeface="+mj-lt"/>
              </a:rPr>
              <a:t>(10p-12p)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서비스 장애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/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가용성 관리 분석 보고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서비스 수준 협약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(SLA)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및 변경 관리 계획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</a:t>
            </a:r>
            <a:br>
              <a:rPr lang="en-US" altLang="ko-KR" sz="1500" dirty="0">
                <a:solidFill>
                  <a:schemeClr val="bg1"/>
                </a:solidFill>
                <a:latin typeface="+mj-lt"/>
              </a:rPr>
            </a:br>
            <a:endParaRPr lang="en-US" altLang="ko-KR" sz="15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8427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라이브러리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불러오기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6359CDCA-913F-40F3-AC83-303E9B0507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58" y="1973020"/>
            <a:ext cx="11055881" cy="422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94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데이터 탐색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(EDA)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5BB0894-DB4D-4371-9607-9C0F6C4595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6193" y="1778876"/>
            <a:ext cx="2514951" cy="451548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9C22D48-5A0B-49F0-A752-564A0BC0F1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7532" y="1778876"/>
            <a:ext cx="3248478" cy="4515480"/>
          </a:xfrm>
          <a:prstGeom prst="rect">
            <a:avLst/>
          </a:prstGeom>
        </p:spPr>
      </p:pic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DACC9ED2-2BFE-4F5C-BBB9-C45836CA5690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5531144" y="4036616"/>
            <a:ext cx="1196388" cy="0"/>
          </a:xfrm>
          <a:prstGeom prst="straightConnector1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9782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결측치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처리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(Missing Value Handling)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F1E337-B09C-4D24-B681-B7EEFB020637}"/>
              </a:ext>
            </a:extLst>
          </p:cNvPr>
          <p:cNvSpPr txBox="1"/>
          <p:nvPr/>
        </p:nvSpPr>
        <p:spPr>
          <a:xfrm>
            <a:off x="533187" y="1659580"/>
            <a:ext cx="114737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chemeClr val="bg1"/>
                </a:solidFill>
              </a:rPr>
              <a:t>★</a:t>
            </a:r>
            <a:r>
              <a:rPr lang="ko-KR" altLang="en-US" sz="1600" b="1" dirty="0" err="1">
                <a:solidFill>
                  <a:schemeClr val="bg1"/>
                </a:solidFill>
              </a:rPr>
              <a:t>결측치</a:t>
            </a:r>
            <a:r>
              <a:rPr lang="ko-KR" altLang="en-US" sz="1600" b="1" dirty="0">
                <a:solidFill>
                  <a:schemeClr val="bg1"/>
                </a:solidFill>
              </a:rPr>
              <a:t> 처리</a:t>
            </a:r>
            <a:r>
              <a:rPr lang="en-US" altLang="ko-KR" sz="1600" b="1" dirty="0">
                <a:solidFill>
                  <a:schemeClr val="bg1"/>
                </a:solidFill>
              </a:rPr>
              <a:t>(Missing Value Handling)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- </a:t>
            </a:r>
            <a:r>
              <a:rPr lang="ko-KR" altLang="en-US" sz="1400" dirty="0" err="1">
                <a:solidFill>
                  <a:schemeClr val="bg1"/>
                </a:solidFill>
              </a:rPr>
              <a:t>결측치</a:t>
            </a:r>
            <a:r>
              <a:rPr lang="ko-KR" altLang="en-US" sz="1400" dirty="0">
                <a:solidFill>
                  <a:schemeClr val="bg1"/>
                </a:solidFill>
              </a:rPr>
              <a:t> 처리는 데이터 품질을 보정하고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통계적 왜곡과 모델 오류를 예방하며</a:t>
            </a:r>
            <a:r>
              <a:rPr lang="en-US" altLang="ko-KR" sz="1400" dirty="0">
                <a:solidFill>
                  <a:schemeClr val="bg1"/>
                </a:solidFill>
              </a:rPr>
              <a:t>,</a:t>
            </a:r>
            <a:r>
              <a:rPr lang="ko-KR" altLang="en-US" sz="1400" dirty="0">
                <a:solidFill>
                  <a:schemeClr val="bg1"/>
                </a:solidFill>
              </a:rPr>
              <a:t>분석 결과의 신뢰성을 높이기 위한 필수 과정입니다</a:t>
            </a:r>
            <a:r>
              <a:rPr lang="en-US" altLang="ko-KR" sz="14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F7F87E2-147E-47AC-AC32-869ED78F9F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348" y="2632457"/>
            <a:ext cx="3982006" cy="313416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BE38DC1-5222-4B9E-A6C7-E4DF72CE79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291" y="3411019"/>
            <a:ext cx="1238423" cy="924054"/>
          </a:xfrm>
          <a:prstGeom prst="rect">
            <a:avLst/>
          </a:prstGeom>
        </p:spPr>
      </p:pic>
      <p:cxnSp>
        <p:nvCxnSpPr>
          <p:cNvPr id="18" name="연결선: 꺾임 14">
            <a:extLst>
              <a:ext uri="{FF2B5EF4-FFF2-40B4-BE49-F238E27FC236}">
                <a16:creationId xmlns:a16="http://schemas.microsoft.com/office/drawing/2014/main" id="{DF1867D8-C832-4C45-BC0A-DCD7C1BC6786}"/>
              </a:ext>
            </a:extLst>
          </p:cNvPr>
          <p:cNvCxnSpPr>
            <a:cxnSpLocks/>
          </p:cNvCxnSpPr>
          <p:nvPr/>
        </p:nvCxnSpPr>
        <p:spPr>
          <a:xfrm>
            <a:off x="4443354" y="3849899"/>
            <a:ext cx="427937" cy="0"/>
          </a:xfrm>
          <a:prstGeom prst="straightConnector1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B8CB2C9-EB45-463D-A926-0991DC7DF404}"/>
              </a:ext>
            </a:extLst>
          </p:cNvPr>
          <p:cNvSpPr txBox="1"/>
          <p:nvPr/>
        </p:nvSpPr>
        <p:spPr>
          <a:xfrm>
            <a:off x="6270053" y="2641904"/>
            <a:ext cx="5582855" cy="3108543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</a:rPr>
              <a:t>전체 행 삭제 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en-US" altLang="ko-KR" sz="1400" dirty="0" err="1">
                <a:solidFill>
                  <a:schemeClr val="bg1"/>
                </a:solidFill>
              </a:rPr>
              <a:t>dropna</a:t>
            </a:r>
            <a:r>
              <a:rPr lang="en-US" altLang="ko-KR" sz="1400" dirty="0">
                <a:solidFill>
                  <a:schemeClr val="bg1"/>
                </a:solidFill>
              </a:rPr>
              <a:t>())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→ </a:t>
            </a:r>
            <a:r>
              <a:rPr lang="ko-KR" altLang="en-US" sz="1400" dirty="0" err="1">
                <a:solidFill>
                  <a:schemeClr val="bg1"/>
                </a:solidFill>
              </a:rPr>
              <a:t>결측치가</a:t>
            </a:r>
            <a:r>
              <a:rPr lang="ko-KR" altLang="en-US" sz="1400" dirty="0">
                <a:solidFill>
                  <a:schemeClr val="bg1"/>
                </a:solidFill>
              </a:rPr>
              <a:t> 있는 모든 행 제거 → 데이터 손실 큼</a:t>
            </a:r>
            <a:endParaRPr lang="en-US" altLang="ko-KR" sz="1400" dirty="0">
              <a:solidFill>
                <a:schemeClr val="bg1"/>
              </a:solidFill>
            </a:endParaRPr>
          </a:p>
          <a:p>
            <a:endParaRPr lang="en-US" altLang="ko-KR" sz="1400" dirty="0">
              <a:solidFill>
                <a:schemeClr val="bg1"/>
              </a:solidFill>
            </a:endParaRPr>
          </a:p>
          <a:p>
            <a:endParaRPr lang="en-US" altLang="ko-KR" sz="1400" dirty="0">
              <a:solidFill>
                <a:schemeClr val="bg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</a:rPr>
              <a:t>특정 컬럼 기준 삭제 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en-US" altLang="ko-KR" sz="1400" dirty="0" err="1">
                <a:solidFill>
                  <a:schemeClr val="bg1"/>
                </a:solidFill>
              </a:rPr>
              <a:t>dropna</a:t>
            </a:r>
            <a:r>
              <a:rPr lang="en-US" altLang="ko-KR" sz="1400" dirty="0">
                <a:solidFill>
                  <a:schemeClr val="bg1"/>
                </a:solidFill>
              </a:rPr>
              <a:t>(subset=[]))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→ </a:t>
            </a:r>
            <a:r>
              <a:rPr lang="ko-KR" altLang="en-US" sz="1400" dirty="0">
                <a:solidFill>
                  <a:schemeClr val="bg1"/>
                </a:solidFill>
              </a:rPr>
              <a:t>지정한 컬럼만 기준으로 결측 행 삭제 → 선택적 정제 가능</a:t>
            </a:r>
            <a:endParaRPr lang="en-US" altLang="ko-KR" sz="1400" dirty="0">
              <a:solidFill>
                <a:schemeClr val="bg1"/>
              </a:solidFill>
            </a:endParaRPr>
          </a:p>
          <a:p>
            <a:endParaRPr lang="en-US" altLang="ko-KR" sz="1400" dirty="0">
              <a:solidFill>
                <a:schemeClr val="bg1"/>
              </a:solidFill>
            </a:endParaRPr>
          </a:p>
          <a:p>
            <a:endParaRPr lang="en-US" altLang="ko-KR" sz="1400" dirty="0">
              <a:solidFill>
                <a:schemeClr val="bg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</a:rPr>
              <a:t>결측 컬럼 전체 삭제 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en-US" altLang="ko-KR" sz="1400" dirty="0" err="1">
                <a:solidFill>
                  <a:schemeClr val="bg1"/>
                </a:solidFill>
              </a:rPr>
              <a:t>dropna</a:t>
            </a:r>
            <a:r>
              <a:rPr lang="en-US" altLang="ko-KR" sz="1400" dirty="0">
                <a:solidFill>
                  <a:schemeClr val="bg1"/>
                </a:solidFill>
              </a:rPr>
              <a:t>(axis=1))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→ </a:t>
            </a:r>
            <a:r>
              <a:rPr lang="ko-KR" altLang="en-US" sz="1400" dirty="0" err="1">
                <a:solidFill>
                  <a:schemeClr val="bg1"/>
                </a:solidFill>
              </a:rPr>
              <a:t>결측치가</a:t>
            </a:r>
            <a:r>
              <a:rPr lang="ko-KR" altLang="en-US" sz="1400" dirty="0">
                <a:solidFill>
                  <a:schemeClr val="bg1"/>
                </a:solidFill>
              </a:rPr>
              <a:t> 있는 컬럼 자체 제거 → 변수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열</a:t>
            </a:r>
            <a:r>
              <a:rPr lang="en-US" altLang="ko-KR" sz="1400" dirty="0">
                <a:solidFill>
                  <a:schemeClr val="bg1"/>
                </a:solidFill>
              </a:rPr>
              <a:t>) </a:t>
            </a:r>
            <a:r>
              <a:rPr lang="ko-KR" altLang="en-US" sz="1400" dirty="0">
                <a:solidFill>
                  <a:schemeClr val="bg1"/>
                </a:solidFill>
              </a:rPr>
              <a:t>손실 큼</a:t>
            </a:r>
            <a:endParaRPr lang="en-US" altLang="ko-KR" sz="1400" dirty="0">
              <a:solidFill>
                <a:schemeClr val="bg1"/>
              </a:solidFill>
            </a:endParaRPr>
          </a:p>
          <a:p>
            <a:endParaRPr lang="en-US" altLang="ko-KR" sz="1400" dirty="0">
              <a:solidFill>
                <a:schemeClr val="bg1"/>
              </a:solidFill>
            </a:endParaRPr>
          </a:p>
          <a:p>
            <a:endParaRPr lang="en-US" altLang="ko-KR" sz="1400" dirty="0">
              <a:solidFill>
                <a:schemeClr val="bg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1400" dirty="0">
                <a:solidFill>
                  <a:schemeClr val="bg1"/>
                </a:solidFill>
              </a:rPr>
              <a:t>특정 컬럼 직접 삭제 </a:t>
            </a:r>
            <a:r>
              <a:rPr lang="en-US" altLang="ko-KR" sz="1400" dirty="0">
                <a:solidFill>
                  <a:schemeClr val="bg1"/>
                </a:solidFill>
              </a:rPr>
              <a:t>(drop([...], axis=1))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→ </a:t>
            </a:r>
            <a:r>
              <a:rPr lang="ko-KR" altLang="en-US" sz="1400" dirty="0" err="1">
                <a:solidFill>
                  <a:schemeClr val="bg1"/>
                </a:solidFill>
              </a:rPr>
              <a:t>결측치가</a:t>
            </a:r>
            <a:r>
              <a:rPr lang="ko-KR" altLang="en-US" sz="1400" dirty="0">
                <a:solidFill>
                  <a:schemeClr val="bg1"/>
                </a:solidFill>
              </a:rPr>
              <a:t> 많거나 불필요한 컬럼 수동 삭제 → 데이터 단순화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3083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결측치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처리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(Missing Value Handling)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312C747-ADEC-48AE-BF14-2E9EDAD773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02" y="2264164"/>
            <a:ext cx="5611008" cy="33151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C268AF-79B1-483D-A5CF-C61329DA9F57}"/>
              </a:ext>
            </a:extLst>
          </p:cNvPr>
          <p:cNvSpPr txBox="1"/>
          <p:nvPr/>
        </p:nvSpPr>
        <p:spPr>
          <a:xfrm>
            <a:off x="6930054" y="2721416"/>
            <a:ext cx="4436718" cy="2400657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train </a:t>
            </a:r>
            <a:r>
              <a:rPr lang="ko-KR" altLang="en-US" sz="1400" b="1" dirty="0">
                <a:solidFill>
                  <a:schemeClr val="bg1"/>
                </a:solidFill>
              </a:rPr>
              <a:t>데이터 </a:t>
            </a:r>
            <a:r>
              <a:rPr lang="ko-KR" altLang="en-US" sz="1400" b="1" dirty="0" err="1">
                <a:solidFill>
                  <a:schemeClr val="bg1"/>
                </a:solidFill>
              </a:rPr>
              <a:t>결측치</a:t>
            </a:r>
            <a:r>
              <a:rPr lang="ko-KR" altLang="en-US" sz="1400" b="1" dirty="0">
                <a:solidFill>
                  <a:schemeClr val="bg1"/>
                </a:solidFill>
              </a:rPr>
              <a:t> 처리</a:t>
            </a:r>
            <a:endParaRPr lang="en-US" altLang="ko-KR" sz="1400" b="1" dirty="0">
              <a:solidFill>
                <a:schemeClr val="bg1"/>
              </a:solidFill>
            </a:endParaRPr>
          </a:p>
          <a:p>
            <a:endParaRPr lang="en-US" altLang="ko-KR" sz="1400" b="1" dirty="0">
              <a:solidFill>
                <a:schemeClr val="bg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workclass</a:t>
            </a:r>
            <a:r>
              <a:rPr lang="en-US" altLang="ko-KR" sz="1200" dirty="0">
                <a:solidFill>
                  <a:schemeClr val="bg1"/>
                </a:solidFill>
              </a:rPr>
              <a:t>: </a:t>
            </a:r>
            <a:r>
              <a:rPr lang="ko-KR" altLang="en-US" sz="1200" dirty="0" err="1">
                <a:solidFill>
                  <a:schemeClr val="bg1"/>
                </a:solidFill>
              </a:rPr>
              <a:t>최빈값으로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결측치</a:t>
            </a:r>
            <a:r>
              <a:rPr lang="ko-KR" altLang="en-US" sz="1200" dirty="0">
                <a:solidFill>
                  <a:schemeClr val="bg1"/>
                </a:solidFill>
              </a:rPr>
              <a:t> 채움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native.country</a:t>
            </a:r>
            <a:r>
              <a:rPr lang="en-US" altLang="ko-KR" sz="1200" dirty="0">
                <a:solidFill>
                  <a:schemeClr val="bg1"/>
                </a:solidFill>
              </a:rPr>
              <a:t>: </a:t>
            </a:r>
            <a:r>
              <a:rPr lang="ko-KR" altLang="en-US" sz="1200" dirty="0" err="1">
                <a:solidFill>
                  <a:schemeClr val="bg1"/>
                </a:solidFill>
              </a:rPr>
              <a:t>최빈값으로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결측치</a:t>
            </a:r>
            <a:r>
              <a:rPr lang="ko-KR" altLang="en-US" sz="1200" dirty="0">
                <a:solidFill>
                  <a:schemeClr val="bg1"/>
                </a:solidFill>
              </a:rPr>
              <a:t> 채움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occupation: ‘X’</a:t>
            </a:r>
            <a:r>
              <a:rPr lang="ko-KR" altLang="en-US" sz="1200" dirty="0">
                <a:solidFill>
                  <a:schemeClr val="bg1"/>
                </a:solidFill>
              </a:rPr>
              <a:t>로 </a:t>
            </a:r>
            <a:r>
              <a:rPr lang="ko-KR" altLang="en-US" sz="1200" dirty="0" err="1">
                <a:solidFill>
                  <a:schemeClr val="bg1"/>
                </a:solidFill>
              </a:rPr>
              <a:t>결측치</a:t>
            </a:r>
            <a:r>
              <a:rPr lang="ko-KR" altLang="en-US" sz="1200" dirty="0">
                <a:solidFill>
                  <a:schemeClr val="bg1"/>
                </a:solidFill>
              </a:rPr>
              <a:t> 채움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buFontTx/>
              <a:buChar char="-"/>
            </a:pPr>
            <a:endParaRPr lang="en-US" altLang="ko-KR" sz="1100" dirty="0">
              <a:solidFill>
                <a:schemeClr val="bg1"/>
              </a:solidFill>
            </a:endParaRPr>
          </a:p>
          <a:p>
            <a:pPr marL="171450" indent="-171450">
              <a:buFontTx/>
              <a:buChar char="-"/>
            </a:pPr>
            <a:endParaRPr lang="en-US" altLang="ko-KR" sz="1100" dirty="0">
              <a:solidFill>
                <a:schemeClr val="bg1"/>
              </a:solidFill>
            </a:endParaRPr>
          </a:p>
          <a:p>
            <a:r>
              <a:rPr lang="en-US" altLang="ko-KR" sz="1400" b="1" dirty="0">
                <a:solidFill>
                  <a:schemeClr val="bg1"/>
                </a:solidFill>
              </a:rPr>
              <a:t>test </a:t>
            </a:r>
            <a:r>
              <a:rPr lang="ko-KR" altLang="en-US" sz="1400" b="1" dirty="0">
                <a:solidFill>
                  <a:schemeClr val="bg1"/>
                </a:solidFill>
              </a:rPr>
              <a:t>데이터 </a:t>
            </a:r>
            <a:r>
              <a:rPr lang="ko-KR" altLang="en-US" sz="1400" b="1" dirty="0" err="1">
                <a:solidFill>
                  <a:schemeClr val="bg1"/>
                </a:solidFill>
              </a:rPr>
              <a:t>결측치</a:t>
            </a:r>
            <a:r>
              <a:rPr lang="ko-KR" altLang="en-US" sz="1400" b="1" dirty="0">
                <a:solidFill>
                  <a:schemeClr val="bg1"/>
                </a:solidFill>
              </a:rPr>
              <a:t> 처리</a:t>
            </a:r>
            <a:endParaRPr lang="en-US" altLang="ko-KR" sz="1400" b="1" dirty="0">
              <a:solidFill>
                <a:schemeClr val="bg1"/>
              </a:solidFill>
            </a:endParaRPr>
          </a:p>
          <a:p>
            <a:endParaRPr lang="en-US" altLang="ko-KR" sz="1400" b="1" dirty="0">
              <a:solidFill>
                <a:schemeClr val="bg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workclass</a:t>
            </a:r>
            <a:r>
              <a:rPr lang="en-US" altLang="ko-KR" sz="1200" dirty="0">
                <a:solidFill>
                  <a:schemeClr val="bg1"/>
                </a:solidFill>
              </a:rPr>
              <a:t>: train</a:t>
            </a:r>
            <a:r>
              <a:rPr lang="ko-KR" altLang="en-US" sz="1200" dirty="0">
                <a:solidFill>
                  <a:schemeClr val="bg1"/>
                </a:solidFill>
              </a:rPr>
              <a:t>의 </a:t>
            </a:r>
            <a:r>
              <a:rPr lang="ko-KR" altLang="en-US" sz="1200" dirty="0" err="1">
                <a:solidFill>
                  <a:schemeClr val="bg1"/>
                </a:solidFill>
              </a:rPr>
              <a:t>최빈값으로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결측치</a:t>
            </a:r>
            <a:r>
              <a:rPr lang="ko-KR" altLang="en-US" sz="1200" dirty="0">
                <a:solidFill>
                  <a:schemeClr val="bg1"/>
                </a:solidFill>
              </a:rPr>
              <a:t> 채움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native.country</a:t>
            </a:r>
            <a:r>
              <a:rPr lang="en-US" altLang="ko-KR" sz="1200" dirty="0">
                <a:solidFill>
                  <a:schemeClr val="bg1"/>
                </a:solidFill>
              </a:rPr>
              <a:t>: train</a:t>
            </a:r>
            <a:r>
              <a:rPr lang="ko-KR" altLang="en-US" sz="1200" dirty="0">
                <a:solidFill>
                  <a:schemeClr val="bg1"/>
                </a:solidFill>
              </a:rPr>
              <a:t>의 </a:t>
            </a:r>
            <a:r>
              <a:rPr lang="ko-KR" altLang="en-US" sz="1200" dirty="0" err="1">
                <a:solidFill>
                  <a:schemeClr val="bg1"/>
                </a:solidFill>
              </a:rPr>
              <a:t>최빈값으로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결측치</a:t>
            </a:r>
            <a:r>
              <a:rPr lang="ko-KR" altLang="en-US" sz="1200" dirty="0">
                <a:solidFill>
                  <a:schemeClr val="bg1"/>
                </a:solidFill>
              </a:rPr>
              <a:t> 채움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occupation: ‘X’</a:t>
            </a:r>
            <a:r>
              <a:rPr lang="ko-KR" altLang="en-US" sz="1200" dirty="0">
                <a:solidFill>
                  <a:schemeClr val="bg1"/>
                </a:solidFill>
              </a:rPr>
              <a:t>로 </a:t>
            </a:r>
            <a:r>
              <a:rPr lang="ko-KR" altLang="en-US" sz="1200" dirty="0" err="1">
                <a:solidFill>
                  <a:schemeClr val="bg1"/>
                </a:solidFill>
              </a:rPr>
              <a:t>결측치</a:t>
            </a:r>
            <a:r>
              <a:rPr lang="ko-KR" altLang="en-US" sz="1200" dirty="0">
                <a:solidFill>
                  <a:schemeClr val="bg1"/>
                </a:solidFill>
              </a:rPr>
              <a:t> 채움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1CEFD8D6-B9F8-4FB8-ABF3-F5630718467D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 flipV="1">
            <a:off x="6247610" y="3921745"/>
            <a:ext cx="682444" cy="1"/>
          </a:xfrm>
          <a:prstGeom prst="straightConnector1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3372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결측치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처리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(Missing Value Handling)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422C00-4DF5-427C-99D5-0F37683123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135" y="2372719"/>
            <a:ext cx="5265662" cy="32301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3B00055-D7F7-495A-91FA-8B6A354CAA1D}"/>
              </a:ext>
            </a:extLst>
          </p:cNvPr>
          <p:cNvSpPr txBox="1"/>
          <p:nvPr/>
        </p:nvSpPr>
        <p:spPr>
          <a:xfrm>
            <a:off x="6676634" y="2541266"/>
            <a:ext cx="4922422" cy="2893100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</a:rPr>
              <a:t>평균값</a:t>
            </a:r>
            <a:r>
              <a:rPr lang="en-US" altLang="ko-KR" sz="1400" b="1" dirty="0">
                <a:solidFill>
                  <a:schemeClr val="bg1"/>
                </a:solidFill>
              </a:rPr>
              <a:t>(Mean) </a:t>
            </a:r>
            <a:r>
              <a:rPr lang="ko-KR" altLang="en-US" sz="1400" b="1" dirty="0">
                <a:solidFill>
                  <a:schemeClr val="bg1"/>
                </a:solidFill>
              </a:rPr>
              <a:t>대체</a:t>
            </a:r>
            <a:endParaRPr lang="en-US" altLang="ko-KR" sz="1400" b="1" dirty="0">
              <a:solidFill>
                <a:schemeClr val="bg1"/>
              </a:solidFill>
            </a:endParaRPr>
          </a:p>
          <a:p>
            <a:r>
              <a:rPr lang="en-US" altLang="ko-KR" sz="1400" dirty="0">
                <a:solidFill>
                  <a:schemeClr val="bg1"/>
                </a:solidFill>
              </a:rPr>
              <a:t>- 'age' </a:t>
            </a:r>
            <a:r>
              <a:rPr lang="ko-KR" altLang="en-US" sz="1400" dirty="0">
                <a:solidFill>
                  <a:schemeClr val="bg1"/>
                </a:solidFill>
              </a:rPr>
              <a:t>컬럼과 같이 데이터의 중심 경향 유지가 중요하다고 판단되는 경우 평균값을 사용하여 </a:t>
            </a:r>
            <a:r>
              <a:rPr lang="ko-KR" altLang="en-US" sz="1400" dirty="0" err="1">
                <a:solidFill>
                  <a:schemeClr val="bg1"/>
                </a:solidFill>
              </a:rPr>
              <a:t>결측치를</a:t>
            </a:r>
            <a:r>
              <a:rPr lang="ko-KR" altLang="en-US" sz="1400" dirty="0">
                <a:solidFill>
                  <a:schemeClr val="bg1"/>
                </a:solidFill>
              </a:rPr>
              <a:t> 채웠습니다</a:t>
            </a:r>
            <a:r>
              <a:rPr lang="en-US" altLang="ko-KR" sz="1400" dirty="0">
                <a:solidFill>
                  <a:schemeClr val="bg1"/>
                </a:solidFill>
              </a:rPr>
              <a:t>.</a:t>
            </a:r>
          </a:p>
          <a:p>
            <a:endParaRPr lang="en-US" altLang="ko-KR" sz="1400" b="1" dirty="0">
              <a:solidFill>
                <a:schemeClr val="bg1"/>
              </a:solidFill>
            </a:endParaRPr>
          </a:p>
          <a:p>
            <a:r>
              <a:rPr lang="ko-KR" altLang="en-US" sz="1400" b="1" dirty="0">
                <a:solidFill>
                  <a:schemeClr val="bg1"/>
                </a:solidFill>
              </a:rPr>
              <a:t>중앙값</a:t>
            </a:r>
            <a:r>
              <a:rPr lang="en-US" altLang="ko-KR" sz="1400" b="1" dirty="0">
                <a:solidFill>
                  <a:schemeClr val="bg1"/>
                </a:solidFill>
              </a:rPr>
              <a:t>(Median) </a:t>
            </a:r>
            <a:r>
              <a:rPr lang="ko-KR" altLang="en-US" sz="1400" b="1" dirty="0">
                <a:solidFill>
                  <a:schemeClr val="bg1"/>
                </a:solidFill>
              </a:rPr>
              <a:t>대체</a:t>
            </a:r>
            <a:endParaRPr lang="en-US" altLang="ko-KR" sz="1400" b="1" dirty="0">
              <a:solidFill>
                <a:schemeClr val="bg1"/>
              </a:solidFill>
            </a:endParaRPr>
          </a:p>
          <a:p>
            <a:r>
              <a:rPr lang="en-US" altLang="ko-KR" sz="1400" dirty="0">
                <a:solidFill>
                  <a:schemeClr val="bg1"/>
                </a:solidFill>
              </a:rPr>
              <a:t>- '</a:t>
            </a:r>
            <a:r>
              <a:rPr lang="en-US" altLang="ko-KR" sz="1400" dirty="0" err="1">
                <a:solidFill>
                  <a:schemeClr val="bg1"/>
                </a:solidFill>
              </a:rPr>
              <a:t>hours.per.week</a:t>
            </a:r>
            <a:r>
              <a:rPr lang="en-US" altLang="ko-KR" sz="1400" dirty="0">
                <a:solidFill>
                  <a:schemeClr val="bg1"/>
                </a:solidFill>
              </a:rPr>
              <a:t>'</a:t>
            </a:r>
            <a:r>
              <a:rPr lang="ko-KR" altLang="en-US" sz="1400" dirty="0">
                <a:solidFill>
                  <a:schemeClr val="bg1"/>
                </a:solidFill>
              </a:rPr>
              <a:t>처럼 이상치의 영향을 받을 수 있는 수치형 데이터에 대해서는 중앙값을 활용하여 데이터의 왜곡을 최소화하고 안정성을 확보했습니다</a:t>
            </a:r>
            <a:r>
              <a:rPr lang="en-US" altLang="ko-KR" sz="1400" dirty="0">
                <a:solidFill>
                  <a:schemeClr val="bg1"/>
                </a:solidFill>
              </a:rPr>
              <a:t>.</a:t>
            </a:r>
          </a:p>
          <a:p>
            <a:endParaRPr lang="en-US" altLang="ko-KR" sz="1400" b="1" dirty="0">
              <a:solidFill>
                <a:schemeClr val="bg1"/>
              </a:solidFill>
            </a:endParaRPr>
          </a:p>
          <a:p>
            <a:r>
              <a:rPr lang="ko-KR" altLang="en-US" sz="1400" b="1" dirty="0">
                <a:solidFill>
                  <a:schemeClr val="bg1"/>
                </a:solidFill>
              </a:rPr>
              <a:t>데이터 일관성 유지</a:t>
            </a:r>
            <a:endParaRPr lang="en-US" altLang="ko-KR" sz="1400" b="1" dirty="0">
              <a:solidFill>
                <a:schemeClr val="bg1"/>
              </a:solidFill>
            </a:endParaRPr>
          </a:p>
          <a:p>
            <a:r>
              <a:rPr lang="en-US" altLang="ko-KR" sz="1400" b="1" dirty="0">
                <a:solidFill>
                  <a:schemeClr val="bg1"/>
                </a:solidFill>
              </a:rPr>
              <a:t>- </a:t>
            </a:r>
            <a:r>
              <a:rPr lang="ko-KR" altLang="en-US" sz="1400" dirty="0">
                <a:solidFill>
                  <a:schemeClr val="bg1"/>
                </a:solidFill>
              </a:rPr>
              <a:t>데이터 누수</a:t>
            </a:r>
            <a:r>
              <a:rPr lang="en-US" altLang="ko-KR" sz="1400" dirty="0">
                <a:solidFill>
                  <a:schemeClr val="bg1"/>
                </a:solidFill>
              </a:rPr>
              <a:t>(Data Leakage) </a:t>
            </a:r>
            <a:r>
              <a:rPr lang="ko-KR" altLang="en-US" sz="1400" dirty="0">
                <a:solidFill>
                  <a:schemeClr val="bg1"/>
                </a:solidFill>
              </a:rPr>
              <a:t>방지를 위해 테스트 데이터셋의 </a:t>
            </a:r>
            <a:r>
              <a:rPr lang="ko-KR" altLang="en-US" sz="1400" dirty="0" err="1">
                <a:solidFill>
                  <a:schemeClr val="bg1"/>
                </a:solidFill>
              </a:rPr>
              <a:t>결측치</a:t>
            </a:r>
            <a:r>
              <a:rPr lang="ko-KR" altLang="en-US" sz="1400" dirty="0">
                <a:solidFill>
                  <a:schemeClr val="bg1"/>
                </a:solidFill>
              </a:rPr>
              <a:t> 처리 시에도 반드시 학습 데이터셋에서 계산된 </a:t>
            </a:r>
            <a:r>
              <a:rPr lang="ko-KR" altLang="en-US" sz="1400" dirty="0" err="1">
                <a:solidFill>
                  <a:schemeClr val="bg1"/>
                </a:solidFill>
              </a:rPr>
              <a:t>통계값만을</a:t>
            </a:r>
            <a:r>
              <a:rPr lang="ko-KR" altLang="en-US" sz="1400" dirty="0">
                <a:solidFill>
                  <a:schemeClr val="bg1"/>
                </a:solidFill>
              </a:rPr>
              <a:t> 사용하여 일관성을 유지했습니다</a:t>
            </a:r>
            <a:r>
              <a:rPr lang="en-US" altLang="ko-KR" sz="1400" dirty="0">
                <a:solidFill>
                  <a:schemeClr val="bg1"/>
                </a:solidFill>
              </a:rPr>
              <a:t>.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cxnSp>
        <p:nvCxnSpPr>
          <p:cNvPr id="11" name="연결선: 꺾임 14">
            <a:extLst>
              <a:ext uri="{FF2B5EF4-FFF2-40B4-BE49-F238E27FC236}">
                <a16:creationId xmlns:a16="http://schemas.microsoft.com/office/drawing/2014/main" id="{9A1D64BF-B3C6-44D4-945B-4658A53C671C}"/>
              </a:ext>
            </a:extLst>
          </p:cNvPr>
          <p:cNvCxnSpPr>
            <a:cxnSpLocks/>
          </p:cNvCxnSpPr>
          <p:nvPr/>
        </p:nvCxnSpPr>
        <p:spPr>
          <a:xfrm flipV="1">
            <a:off x="5985797" y="3921745"/>
            <a:ext cx="682444" cy="1"/>
          </a:xfrm>
          <a:prstGeom prst="straightConnector1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2687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결측치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처리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(Missing Value Handling)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B00055-D7F7-495A-91FA-8B6A354CAA1D}"/>
              </a:ext>
            </a:extLst>
          </p:cNvPr>
          <p:cNvSpPr txBox="1"/>
          <p:nvPr/>
        </p:nvSpPr>
        <p:spPr>
          <a:xfrm>
            <a:off x="6292739" y="2690638"/>
            <a:ext cx="4922422" cy="2462213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정제 및 이상치 처리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4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</a:t>
            </a:r>
            <a:r>
              <a:rPr kumimoji="0" lang="ko-KR" altLang="en-US" sz="14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전처리</a:t>
            </a: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과정에서 도메인 지식을 활용한 이상치</a:t>
            </a:r>
            <a: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(Outlier) </a:t>
            </a: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처리 방법을 적용했습니다</a:t>
            </a:r>
            <a: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'age' </a:t>
            </a: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컬럼에서 나이가 </a:t>
            </a:r>
            <a: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</a:t>
            </a: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세 이하인 비정상적인 데이터를 이상치로 정의하고 이를 데이터셋에서 제거했습니다</a:t>
            </a:r>
            <a: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 과정을 통해 모델의 학습 정확도를 저하시키는 오염된 데이터를 성공적으로 정제하여</a:t>
            </a:r>
            <a: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최종 모델의 일반화 성능과 안정성을 확보할 수 있습니다</a:t>
            </a:r>
            <a:r>
              <a:rPr kumimoji="0" lang="en-US" altLang="ko-KR" sz="1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endParaRPr kumimoji="0" lang="en-US" altLang="ko-KR" sz="12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1" name="연결선: 꺾임 14">
            <a:extLst>
              <a:ext uri="{FF2B5EF4-FFF2-40B4-BE49-F238E27FC236}">
                <a16:creationId xmlns:a16="http://schemas.microsoft.com/office/drawing/2014/main" id="{9A1D64BF-B3C6-44D4-945B-4658A53C671C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5150766" y="3921745"/>
            <a:ext cx="1141973" cy="0"/>
          </a:xfrm>
          <a:prstGeom prst="straightConnector1">
            <a:avLst/>
          </a:prstGeom>
          <a:ln w="12700">
            <a:solidFill>
              <a:schemeClr val="accent4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67EF9671-1608-42FB-93DD-BF88A25AA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" y="2639302"/>
            <a:ext cx="4023006" cy="256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79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2704</TotalTime>
  <Words>472</Words>
  <Application>Microsoft Office PowerPoint</Application>
  <PresentationFormat>와이드스크린</PresentationFormat>
  <Paragraphs>75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Calibri</vt:lpstr>
      <vt:lpstr>Office 테마</vt:lpstr>
      <vt:lpstr>PowerPoint 프레젠테이션</vt:lpstr>
      <vt:lpstr>INDEX 및 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182</cp:revision>
  <dcterms:created xsi:type="dcterms:W3CDTF">2025-08-05T00:27:28Z</dcterms:created>
  <dcterms:modified xsi:type="dcterms:W3CDTF">2025-10-24T07:49:29Z</dcterms:modified>
</cp:coreProperties>
</file>