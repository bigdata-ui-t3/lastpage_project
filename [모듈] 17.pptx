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57" r:id="rId3"/>
    <p:sldId id="354" r:id="rId4"/>
    <p:sldId id="356" r:id="rId5"/>
    <p:sldId id="358" r:id="rId6"/>
    <p:sldId id="355" r:id="rId7"/>
    <p:sldId id="357" r:id="rId8"/>
    <p:sldId id="361" r:id="rId9"/>
    <p:sldId id="362" r:id="rId10"/>
    <p:sldId id="28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ullName" initials="F" lastIdx="2" clrIdx="0">
    <p:extLst>
      <p:ext uri="{19B8F6BF-5375-455C-9EA6-DF929625EA0E}">
        <p15:presenceInfo xmlns:p15="http://schemas.microsoft.com/office/powerpoint/2012/main" userId="FullNam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9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64FBC-A603-4149-BCAB-2D4F768B91F6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F3FA8-2471-4FD8-B750-534028B4DD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30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>
                <a:solidFill>
                  <a:schemeClr val="bg1"/>
                </a:solidFill>
              </a:rPr>
              <a:t>빅데이터 분석 시각화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en-US" altLang="ko-KR" sz="2800" dirty="0"/>
              <a:t>INDEX </a:t>
            </a:r>
            <a:r>
              <a:rPr lang="ko-KR" altLang="en-US" sz="2800" dirty="0"/>
              <a:t>및 </a:t>
            </a:r>
            <a:r>
              <a:rPr lang="en-US" altLang="ko-KR" sz="2800" dirty="0"/>
              <a:t>CONTENTS</a:t>
            </a:r>
            <a:endParaRPr lang="ko-KR" altLang="en-US" sz="2800" dirty="0"/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446707" y="6439943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EA2501B-6B7D-417C-BE87-5373F6C9C5A5}"/>
              </a:ext>
            </a:extLst>
          </p:cNvPr>
          <p:cNvSpPr txBox="1">
            <a:spLocks/>
          </p:cNvSpPr>
          <p:nvPr/>
        </p:nvSpPr>
        <p:spPr>
          <a:xfrm>
            <a:off x="459613" y="1816731"/>
            <a:ext cx="11256675" cy="47740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문제 정의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라이브러리 불러오기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2p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EDA --------------------------------------------------------------------------------------------------------------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3p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데이터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전처리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OLS --------------------------------------------------------------------------------------------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4p – 7p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선형 회귀 모델 학습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교차검증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8p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학습 및 평가 지표 확인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(MSE, MAE, RMSE, R2) /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모델학습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/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평가지표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/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지표해석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 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9p–12p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모델 파일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EXPORT 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13p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STREAMLIT UI CODE 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14p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모델 파일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IMPORT 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15p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서비스 동작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16p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예측 및 분류 확인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17p</a:t>
            </a: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개발 일정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128639" y="1838534"/>
            <a:ext cx="5603173" cy="471102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LastPage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Project : 2025.07.27 – 2025.12.01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5B533FF3-E572-4FBF-A774-E5D075AC5047}"/>
              </a:ext>
            </a:extLst>
          </p:cNvPr>
          <p:cNvSpPr txBox="1"/>
          <p:nvPr/>
        </p:nvSpPr>
        <p:spPr>
          <a:xfrm>
            <a:off x="832039" y="3302000"/>
            <a:ext cx="3005522" cy="1475333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1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ko-KR" altLang="en-US" sz="1200" b="0" dirty="0">
                <a:solidFill>
                  <a:schemeClr val="bg1"/>
                </a:solidFill>
              </a:rPr>
              <a:t>프로젝트 기획 및 환경 구축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2 : </a:t>
            </a:r>
            <a:r>
              <a:rPr lang="en-US" altLang="ko-KR" sz="1200" b="0" dirty="0">
                <a:solidFill>
                  <a:schemeClr val="bg1"/>
                </a:solidFill>
              </a:rPr>
              <a:t>Core Layout </a:t>
            </a:r>
            <a:r>
              <a:rPr lang="ko-KR" altLang="en-US" sz="1200" b="0" dirty="0">
                <a:solidFill>
                  <a:schemeClr val="bg1"/>
                </a:solidFill>
              </a:rPr>
              <a:t>완성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3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Design </a:t>
            </a:r>
            <a:r>
              <a:rPr lang="ko-KR" altLang="en-US" sz="1200" b="0" dirty="0">
                <a:solidFill>
                  <a:schemeClr val="bg1"/>
                </a:solidFill>
              </a:rPr>
              <a:t>착수 및 </a:t>
            </a:r>
            <a:r>
              <a:rPr lang="en-US" altLang="ko-KR" sz="1200" b="0" dirty="0">
                <a:solidFill>
                  <a:schemeClr val="bg1"/>
                </a:solidFill>
              </a:rPr>
              <a:t>Styling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4 : </a:t>
            </a:r>
            <a:r>
              <a:rPr lang="ko-KR" altLang="en-US" sz="1200" b="0" dirty="0" err="1">
                <a:solidFill>
                  <a:schemeClr val="bg1"/>
                </a:solidFill>
              </a:rPr>
              <a:t>프론트엔드</a:t>
            </a:r>
            <a:r>
              <a:rPr lang="ko-KR" altLang="en-US" sz="1200" b="0" dirty="0">
                <a:solidFill>
                  <a:schemeClr val="bg1"/>
                </a:solidFill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1</a:t>
            </a:r>
            <a:r>
              <a:rPr lang="ko-KR" altLang="en-US" sz="1200" b="0" dirty="0">
                <a:solidFill>
                  <a:schemeClr val="bg1"/>
                </a:solidFill>
              </a:rPr>
              <a:t>차 통합 완료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49992-6EAD-4CBF-84C5-DE3CF1CA4DBF}"/>
              </a:ext>
            </a:extLst>
          </p:cNvPr>
          <p:cNvSpPr txBox="1"/>
          <p:nvPr/>
        </p:nvSpPr>
        <p:spPr>
          <a:xfrm>
            <a:off x="724113" y="2848520"/>
            <a:ext cx="3221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</a:t>
            </a:r>
            <a:r>
              <a:rPr lang="ko-KR" altLang="en-US" sz="1400" b="1" dirty="0" err="1">
                <a:solidFill>
                  <a:schemeClr val="bg1"/>
                </a:solidFill>
              </a:rPr>
              <a:t>프론트엔드</a:t>
            </a:r>
            <a:r>
              <a:rPr lang="ko-KR" altLang="en-US" sz="1400" b="1" dirty="0">
                <a:solidFill>
                  <a:schemeClr val="bg1"/>
                </a:solidFill>
              </a:rPr>
              <a:t> 집중 및 환경 구축 기간</a:t>
            </a: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11DECD18-C8E8-4CEB-A3CA-580936B6C842}"/>
              </a:ext>
            </a:extLst>
          </p:cNvPr>
          <p:cNvSpPr txBox="1"/>
          <p:nvPr/>
        </p:nvSpPr>
        <p:spPr>
          <a:xfrm>
            <a:off x="4608955" y="3438611"/>
            <a:ext cx="3557397" cy="2012781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5-6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Backend </a:t>
            </a:r>
            <a:r>
              <a:rPr lang="ko-KR" altLang="en-US" sz="1200" b="0" dirty="0">
                <a:solidFill>
                  <a:schemeClr val="bg1"/>
                </a:solidFill>
              </a:rPr>
              <a:t>전환 및 환경 설정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7 : </a:t>
            </a:r>
            <a:r>
              <a:rPr lang="en-US" altLang="ko-KR" sz="1200" b="0" dirty="0">
                <a:solidFill>
                  <a:schemeClr val="bg1"/>
                </a:solidFill>
              </a:rPr>
              <a:t>Backend CRUD </a:t>
            </a:r>
            <a:r>
              <a:rPr lang="ko-KR" altLang="en-US" sz="1200" b="0" dirty="0">
                <a:solidFill>
                  <a:schemeClr val="bg1"/>
                </a:solidFill>
              </a:rPr>
              <a:t>착수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8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ko-KR" altLang="en-US" sz="1200" b="0" dirty="0">
                <a:solidFill>
                  <a:schemeClr val="bg1"/>
                </a:solidFill>
              </a:rPr>
              <a:t>회원 관리 </a:t>
            </a:r>
            <a:r>
              <a:rPr lang="en-US" altLang="ko-KR" sz="1200" b="0" dirty="0">
                <a:solidFill>
                  <a:schemeClr val="bg1"/>
                </a:solidFill>
              </a:rPr>
              <a:t>CRUD </a:t>
            </a:r>
            <a:r>
              <a:rPr lang="ko-KR" altLang="en-US" sz="1200" b="0" dirty="0">
                <a:solidFill>
                  <a:schemeClr val="bg1"/>
                </a:solidFill>
              </a:rPr>
              <a:t>구현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9 : </a:t>
            </a:r>
            <a:r>
              <a:rPr lang="ko-KR" altLang="en-US" sz="1200" b="0" dirty="0">
                <a:solidFill>
                  <a:schemeClr val="bg1"/>
                </a:solidFill>
              </a:rPr>
              <a:t>예약 </a:t>
            </a:r>
            <a:r>
              <a:rPr lang="en-US" altLang="ko-KR" sz="1200" b="0" dirty="0">
                <a:solidFill>
                  <a:schemeClr val="bg1"/>
                </a:solidFill>
              </a:rPr>
              <a:t>CRUD </a:t>
            </a:r>
            <a:r>
              <a:rPr lang="ko-KR" altLang="en-US" sz="1200" b="0" dirty="0">
                <a:solidFill>
                  <a:schemeClr val="bg1"/>
                </a:solidFill>
              </a:rPr>
              <a:t>구현 및 </a:t>
            </a:r>
            <a:r>
              <a:rPr lang="en-US" altLang="ko-KR" sz="1200" b="0" dirty="0">
                <a:solidFill>
                  <a:schemeClr val="bg1"/>
                </a:solidFill>
              </a:rPr>
              <a:t>Backend MVC </a:t>
            </a:r>
            <a:r>
              <a:rPr lang="ko-KR" altLang="en-US" sz="1200" b="0" dirty="0">
                <a:solidFill>
                  <a:schemeClr val="bg1"/>
                </a:solidFill>
              </a:rPr>
              <a:t>정립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10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b="0" dirty="0">
                <a:solidFill>
                  <a:schemeClr val="bg1"/>
                </a:solidFill>
              </a:rPr>
              <a:t>View </a:t>
            </a:r>
            <a:r>
              <a:rPr lang="ko-KR" altLang="en-US" sz="1200" b="0" dirty="0">
                <a:solidFill>
                  <a:schemeClr val="bg1"/>
                </a:solidFill>
              </a:rPr>
              <a:t>연동 및 기능 최종 완성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11 : </a:t>
            </a:r>
            <a:r>
              <a:rPr lang="ko-KR" altLang="en-US" sz="1200" b="0" dirty="0">
                <a:solidFill>
                  <a:schemeClr val="bg1"/>
                </a:solidFill>
              </a:rPr>
              <a:t>보조 기능 구현 및 코드 통합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Week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12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Calibri"/>
              </a:rPr>
              <a:t>:</a:t>
            </a:r>
            <a:r>
              <a:rPr lang="ko-KR" altLang="en-US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ko-KR" altLang="en-US" sz="1200" b="0" dirty="0">
                <a:solidFill>
                  <a:schemeClr val="bg1"/>
                </a:solidFill>
              </a:rPr>
              <a:t>통합 테스트 및 버그 수정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93361889-7020-4C4C-B9D9-AD95E32CAAE4}"/>
              </a:ext>
            </a:extLst>
          </p:cNvPr>
          <p:cNvSpPr txBox="1"/>
          <p:nvPr/>
        </p:nvSpPr>
        <p:spPr>
          <a:xfrm>
            <a:off x="8498184" y="3503845"/>
            <a:ext cx="3557397" cy="1273488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13 :  </a:t>
            </a:r>
            <a:r>
              <a:rPr lang="ko-KR" altLang="en-US" sz="1200" b="0" dirty="0">
                <a:solidFill>
                  <a:schemeClr val="bg1"/>
                </a:solidFill>
              </a:rPr>
              <a:t>최종 기능 통합 및 테스트</a:t>
            </a: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14 :</a:t>
            </a:r>
            <a:r>
              <a:rPr lang="ko-KR" altLang="en-US" sz="1200" b="0" dirty="0">
                <a:solidFill>
                  <a:schemeClr val="bg1"/>
                </a:solidFill>
              </a:rPr>
              <a:t> 시스템 안정화 및 문서화 착수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15 : </a:t>
            </a:r>
            <a:r>
              <a:rPr lang="ko-KR" altLang="en-US" sz="1200" b="0" dirty="0">
                <a:solidFill>
                  <a:schemeClr val="bg1"/>
                </a:solidFill>
              </a:rPr>
              <a:t>최종 코드 병합 및 </a:t>
            </a:r>
            <a:r>
              <a:rPr lang="en-US" altLang="ko-KR" sz="1200" b="0" dirty="0">
                <a:solidFill>
                  <a:schemeClr val="bg1"/>
                </a:solidFill>
              </a:rPr>
              <a:t>QA </a:t>
            </a:r>
            <a:r>
              <a:rPr lang="ko-KR" altLang="en-US" sz="1200" b="0" dirty="0">
                <a:solidFill>
                  <a:schemeClr val="bg1"/>
                </a:solidFill>
              </a:rPr>
              <a:t>완료</a:t>
            </a:r>
            <a:endParaRPr lang="en-US" altLang="ko-KR" sz="1200" dirty="0">
              <a:solidFill>
                <a:schemeClr val="bg1"/>
              </a:solidFill>
              <a:latin typeface="Calibri"/>
            </a:endParaRPr>
          </a:p>
          <a:p>
            <a:pPr defTabSz="609630" latinLnBrk="0">
              <a:lnSpc>
                <a:spcPct val="150000"/>
              </a:lnSpc>
              <a:spcBef>
                <a:spcPct val="0"/>
              </a:spcBef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16 : </a:t>
            </a:r>
            <a:r>
              <a:rPr lang="ko-KR" altLang="en-US" sz="1200" b="0" dirty="0">
                <a:solidFill>
                  <a:schemeClr val="bg1"/>
                </a:solidFill>
              </a:rPr>
              <a:t>프로젝트 최종 종료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defTabSz="60963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82EB25-A916-4B45-8CC3-BD7A8209B734}"/>
              </a:ext>
            </a:extLst>
          </p:cNvPr>
          <p:cNvSpPr txBox="1"/>
          <p:nvPr/>
        </p:nvSpPr>
        <p:spPr>
          <a:xfrm>
            <a:off x="4536231" y="2854514"/>
            <a:ext cx="28970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</a:t>
            </a:r>
            <a:r>
              <a:rPr kumimoji="0" lang="ko-KR" alt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백엔드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전환 및 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DB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연동 기간</a:t>
            </a:r>
            <a:endParaRPr lang="ko-KR" altLang="en-US" sz="14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281717-FAE9-4AA6-BCB3-E14A23661DB2}"/>
              </a:ext>
            </a:extLst>
          </p:cNvPr>
          <p:cNvSpPr txBox="1"/>
          <p:nvPr/>
        </p:nvSpPr>
        <p:spPr>
          <a:xfrm>
            <a:off x="8427542" y="2848520"/>
            <a:ext cx="3221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최종 완성 기간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BEA649E-510F-4E52-9067-A16077F711E6}"/>
              </a:ext>
            </a:extLst>
          </p:cNvPr>
          <p:cNvCxnSpPr>
            <a:cxnSpLocks/>
          </p:cNvCxnSpPr>
          <p:nvPr/>
        </p:nvCxnSpPr>
        <p:spPr>
          <a:xfrm>
            <a:off x="745850" y="3302000"/>
            <a:ext cx="317789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A196892-03FD-4724-8E75-3BD3812C87BD}"/>
              </a:ext>
            </a:extLst>
          </p:cNvPr>
          <p:cNvCxnSpPr>
            <a:cxnSpLocks/>
          </p:cNvCxnSpPr>
          <p:nvPr/>
        </p:nvCxnSpPr>
        <p:spPr>
          <a:xfrm>
            <a:off x="4608955" y="3302000"/>
            <a:ext cx="317789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A0E20AEC-7882-42FF-92E3-9CE1AF36D4B3}"/>
              </a:ext>
            </a:extLst>
          </p:cNvPr>
          <p:cNvCxnSpPr>
            <a:cxnSpLocks/>
          </p:cNvCxnSpPr>
          <p:nvPr/>
        </p:nvCxnSpPr>
        <p:spPr>
          <a:xfrm>
            <a:off x="8498184" y="3302000"/>
            <a:ext cx="317789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446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28351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HISTORY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0F681812-BD66-44D2-A875-0A78368267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172710"/>
              </p:ext>
            </p:extLst>
          </p:nvPr>
        </p:nvGraphicFramePr>
        <p:xfrm>
          <a:off x="261003" y="1929671"/>
          <a:ext cx="5078528" cy="4458081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603630">
                  <a:extLst>
                    <a:ext uri="{9D8B030D-6E8A-4147-A177-3AD203B41FA5}">
                      <a16:colId xmlns:a16="http://schemas.microsoft.com/office/drawing/2014/main" val="569646595"/>
                    </a:ext>
                  </a:extLst>
                </a:gridCol>
                <a:gridCol w="1207256">
                  <a:extLst>
                    <a:ext uri="{9D8B030D-6E8A-4147-A177-3AD203B41FA5}">
                      <a16:colId xmlns:a16="http://schemas.microsoft.com/office/drawing/2014/main" val="3150459634"/>
                    </a:ext>
                  </a:extLst>
                </a:gridCol>
                <a:gridCol w="3267642">
                  <a:extLst>
                    <a:ext uri="{9D8B030D-6E8A-4147-A177-3AD203B41FA5}">
                      <a16:colId xmlns:a16="http://schemas.microsoft.com/office/drawing/2014/main" val="3837662592"/>
                    </a:ext>
                  </a:extLst>
                </a:gridCol>
              </a:tblGrid>
              <a:tr h="155638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1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프로젝트 기획 및 환경 구축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프로젝트 계획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디자인 구상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기술 스택 논의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GitHub/Notion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구축 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Branch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전략 설정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팀원 별 담당 페이지 지정 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Layout(HTML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구조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구현 시작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109095656"/>
                  </a:ext>
                </a:extLst>
              </a:tr>
              <a:tr h="85321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2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Core Layout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완성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팀원 별 담당 페이지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Layout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 완성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메인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회원가입 등 기본 페이지 구조 우선 구축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3396675097"/>
                  </a:ext>
                </a:extLst>
              </a:tr>
              <a:tr h="853215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3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Design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착수 및 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Styling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주요 서비스 페이지 디자인 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Styling(CSS)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 착수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Layout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과 디자인의 완성도 높이기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2728778869"/>
                  </a:ext>
                </a:extLst>
              </a:tr>
              <a:tr h="1195267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50" b="1" dirty="0">
                          <a:solidFill>
                            <a:schemeClr val="bg1"/>
                          </a:solidFill>
                          <a:latin typeface="Calibri"/>
                        </a:rPr>
                        <a:t>4</a:t>
                      </a:r>
                      <a:endParaRPr lang="ko-KR" altLang="en-US" sz="1050" b="1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프론트엔드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차 통합 완료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Design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및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Styling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최종 완성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Front-end 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파일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Dev Branch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에 </a:t>
                      </a:r>
                      <a:r>
                        <a:rPr lang="en-US" altLang="ko-KR" sz="1050" b="0" dirty="0">
                          <a:solidFill>
                            <a:schemeClr val="bg1"/>
                          </a:solidFill>
                        </a:rPr>
                        <a:t>1</a:t>
                      </a:r>
                      <a:r>
                        <a:rPr lang="ko-KR" altLang="en-US" sz="1050" b="0" dirty="0">
                          <a:solidFill>
                            <a:schemeClr val="bg1"/>
                          </a:solidFill>
                        </a:rPr>
                        <a:t>차 통합 및 최종 디자인 검토</a:t>
                      </a:r>
                      <a:endParaRPr lang="en-US" altLang="ko-KR" sz="1050" b="0" dirty="0">
                        <a:solidFill>
                          <a:schemeClr val="bg1"/>
                        </a:solidFill>
                      </a:endParaRP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18509226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6D0F253-9B8B-453C-81E2-3E14FB6471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488603"/>
              </p:ext>
            </p:extLst>
          </p:nvPr>
        </p:nvGraphicFramePr>
        <p:xfrm>
          <a:off x="5587068" y="1925171"/>
          <a:ext cx="6402054" cy="4470616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592764">
                  <a:extLst>
                    <a:ext uri="{9D8B030D-6E8A-4147-A177-3AD203B41FA5}">
                      <a16:colId xmlns:a16="http://schemas.microsoft.com/office/drawing/2014/main" val="62630620"/>
                    </a:ext>
                  </a:extLst>
                </a:gridCol>
                <a:gridCol w="1328532">
                  <a:extLst>
                    <a:ext uri="{9D8B030D-6E8A-4147-A177-3AD203B41FA5}">
                      <a16:colId xmlns:a16="http://schemas.microsoft.com/office/drawing/2014/main" val="3422457261"/>
                    </a:ext>
                  </a:extLst>
                </a:gridCol>
                <a:gridCol w="4480758">
                  <a:extLst>
                    <a:ext uri="{9D8B030D-6E8A-4147-A177-3AD203B41FA5}">
                      <a16:colId xmlns:a16="http://schemas.microsoft.com/office/drawing/2014/main" val="2277403672"/>
                    </a:ext>
                  </a:extLst>
                </a:gridCol>
              </a:tblGrid>
              <a:tr h="76041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5-6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전환 및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환경 설정</a:t>
                      </a: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Front-end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코드를 </a:t>
                      </a: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Springboot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환경에 맞게 전환 배치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JPA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등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DB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연동을 위한 학습 및 환경 설정 집중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Login, DB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연결 등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기본 개념 복습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4290137116"/>
                  </a:ext>
                </a:extLst>
              </a:tr>
              <a:tr h="44013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7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CRUD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착수</a:t>
                      </a: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Springboot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기반의 로그인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예약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굿즈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페이지 등 개인별 최소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개 기능을 구현 목표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2344351533"/>
                  </a:ext>
                </a:extLst>
              </a:tr>
              <a:tr h="406897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8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회원 관리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CRUD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구현</a:t>
                      </a: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회원가입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로그인 등 회원 관련 기능의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CRUD(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생성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조회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수정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삭제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구현 시작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678496933"/>
                  </a:ext>
                </a:extLst>
              </a:tr>
              <a:tr h="71579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9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예약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CRUD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구현 및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MVC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정립</a:t>
                      </a: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예약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심리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장례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/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굿즈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관련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CRUD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구현 완성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Springboot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의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MVC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패턴으로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백엔드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코드 체계화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664457287"/>
                  </a:ext>
                </a:extLst>
              </a:tr>
              <a:tr h="71579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10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View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연동 및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최종 완성</a:t>
                      </a: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DB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에서 조회한 예약 정보를 </a:t>
                      </a:r>
                      <a:r>
                        <a:rPr lang="en-US" altLang="ko-KR" sz="1000" b="0" dirty="0" err="1">
                          <a:solidFill>
                            <a:schemeClr val="bg1"/>
                          </a:solidFill>
                        </a:rPr>
                        <a:t>MyPage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UI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에 출력하도록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View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연동 구현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모든 기능 구현을 완료하고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브랜치에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올려 최종 합본 준비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465389795"/>
                  </a:ext>
                </a:extLst>
              </a:tr>
              <a:tr h="71579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11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보조 기능 구현 및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코드 통합</a:t>
                      </a: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커뮤니티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이용 후기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게시판 기능 및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메모리얼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000" b="0" dirty="0" err="1">
                          <a:solidFill>
                            <a:schemeClr val="bg1"/>
                          </a:solidFill>
                        </a:rPr>
                        <a:t>굿즈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 페이지 최종 기능 구현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Front-end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와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통합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Merge</a:t>
                      </a: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3531091375"/>
                  </a:ext>
                </a:extLst>
              </a:tr>
              <a:tr h="71579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Calibri"/>
                        </a:rPr>
                        <a:t>12</a:t>
                      </a:r>
                      <a:endParaRPr lang="ko-KR" altLang="en-US" sz="1000" b="1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통합 테스트 및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버그 수정</a:t>
                      </a:r>
                    </a:p>
                  </a:txBody>
                  <a:tcPr marL="43513" marR="43513" marT="21757" marB="21757" anchor="ctr"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Front-end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와 </a:t>
                      </a:r>
                      <a:r>
                        <a:rPr lang="en-US" altLang="ko-KR" sz="10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기능 연동 테스트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b="0" dirty="0">
                          <a:solidFill>
                            <a:schemeClr val="bg1"/>
                          </a:solidFill>
                        </a:rPr>
                        <a:t>버그 수정 및 완성도 높이기</a:t>
                      </a:r>
                      <a:endParaRPr lang="en-US" altLang="ko-KR" sz="1000" b="0" dirty="0">
                        <a:solidFill>
                          <a:schemeClr val="bg1"/>
                        </a:solidFill>
                      </a:endParaRPr>
                    </a:p>
                  </a:txBody>
                  <a:tcPr marL="43513" marR="43513" marT="21757" marB="21757" anchor="ctr"/>
                </a:tc>
                <a:extLst>
                  <a:ext uri="{0D108BD9-81ED-4DB2-BD59-A6C34878D82A}">
                    <a16:rowId xmlns:a16="http://schemas.microsoft.com/office/drawing/2014/main" val="117071323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A521DAE-21CD-403E-A157-232B5CC15639}"/>
              </a:ext>
            </a:extLst>
          </p:cNvPr>
          <p:cNvSpPr txBox="1"/>
          <p:nvPr/>
        </p:nvSpPr>
        <p:spPr>
          <a:xfrm>
            <a:off x="263742" y="1534043"/>
            <a:ext cx="32213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프론트엔드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집중 및 환경 구축 기간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7621A9-C99E-4327-A25C-BB402CB849BC}"/>
              </a:ext>
            </a:extLst>
          </p:cNvPr>
          <p:cNvSpPr txBox="1"/>
          <p:nvPr/>
        </p:nvSpPr>
        <p:spPr>
          <a:xfrm>
            <a:off x="5600160" y="1530876"/>
            <a:ext cx="31067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</a:t>
            </a: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백엔드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전환 및 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DB 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연동 기간</a:t>
            </a:r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827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CFC9568F-8FFE-4464-953B-4625D7036672}"/>
              </a:ext>
            </a:extLst>
          </p:cNvPr>
          <p:cNvSpPr txBox="1">
            <a:spLocks/>
          </p:cNvSpPr>
          <p:nvPr/>
        </p:nvSpPr>
        <p:spPr>
          <a:xfrm>
            <a:off x="0" y="2"/>
            <a:ext cx="12191999" cy="1291904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HISTORY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21DAE-21CD-403E-A157-232B5CC15639}"/>
              </a:ext>
            </a:extLst>
          </p:cNvPr>
          <p:cNvSpPr txBox="1"/>
          <p:nvPr/>
        </p:nvSpPr>
        <p:spPr>
          <a:xfrm>
            <a:off x="1127760" y="2369502"/>
            <a:ext cx="32213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최종 완성 기간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CE00B8B-944D-43FD-ACCF-6EE887720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439471"/>
              </p:ext>
            </p:extLst>
          </p:nvPr>
        </p:nvGraphicFramePr>
        <p:xfrm>
          <a:off x="1015068" y="2865397"/>
          <a:ext cx="9436692" cy="2011680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876427">
                  <a:extLst>
                    <a:ext uri="{9D8B030D-6E8A-4147-A177-3AD203B41FA5}">
                      <a16:colId xmlns:a16="http://schemas.microsoft.com/office/drawing/2014/main" val="190336083"/>
                    </a:ext>
                  </a:extLst>
                </a:gridCol>
                <a:gridCol w="3095538">
                  <a:extLst>
                    <a:ext uri="{9D8B030D-6E8A-4147-A177-3AD203B41FA5}">
                      <a16:colId xmlns:a16="http://schemas.microsoft.com/office/drawing/2014/main" val="1022201357"/>
                    </a:ext>
                  </a:extLst>
                </a:gridCol>
                <a:gridCol w="5464727">
                  <a:extLst>
                    <a:ext uri="{9D8B030D-6E8A-4147-A177-3AD203B41FA5}">
                      <a16:colId xmlns:a16="http://schemas.microsoft.com/office/drawing/2014/main" val="38574200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13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최종 기능 통합 및 테스트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Front-end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와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Backend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기능 연동 테스트를 집중 진행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기능별 버그 수정 및 완성도 높이기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모든 기능이 유기적으로 작동하는지 확인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320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14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시스템 안정화 및 문서화 착수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코드 리뷰 및 최적화를 통한 시스템 안정화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프로젝트 최종 문서화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(Notion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등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작업 착수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825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15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최종 코드 병합 및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QA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Front-end/Backend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코드 최종 병합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(Merge)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및 통합 </a:t>
                      </a:r>
                      <a:r>
                        <a:rPr lang="ko-KR" altLang="en-US" sz="1200" b="0" dirty="0" err="1">
                          <a:solidFill>
                            <a:schemeClr val="bg1"/>
                          </a:solidFill>
                        </a:rPr>
                        <a:t>브랜치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확정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최종 사용자 시나리오 기반의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QA(Quality Assurance)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 완료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4583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Week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Calibri"/>
                        </a:rPr>
                        <a:t>16</a:t>
                      </a:r>
                      <a:endParaRPr lang="ko-KR" alt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프로젝트 최종 종료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최종 코드 정리 및 클린업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배포 환경에 맞는 최종 패키지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(Package) </a:t>
                      </a:r>
                      <a:r>
                        <a:rPr lang="ko-KR" altLang="en-US" sz="1200" b="0" dirty="0">
                          <a:solidFill>
                            <a:schemeClr val="bg1"/>
                          </a:solidFill>
                        </a:rPr>
                        <a:t>준비 및 프로젝트 최종 종료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43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5565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6.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스타일가이드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3A2527-3942-48B3-96C1-BD45A3720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1" y="1904504"/>
            <a:ext cx="2015696" cy="262336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23A45F5-9B6D-43C9-99F7-27A64FEEB1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161" t="48589" b="562"/>
          <a:stretch/>
        </p:blipFill>
        <p:spPr>
          <a:xfrm>
            <a:off x="5588639" y="1904504"/>
            <a:ext cx="2469999" cy="348711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8563567-2B72-4DF6-882A-A89E7F88D0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5062" y="1904505"/>
            <a:ext cx="2469999" cy="348711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D236530B-1DD8-418E-8202-F92BF45F93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4393" y="1904504"/>
            <a:ext cx="2774321" cy="347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397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013F7C6-91B8-4515-80F4-51C95A71F400}"/>
              </a:ext>
            </a:extLst>
          </p:cNvPr>
          <p:cNvSpPr/>
          <p:nvPr/>
        </p:nvSpPr>
        <p:spPr>
          <a:xfrm>
            <a:off x="8255640" y="3872942"/>
            <a:ext cx="2893118" cy="185969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8474D31-B463-47EA-A06E-BDEB7BD41C28}"/>
              </a:ext>
            </a:extLst>
          </p:cNvPr>
          <p:cNvSpPr/>
          <p:nvPr/>
        </p:nvSpPr>
        <p:spPr>
          <a:xfrm>
            <a:off x="4248736" y="3936475"/>
            <a:ext cx="2893118" cy="185969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D1AB097-C085-49B8-A044-1AC69D8356F7}"/>
              </a:ext>
            </a:extLst>
          </p:cNvPr>
          <p:cNvSpPr/>
          <p:nvPr/>
        </p:nvSpPr>
        <p:spPr>
          <a:xfrm>
            <a:off x="752527" y="3936475"/>
            <a:ext cx="2893118" cy="185969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7. </a:t>
            </a:r>
            <a:r>
              <a:rPr lang="ko-KR" altLang="en-US" sz="2800" dirty="0" err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기술스택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5313198-5491-4E56-B394-69C0CE4719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9069" y="4032392"/>
            <a:ext cx="627835" cy="62783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552F84-2F0D-40EC-9B26-1A2CA0A7C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900" y="4198832"/>
            <a:ext cx="461395" cy="46139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1553417-404F-4371-81A8-324BDAC230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2" y="4720647"/>
            <a:ext cx="404205" cy="40420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B742CE-6E9A-401C-931B-9C55BBE4ED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674" y="4108167"/>
            <a:ext cx="633060" cy="63306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2DDCC4-BBCB-4394-ACFC-56E3FCEE34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900" y="5039641"/>
            <a:ext cx="490447" cy="49044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CD30A2D-7029-42B9-8C0A-42B1B623F4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1372" y="4802790"/>
            <a:ext cx="815249" cy="81524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2973CD6-6D21-4C1D-9022-532CCEDC78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9296" y="4672755"/>
            <a:ext cx="545422" cy="54542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1E913C8-21B4-48F2-B505-DEAE844609D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162" y="4694658"/>
            <a:ext cx="648392" cy="648392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63FB77CC-6072-4B26-BACA-E540B57CB04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447" y="4187109"/>
            <a:ext cx="300666" cy="30066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5A38591-60F2-43FA-B23A-9F6532C71D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3117" y="4680565"/>
            <a:ext cx="905341" cy="90534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81606027-ECE8-4A43-93EF-77A19197EC0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9311" y="4050196"/>
            <a:ext cx="597305" cy="59730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1C5E3DF-FE50-4177-B545-5E8AAD69832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256" y="4108167"/>
            <a:ext cx="461395" cy="461395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67962217-925B-4C16-A7EB-24C48F07BBC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641" y="5059721"/>
            <a:ext cx="472457" cy="47245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763D72B8-5AA1-42C2-A8DC-D724E804462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688" y="4187109"/>
            <a:ext cx="325833" cy="325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688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8.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협력도구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C12E50-5978-4483-880D-8D9C6DB024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95" r="395"/>
          <a:stretch/>
        </p:blipFill>
        <p:spPr>
          <a:xfrm>
            <a:off x="438717" y="1974533"/>
            <a:ext cx="2988082" cy="248852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26428A5-C5AD-47B0-8E8D-C65AFA7C68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4872" y="4103094"/>
            <a:ext cx="2651634" cy="2196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077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. ERD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6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C16C883-2F8A-4C2A-A739-6EAFF1AB3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233" y="1595276"/>
            <a:ext cx="7720777" cy="51016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41B6D3-B05F-4FA0-9C13-714B00EFBC7C}"/>
              </a:ext>
            </a:extLst>
          </p:cNvPr>
          <p:cNvSpPr txBox="1"/>
          <p:nvPr/>
        </p:nvSpPr>
        <p:spPr>
          <a:xfrm>
            <a:off x="9060964" y="1650844"/>
            <a:ext cx="1819729" cy="49905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chemeClr val="bg1"/>
                </a:solidFill>
              </a:rPr>
              <a:t>☆ </a:t>
            </a:r>
            <a:r>
              <a:rPr lang="en-US" altLang="ko-KR" b="1" dirty="0">
                <a:solidFill>
                  <a:schemeClr val="bg1"/>
                </a:solidFill>
              </a:rPr>
              <a:t>List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user_info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funeral_palce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funeral_reserve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psy_reserve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goods_reserve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ourpage_reserve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community_post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post_like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post_comment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solidFill>
                  <a:schemeClr val="bg1"/>
                </a:solidFill>
              </a:rPr>
              <a:t>follow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solidFill>
                  <a:schemeClr val="bg1"/>
                </a:solidFill>
              </a:rPr>
              <a:t>payments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qna_board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qna_images</a:t>
            </a:r>
            <a:endParaRPr lang="en-US" altLang="ko-KR" sz="1400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>
                <a:solidFill>
                  <a:schemeClr val="bg1"/>
                </a:solidFill>
              </a:rPr>
              <a:t>qna_links</a:t>
            </a:r>
            <a:endParaRPr lang="en-US" altLang="ko-K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907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3696</TotalTime>
  <Words>734</Words>
  <Application>Microsoft Office PowerPoint</Application>
  <PresentationFormat>와이드스크린</PresentationFormat>
  <Paragraphs>142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255</cp:revision>
  <dcterms:created xsi:type="dcterms:W3CDTF">2025-08-05T00:27:28Z</dcterms:created>
  <dcterms:modified xsi:type="dcterms:W3CDTF">2025-11-27T08:50:16Z</dcterms:modified>
</cp:coreProperties>
</file>