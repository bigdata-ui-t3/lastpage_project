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8" r:id="rId2"/>
    <p:sldId id="257" r:id="rId3"/>
    <p:sldId id="354" r:id="rId4"/>
    <p:sldId id="364" r:id="rId5"/>
    <p:sldId id="365" r:id="rId6"/>
    <p:sldId id="355" r:id="rId7"/>
    <p:sldId id="357" r:id="rId8"/>
    <p:sldId id="362" r:id="rId9"/>
    <p:sldId id="368" r:id="rId10"/>
    <p:sldId id="369" r:id="rId11"/>
    <p:sldId id="286" r:id="rId12"/>
    <p:sldId id="363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ullName" initials="F" lastIdx="2" clrIdx="0">
    <p:extLst>
      <p:ext uri="{19B8F6BF-5375-455C-9EA6-DF929625EA0E}">
        <p15:presenceInfo xmlns:p15="http://schemas.microsoft.com/office/powerpoint/2012/main" userId="FullNam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  <a:srgbClr val="F5F0E5"/>
    <a:srgbClr val="DCD7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AF606853-7671-496A-8E4F-DF71F8EC918B}" styleName="어두운 스타일 1 - 강조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3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64FBC-A603-4149-BCAB-2D4F768B91F6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F3FA8-2471-4FD8-B750-534028B4DD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304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1.png"/><Relationship Id="rId16" Type="http://schemas.openxmlformats.org/officeDocument/2006/relationships/image" Target="../media/image19.png"/><Relationship Id="rId20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134" y="5409213"/>
            <a:ext cx="2247122" cy="1261535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A77DD5-F07A-4FA6-8DEA-409A2C5ABB17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>
                <a:solidFill>
                  <a:schemeClr val="bg1"/>
                </a:solidFill>
              </a:rPr>
              <a:t>빅데이터 분석 시각화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892D854-65E9-4161-BD25-B1C960BA7B0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2395-CB82-C6B8-18EC-276CC2A8E7CC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CCDA8-F2F2-6E33-1693-7115E4B9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2E548-C65D-48A7-AF17-BB29D6CB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42967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altLang="ko-KR" sz="2800" dirty="0"/>
              <a:t>INDEX </a:t>
            </a:r>
            <a:r>
              <a:rPr lang="ko-KR" altLang="en-US" sz="2800" dirty="0"/>
              <a:t>및 </a:t>
            </a:r>
            <a:r>
              <a:rPr lang="en-US" altLang="ko-KR" sz="2800" dirty="0"/>
              <a:t>CONTENTS</a:t>
            </a:r>
            <a:endParaRPr lang="ko-KR" altLang="en-US" sz="2800" dirty="0"/>
          </a:p>
        </p:txBody>
      </p:sp>
      <p:pic>
        <p:nvPicPr>
          <p:cNvPr id="5" name="그림 4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B4ED27-7257-EC1F-98C4-E6E38551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1" y="236265"/>
            <a:ext cx="815249" cy="8152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93E1F-B78C-523A-B7A0-7AA31B32F725}"/>
              </a:ext>
            </a:extLst>
          </p:cNvPr>
          <p:cNvSpPr txBox="1"/>
          <p:nvPr/>
        </p:nvSpPr>
        <p:spPr>
          <a:xfrm>
            <a:off x="11446707" y="6439943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EA2501B-6B7D-417C-BE87-5373F6C9C5A5}"/>
              </a:ext>
            </a:extLst>
          </p:cNvPr>
          <p:cNvSpPr txBox="1">
            <a:spLocks/>
          </p:cNvSpPr>
          <p:nvPr/>
        </p:nvSpPr>
        <p:spPr>
          <a:xfrm>
            <a:off x="459613" y="1816731"/>
            <a:ext cx="11256675" cy="47740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개발동기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/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주제선정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박준형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2p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개발 일정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 ---------------------------------------------------------------------------------------------------------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박준형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3p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팀원 소개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박준형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4p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HISTORY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심예진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5p-6p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스타일가이드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심예진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7p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기술스택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/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협업도구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심예진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8p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ERD ---------------------------------------------------------------------------------------------------------------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심예진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9p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페이지 상세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------------------------------------------------------------------------------------------------------- 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손보금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10p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프로젝트 개발 시 겪었던 점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-------------------------------------------------------------------------------------- 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손보금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11p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Q&amp;A -------------------------------------------------------------------------------------------------------------- 12p</a:t>
            </a:r>
          </a:p>
        </p:txBody>
      </p:sp>
    </p:spTree>
    <p:extLst>
      <p:ext uri="{BB962C8B-B14F-4D97-AF65-F5344CB8AC3E}">
        <p14:creationId xmlns:p14="http://schemas.microsoft.com/office/powerpoint/2010/main" val="248427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개발 일정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128639" y="1838534"/>
            <a:ext cx="5603173" cy="471102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LastPage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Project : 2025.07.27 – 2025.12.01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5B533FF3-E572-4FBF-A774-E5D075AC5047}"/>
              </a:ext>
            </a:extLst>
          </p:cNvPr>
          <p:cNvSpPr txBox="1"/>
          <p:nvPr/>
        </p:nvSpPr>
        <p:spPr>
          <a:xfrm>
            <a:off x="696941" y="3310389"/>
            <a:ext cx="3005522" cy="1475333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defTabSz="609630" latinLnBrk="0">
              <a:lnSpc>
                <a:spcPct val="150000"/>
              </a:lnSpc>
              <a:spcBef>
                <a:spcPct val="0"/>
              </a:spcBef>
              <a:defRPr/>
            </a:pPr>
            <a:r>
              <a:rPr lang="en-US" sz="1200" dirty="0">
                <a:solidFill>
                  <a:schemeClr val="bg1"/>
                </a:solidFill>
                <a:latin typeface="Calibri"/>
              </a:rPr>
              <a:t>Week</a:t>
            </a:r>
            <a:r>
              <a:rPr lang="ko-KR" altLang="en-US" sz="1200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Calibri"/>
              </a:rPr>
              <a:t>1</a:t>
            </a:r>
            <a:r>
              <a:rPr lang="ko-KR" altLang="en-US" sz="1200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Calibri"/>
              </a:rPr>
              <a:t>:</a:t>
            </a:r>
            <a:r>
              <a:rPr lang="ko-KR" altLang="en-US" sz="1200" dirty="0">
                <a:solidFill>
                  <a:schemeClr val="bg1"/>
                </a:solidFill>
                <a:latin typeface="Calibri"/>
              </a:rPr>
              <a:t> </a:t>
            </a:r>
            <a:r>
              <a:rPr lang="ko-KR" altLang="en-US" sz="1200" b="0" dirty="0">
                <a:solidFill>
                  <a:schemeClr val="bg1"/>
                </a:solidFill>
              </a:rPr>
              <a:t>프로젝트 기획 및 환경 구축</a:t>
            </a:r>
            <a:endParaRPr lang="en-US" altLang="ko-KR" sz="1200" dirty="0">
              <a:solidFill>
                <a:schemeClr val="bg1"/>
              </a:solidFill>
              <a:latin typeface="Calibri"/>
            </a:endParaRPr>
          </a:p>
          <a:p>
            <a:pPr defTabSz="609630" latinLnBrk="0">
              <a:lnSpc>
                <a:spcPct val="150000"/>
              </a:lnSpc>
              <a:spcBef>
                <a:spcPct val="0"/>
              </a:spcBef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 2 : </a:t>
            </a:r>
            <a:r>
              <a:rPr lang="en-US" altLang="ko-KR" sz="1200" b="0" dirty="0">
                <a:solidFill>
                  <a:schemeClr val="bg1"/>
                </a:solidFill>
              </a:rPr>
              <a:t>Core Layout </a:t>
            </a:r>
            <a:r>
              <a:rPr lang="ko-KR" altLang="en-US" sz="1200" b="0" dirty="0">
                <a:solidFill>
                  <a:schemeClr val="bg1"/>
                </a:solidFill>
              </a:rPr>
              <a:t>완성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defTabSz="609630" latinLnBrk="0"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ko-KR" sz="1200" dirty="0">
                <a:solidFill>
                  <a:schemeClr val="bg1"/>
                </a:solidFill>
                <a:latin typeface="Calibri"/>
              </a:rPr>
              <a:t>Week</a:t>
            </a:r>
            <a:r>
              <a:rPr lang="ko-KR" altLang="en-US" sz="1200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Calibri"/>
              </a:rPr>
              <a:t>3</a:t>
            </a:r>
            <a:r>
              <a:rPr lang="ko-KR" altLang="en-US" sz="1200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Calibri"/>
              </a:rPr>
              <a:t>:</a:t>
            </a:r>
            <a:r>
              <a:rPr lang="ko-KR" altLang="en-US" sz="1200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US" altLang="ko-KR" sz="1200" b="0" dirty="0">
                <a:solidFill>
                  <a:schemeClr val="bg1"/>
                </a:solidFill>
              </a:rPr>
              <a:t>Design </a:t>
            </a:r>
            <a:r>
              <a:rPr lang="ko-KR" altLang="en-US" sz="1200" b="0" dirty="0">
                <a:solidFill>
                  <a:schemeClr val="bg1"/>
                </a:solidFill>
              </a:rPr>
              <a:t>착수 및 </a:t>
            </a:r>
            <a:r>
              <a:rPr lang="en-US" altLang="ko-KR" sz="1200" b="0" dirty="0">
                <a:solidFill>
                  <a:schemeClr val="bg1"/>
                </a:solidFill>
              </a:rPr>
              <a:t>Styling</a:t>
            </a:r>
            <a:endParaRPr lang="en-US" altLang="ko-KR" sz="1200" dirty="0">
              <a:solidFill>
                <a:schemeClr val="bg1"/>
              </a:solidFill>
              <a:latin typeface="Calibri"/>
            </a:endParaRPr>
          </a:p>
          <a:p>
            <a:pPr defTabSz="609630" latinLnBrk="0">
              <a:lnSpc>
                <a:spcPct val="150000"/>
              </a:lnSpc>
              <a:spcBef>
                <a:spcPct val="0"/>
              </a:spcBef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 4 : </a:t>
            </a:r>
            <a:r>
              <a:rPr lang="ko-KR" altLang="en-US" sz="1200" b="0" dirty="0" err="1">
                <a:solidFill>
                  <a:schemeClr val="bg1"/>
                </a:solidFill>
              </a:rPr>
              <a:t>프론트엔드</a:t>
            </a:r>
            <a:r>
              <a:rPr lang="ko-KR" altLang="en-US" sz="1200" b="0" dirty="0">
                <a:solidFill>
                  <a:schemeClr val="bg1"/>
                </a:solidFill>
              </a:rPr>
              <a:t> </a:t>
            </a:r>
            <a:r>
              <a:rPr lang="en-US" altLang="ko-KR" sz="1200" b="0" dirty="0">
                <a:solidFill>
                  <a:schemeClr val="bg1"/>
                </a:solidFill>
              </a:rPr>
              <a:t>1</a:t>
            </a:r>
            <a:r>
              <a:rPr lang="ko-KR" altLang="en-US" sz="1200" b="0" dirty="0">
                <a:solidFill>
                  <a:schemeClr val="bg1"/>
                </a:solidFill>
              </a:rPr>
              <a:t>차 통합 완료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149992-6EAD-4CBF-84C5-DE3CF1CA4DBF}"/>
              </a:ext>
            </a:extLst>
          </p:cNvPr>
          <p:cNvSpPr txBox="1"/>
          <p:nvPr/>
        </p:nvSpPr>
        <p:spPr>
          <a:xfrm>
            <a:off x="589015" y="2856909"/>
            <a:ext cx="32213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☆ </a:t>
            </a:r>
            <a:r>
              <a:rPr lang="ko-KR" altLang="en-US" sz="1400" b="1" dirty="0" err="1">
                <a:solidFill>
                  <a:schemeClr val="bg1"/>
                </a:solidFill>
              </a:rPr>
              <a:t>프론트엔드</a:t>
            </a:r>
            <a:r>
              <a:rPr lang="ko-KR" altLang="en-US" sz="1400" b="1" dirty="0">
                <a:solidFill>
                  <a:schemeClr val="bg1"/>
                </a:solidFill>
              </a:rPr>
              <a:t> 집중 및 환경 구축 기간</a:t>
            </a: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11DECD18-C8E8-4CEB-A3CA-580936B6C842}"/>
              </a:ext>
            </a:extLst>
          </p:cNvPr>
          <p:cNvSpPr txBox="1"/>
          <p:nvPr/>
        </p:nvSpPr>
        <p:spPr>
          <a:xfrm>
            <a:off x="4473857" y="3447000"/>
            <a:ext cx="3557397" cy="2012781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defTabSz="609630" latinLnBrk="0"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ko-KR" sz="1200" dirty="0">
                <a:solidFill>
                  <a:schemeClr val="bg1"/>
                </a:solidFill>
                <a:latin typeface="Calibri"/>
              </a:rPr>
              <a:t>Week</a:t>
            </a:r>
            <a:r>
              <a:rPr lang="ko-KR" altLang="en-US" sz="1200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Calibri"/>
              </a:rPr>
              <a:t>5-6</a:t>
            </a:r>
            <a:r>
              <a:rPr lang="ko-KR" altLang="en-US" sz="1200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Calibri"/>
              </a:rPr>
              <a:t>:</a:t>
            </a:r>
            <a:r>
              <a:rPr lang="ko-KR" altLang="en-US" sz="1200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US" altLang="ko-KR" sz="1200" b="0" dirty="0">
                <a:solidFill>
                  <a:schemeClr val="bg1"/>
                </a:solidFill>
              </a:rPr>
              <a:t>Backend </a:t>
            </a:r>
            <a:r>
              <a:rPr lang="ko-KR" altLang="en-US" sz="1200" b="0" dirty="0">
                <a:solidFill>
                  <a:schemeClr val="bg1"/>
                </a:solidFill>
              </a:rPr>
              <a:t>전환 및 환경 설정</a:t>
            </a:r>
            <a:endParaRPr lang="en-US" altLang="ko-KR" sz="1200" dirty="0">
              <a:solidFill>
                <a:schemeClr val="bg1"/>
              </a:solidFill>
              <a:latin typeface="Calibri"/>
            </a:endParaRPr>
          </a:p>
          <a:p>
            <a:pPr defTabSz="609630" latinLnBrk="0">
              <a:lnSpc>
                <a:spcPct val="150000"/>
              </a:lnSpc>
              <a:spcBef>
                <a:spcPct val="0"/>
              </a:spcBef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 7 : </a:t>
            </a:r>
            <a:r>
              <a:rPr lang="en-US" altLang="ko-KR" sz="1200" b="0" dirty="0">
                <a:solidFill>
                  <a:schemeClr val="bg1"/>
                </a:solidFill>
              </a:rPr>
              <a:t>Backend CRUD </a:t>
            </a:r>
            <a:r>
              <a:rPr lang="ko-KR" altLang="en-US" sz="1200" b="0" dirty="0">
                <a:solidFill>
                  <a:schemeClr val="bg1"/>
                </a:solidFill>
              </a:rPr>
              <a:t>착수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defTabSz="609630" latinLnBrk="0"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ko-KR" sz="1200" dirty="0">
                <a:solidFill>
                  <a:schemeClr val="bg1"/>
                </a:solidFill>
                <a:latin typeface="Calibri"/>
              </a:rPr>
              <a:t>Week</a:t>
            </a:r>
            <a:r>
              <a:rPr lang="ko-KR" altLang="en-US" sz="1200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Calibri"/>
              </a:rPr>
              <a:t>8</a:t>
            </a:r>
            <a:r>
              <a:rPr lang="ko-KR" altLang="en-US" sz="1200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Calibri"/>
              </a:rPr>
              <a:t>:</a:t>
            </a:r>
            <a:r>
              <a:rPr lang="ko-KR" altLang="en-US" sz="1200" dirty="0">
                <a:solidFill>
                  <a:schemeClr val="bg1"/>
                </a:solidFill>
                <a:latin typeface="Calibri"/>
              </a:rPr>
              <a:t> </a:t>
            </a:r>
            <a:r>
              <a:rPr lang="ko-KR" altLang="en-US" sz="1200" b="0" dirty="0">
                <a:solidFill>
                  <a:schemeClr val="bg1"/>
                </a:solidFill>
              </a:rPr>
              <a:t>회원 관리 </a:t>
            </a:r>
            <a:r>
              <a:rPr lang="en-US" altLang="ko-KR" sz="1200" b="0" dirty="0">
                <a:solidFill>
                  <a:schemeClr val="bg1"/>
                </a:solidFill>
              </a:rPr>
              <a:t>CRUD </a:t>
            </a:r>
            <a:r>
              <a:rPr lang="ko-KR" altLang="en-US" sz="1200" b="0" dirty="0">
                <a:solidFill>
                  <a:schemeClr val="bg1"/>
                </a:solidFill>
              </a:rPr>
              <a:t>구현</a:t>
            </a:r>
            <a:endParaRPr lang="en-US" altLang="ko-KR" sz="1200" dirty="0">
              <a:solidFill>
                <a:schemeClr val="bg1"/>
              </a:solidFill>
              <a:latin typeface="Calibri"/>
            </a:endParaRPr>
          </a:p>
          <a:p>
            <a:pPr defTabSz="609630" latinLnBrk="0">
              <a:lnSpc>
                <a:spcPct val="150000"/>
              </a:lnSpc>
              <a:spcBef>
                <a:spcPct val="0"/>
              </a:spcBef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 9 : </a:t>
            </a:r>
            <a:r>
              <a:rPr lang="ko-KR" altLang="en-US" sz="1200" b="0" dirty="0">
                <a:solidFill>
                  <a:schemeClr val="bg1"/>
                </a:solidFill>
              </a:rPr>
              <a:t>예약 </a:t>
            </a:r>
            <a:r>
              <a:rPr lang="en-US" altLang="ko-KR" sz="1200" b="0" dirty="0">
                <a:solidFill>
                  <a:schemeClr val="bg1"/>
                </a:solidFill>
              </a:rPr>
              <a:t>CRUD </a:t>
            </a:r>
            <a:r>
              <a:rPr lang="ko-KR" altLang="en-US" sz="1200" b="0" dirty="0">
                <a:solidFill>
                  <a:schemeClr val="bg1"/>
                </a:solidFill>
              </a:rPr>
              <a:t>구현 및 </a:t>
            </a:r>
            <a:r>
              <a:rPr lang="en-US" altLang="ko-KR" sz="1200" b="0" dirty="0">
                <a:solidFill>
                  <a:schemeClr val="bg1"/>
                </a:solidFill>
              </a:rPr>
              <a:t>Backend MVC </a:t>
            </a:r>
            <a:r>
              <a:rPr lang="ko-KR" altLang="en-US" sz="1200" b="0" dirty="0">
                <a:solidFill>
                  <a:schemeClr val="bg1"/>
                </a:solidFill>
              </a:rPr>
              <a:t>정립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defTabSz="609630" latinLnBrk="0"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ko-KR" sz="1200" dirty="0">
                <a:solidFill>
                  <a:schemeClr val="bg1"/>
                </a:solidFill>
                <a:latin typeface="Calibri"/>
              </a:rPr>
              <a:t>Week</a:t>
            </a:r>
            <a:r>
              <a:rPr lang="ko-KR" altLang="en-US" sz="1200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Calibri"/>
              </a:rPr>
              <a:t>10</a:t>
            </a:r>
            <a:r>
              <a:rPr lang="ko-KR" altLang="en-US" sz="1200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Calibri"/>
              </a:rPr>
              <a:t>:</a:t>
            </a:r>
            <a:r>
              <a:rPr lang="ko-KR" altLang="en-US" sz="1200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US" altLang="ko-KR" sz="1200" b="0" dirty="0">
                <a:solidFill>
                  <a:schemeClr val="bg1"/>
                </a:solidFill>
              </a:rPr>
              <a:t>View </a:t>
            </a:r>
            <a:r>
              <a:rPr lang="ko-KR" altLang="en-US" sz="1200" b="0" dirty="0">
                <a:solidFill>
                  <a:schemeClr val="bg1"/>
                </a:solidFill>
              </a:rPr>
              <a:t>연동 및 기능 최종 완성</a:t>
            </a:r>
            <a:endParaRPr lang="en-US" altLang="ko-KR" sz="1200" dirty="0">
              <a:solidFill>
                <a:schemeClr val="bg1"/>
              </a:solidFill>
              <a:latin typeface="Calibri"/>
            </a:endParaRPr>
          </a:p>
          <a:p>
            <a:pPr defTabSz="609630" latinLnBrk="0">
              <a:lnSpc>
                <a:spcPct val="150000"/>
              </a:lnSpc>
              <a:spcBef>
                <a:spcPct val="0"/>
              </a:spcBef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 11 : </a:t>
            </a:r>
            <a:r>
              <a:rPr lang="ko-KR" altLang="en-US" sz="1200" b="0" dirty="0">
                <a:solidFill>
                  <a:schemeClr val="bg1"/>
                </a:solidFill>
              </a:rPr>
              <a:t>보조 기능 구현 및 코드 통합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defTabSz="609630" latinLnBrk="0"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ko-KR" sz="1200" dirty="0">
                <a:solidFill>
                  <a:schemeClr val="bg1"/>
                </a:solidFill>
                <a:latin typeface="Calibri"/>
              </a:rPr>
              <a:t>Week</a:t>
            </a:r>
            <a:r>
              <a:rPr lang="ko-KR" altLang="en-US" sz="1200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Calibri"/>
              </a:rPr>
              <a:t>12</a:t>
            </a:r>
            <a:r>
              <a:rPr lang="ko-KR" altLang="en-US" sz="1200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Calibri"/>
              </a:rPr>
              <a:t>:</a:t>
            </a:r>
            <a:r>
              <a:rPr lang="ko-KR" altLang="en-US" sz="1200" dirty="0">
                <a:solidFill>
                  <a:schemeClr val="bg1"/>
                </a:solidFill>
                <a:latin typeface="Calibri"/>
              </a:rPr>
              <a:t> </a:t>
            </a:r>
            <a:r>
              <a:rPr lang="ko-KR" altLang="en-US" sz="1200" b="0" dirty="0">
                <a:solidFill>
                  <a:schemeClr val="bg1"/>
                </a:solidFill>
              </a:rPr>
              <a:t>통합 테스트 및 버그 수정</a:t>
            </a:r>
            <a:endParaRPr lang="en-US" altLang="ko-KR" sz="12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93361889-7020-4C4C-B9D9-AD95E32CAAE4}"/>
              </a:ext>
            </a:extLst>
          </p:cNvPr>
          <p:cNvSpPr txBox="1"/>
          <p:nvPr/>
        </p:nvSpPr>
        <p:spPr>
          <a:xfrm>
            <a:off x="8363086" y="3512234"/>
            <a:ext cx="3557397" cy="1273488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defTabSz="609630" latinLnBrk="0">
              <a:lnSpc>
                <a:spcPct val="150000"/>
              </a:lnSpc>
              <a:spcBef>
                <a:spcPct val="0"/>
              </a:spcBef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 13 :  </a:t>
            </a:r>
            <a:r>
              <a:rPr lang="ko-KR" altLang="en-US" sz="1200" b="0" dirty="0">
                <a:solidFill>
                  <a:schemeClr val="bg1"/>
                </a:solidFill>
              </a:rPr>
              <a:t>최종 기능 통합 및 테스트</a:t>
            </a:r>
          </a:p>
          <a:p>
            <a:pPr defTabSz="609630" latinLnBrk="0">
              <a:lnSpc>
                <a:spcPct val="150000"/>
              </a:lnSpc>
              <a:spcBef>
                <a:spcPct val="0"/>
              </a:spcBef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 14 :</a:t>
            </a:r>
            <a:r>
              <a:rPr lang="ko-KR" altLang="en-US" sz="1200" b="0" dirty="0">
                <a:solidFill>
                  <a:schemeClr val="bg1"/>
                </a:solidFill>
              </a:rPr>
              <a:t> 시스템 안정화 및 문서화 착수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defTabSz="609630" latinLnBrk="0">
              <a:lnSpc>
                <a:spcPct val="150000"/>
              </a:lnSpc>
              <a:spcBef>
                <a:spcPct val="0"/>
              </a:spcBef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 15 : </a:t>
            </a:r>
            <a:r>
              <a:rPr lang="ko-KR" altLang="en-US" sz="1200" b="0" dirty="0">
                <a:solidFill>
                  <a:schemeClr val="bg1"/>
                </a:solidFill>
              </a:rPr>
              <a:t>최종 코드 병합 및 </a:t>
            </a:r>
            <a:r>
              <a:rPr lang="en-US" altLang="ko-KR" sz="1200" b="0" dirty="0">
                <a:solidFill>
                  <a:schemeClr val="bg1"/>
                </a:solidFill>
              </a:rPr>
              <a:t>QA </a:t>
            </a:r>
            <a:r>
              <a:rPr lang="ko-KR" altLang="en-US" sz="1200" b="0" dirty="0">
                <a:solidFill>
                  <a:schemeClr val="bg1"/>
                </a:solidFill>
              </a:rPr>
              <a:t>완료</a:t>
            </a:r>
            <a:endParaRPr lang="en-US" altLang="ko-KR" sz="1200" dirty="0">
              <a:solidFill>
                <a:schemeClr val="bg1"/>
              </a:solidFill>
              <a:latin typeface="Calibri"/>
            </a:endParaRPr>
          </a:p>
          <a:p>
            <a:pPr defTabSz="609630" latinLnBrk="0">
              <a:lnSpc>
                <a:spcPct val="150000"/>
              </a:lnSpc>
              <a:spcBef>
                <a:spcPct val="0"/>
              </a:spcBef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 16 : </a:t>
            </a:r>
            <a:r>
              <a:rPr lang="ko-KR" altLang="en-US" sz="1200" b="0" dirty="0">
                <a:solidFill>
                  <a:schemeClr val="bg1"/>
                </a:solidFill>
              </a:rPr>
              <a:t>프로젝트 최종 종료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defTabSz="60963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82EB25-A916-4B45-8CC3-BD7A8209B734}"/>
              </a:ext>
            </a:extLst>
          </p:cNvPr>
          <p:cNvSpPr txBox="1"/>
          <p:nvPr/>
        </p:nvSpPr>
        <p:spPr>
          <a:xfrm>
            <a:off x="4401133" y="2862903"/>
            <a:ext cx="28970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☆ </a:t>
            </a:r>
            <a:r>
              <a:rPr kumimoji="0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백엔드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전환 및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DB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연동 기간</a:t>
            </a:r>
            <a:endParaRPr lang="ko-KR" altLang="en-US" sz="1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281717-FAE9-4AA6-BCB3-E14A23661DB2}"/>
              </a:ext>
            </a:extLst>
          </p:cNvPr>
          <p:cNvSpPr txBox="1"/>
          <p:nvPr/>
        </p:nvSpPr>
        <p:spPr>
          <a:xfrm>
            <a:off x="8292444" y="2856909"/>
            <a:ext cx="32213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☆ 최종 완성 기간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BEA649E-510F-4E52-9067-A16077F711E6}"/>
              </a:ext>
            </a:extLst>
          </p:cNvPr>
          <p:cNvCxnSpPr>
            <a:cxnSpLocks/>
          </p:cNvCxnSpPr>
          <p:nvPr/>
        </p:nvCxnSpPr>
        <p:spPr>
          <a:xfrm>
            <a:off x="610752" y="3310389"/>
            <a:ext cx="31778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3A196892-03FD-4724-8E75-3BD3812C87BD}"/>
              </a:ext>
            </a:extLst>
          </p:cNvPr>
          <p:cNvCxnSpPr>
            <a:cxnSpLocks/>
          </p:cNvCxnSpPr>
          <p:nvPr/>
        </p:nvCxnSpPr>
        <p:spPr>
          <a:xfrm>
            <a:off x="4473857" y="3310389"/>
            <a:ext cx="31778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A0E20AEC-7882-42FF-92E3-9CE1AF36D4B3}"/>
              </a:ext>
            </a:extLst>
          </p:cNvPr>
          <p:cNvCxnSpPr>
            <a:cxnSpLocks/>
          </p:cNvCxnSpPr>
          <p:nvPr/>
        </p:nvCxnSpPr>
        <p:spPr>
          <a:xfrm>
            <a:off x="8363086" y="3310389"/>
            <a:ext cx="317789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446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28351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. HISTORY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5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F681812-BD66-44D2-A875-0A78368267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977870"/>
              </p:ext>
            </p:extLst>
          </p:nvPr>
        </p:nvGraphicFramePr>
        <p:xfrm>
          <a:off x="261003" y="1929671"/>
          <a:ext cx="4920310" cy="4458081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767202">
                  <a:extLst>
                    <a:ext uri="{9D8B030D-6E8A-4147-A177-3AD203B41FA5}">
                      <a16:colId xmlns:a16="http://schemas.microsoft.com/office/drawing/2014/main" val="569646595"/>
                    </a:ext>
                  </a:extLst>
                </a:gridCol>
                <a:gridCol w="4153108">
                  <a:extLst>
                    <a:ext uri="{9D8B030D-6E8A-4147-A177-3AD203B41FA5}">
                      <a16:colId xmlns:a16="http://schemas.microsoft.com/office/drawing/2014/main" val="3837662592"/>
                    </a:ext>
                  </a:extLst>
                </a:gridCol>
              </a:tblGrid>
              <a:tr h="155638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>
                          <a:solidFill>
                            <a:schemeClr val="bg1"/>
                          </a:solidFill>
                          <a:latin typeface="Calibri"/>
                        </a:rPr>
                        <a:t>Week</a:t>
                      </a:r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Calibri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bg1"/>
                          </a:solidFill>
                          <a:latin typeface="Calibri"/>
                        </a:rPr>
                        <a:t>1</a:t>
                      </a:r>
                      <a:endParaRPr lang="ko-KR" alt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프로젝트 계획</a:t>
                      </a:r>
                      <a:r>
                        <a:rPr lang="en-US" altLang="ko-KR" sz="1050" b="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디자인 구상</a:t>
                      </a:r>
                      <a:r>
                        <a:rPr lang="en-US" altLang="ko-KR" sz="1050" b="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기술 스택 논의</a:t>
                      </a:r>
                      <a:endParaRPr lang="en-US" altLang="ko-KR" sz="1050" b="0" dirty="0">
                        <a:solidFill>
                          <a:schemeClr val="bg1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b="0" dirty="0">
                          <a:solidFill>
                            <a:schemeClr val="bg1"/>
                          </a:solidFill>
                        </a:rPr>
                        <a:t>GitHub/Notion 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구축 및 </a:t>
                      </a:r>
                      <a:r>
                        <a:rPr lang="en-US" altLang="ko-KR" sz="1050" b="0" dirty="0">
                          <a:solidFill>
                            <a:schemeClr val="bg1"/>
                          </a:solidFill>
                        </a:rPr>
                        <a:t>Branch 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전략 설정</a:t>
                      </a:r>
                      <a:endParaRPr lang="en-US" altLang="ko-KR" sz="1050" b="0" dirty="0">
                        <a:solidFill>
                          <a:schemeClr val="bg1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팀원 별 담당 페이지 지정 및 </a:t>
                      </a:r>
                      <a:r>
                        <a:rPr lang="en-US" altLang="ko-KR" sz="1050" b="0" dirty="0">
                          <a:solidFill>
                            <a:schemeClr val="bg1"/>
                          </a:solidFill>
                        </a:rPr>
                        <a:t>Layout(HTML 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구조</a:t>
                      </a:r>
                      <a:r>
                        <a:rPr lang="en-US" altLang="ko-KR" sz="1050" b="0" dirty="0">
                          <a:solidFill>
                            <a:schemeClr val="bg1"/>
                          </a:solidFill>
                        </a:rPr>
                        <a:t>) 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구현 시작</a:t>
                      </a:r>
                      <a:endParaRPr lang="en-US" altLang="ko-KR" sz="1050" b="0" dirty="0">
                        <a:solidFill>
                          <a:schemeClr val="bg1"/>
                        </a:solidFill>
                      </a:endParaRP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109095656"/>
                  </a:ext>
                </a:extLst>
              </a:tr>
              <a:tr h="8532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bg1"/>
                          </a:solidFill>
                          <a:latin typeface="Calibri"/>
                        </a:rPr>
                        <a:t>Week</a:t>
                      </a:r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Calibri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bg1"/>
                          </a:solidFill>
                          <a:latin typeface="Calibri"/>
                        </a:rPr>
                        <a:t>2</a:t>
                      </a:r>
                      <a:endParaRPr lang="ko-KR" alt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팀원 별 담당 페이지 </a:t>
                      </a:r>
                      <a:r>
                        <a:rPr lang="en-US" altLang="ko-KR" sz="1050" b="0" dirty="0">
                          <a:solidFill>
                            <a:schemeClr val="bg1"/>
                          </a:solidFill>
                        </a:rPr>
                        <a:t>Layout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 완성</a:t>
                      </a:r>
                      <a:endParaRPr lang="en-US" altLang="ko-KR" sz="1050" b="0" dirty="0">
                        <a:solidFill>
                          <a:schemeClr val="bg1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메인</a:t>
                      </a:r>
                      <a:r>
                        <a:rPr lang="en-US" altLang="ko-KR" sz="1050" b="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회원가입 등 기본 페이지 구조 우선 구축</a:t>
                      </a:r>
                      <a:endParaRPr lang="en-US" altLang="ko-KR" sz="1050" b="0" dirty="0">
                        <a:solidFill>
                          <a:schemeClr val="bg1"/>
                        </a:solidFill>
                      </a:endParaRP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3396675097"/>
                  </a:ext>
                </a:extLst>
              </a:tr>
              <a:tr h="85321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>
                          <a:solidFill>
                            <a:schemeClr val="bg1"/>
                          </a:solidFill>
                          <a:latin typeface="Calibri"/>
                        </a:rPr>
                        <a:t>Week</a:t>
                      </a:r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Calibri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bg1"/>
                          </a:solidFill>
                          <a:latin typeface="Calibri"/>
                        </a:rPr>
                        <a:t>3</a:t>
                      </a:r>
                      <a:endParaRPr lang="ko-KR" alt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주요 서비스 페이지 디자인 및 </a:t>
                      </a:r>
                      <a:r>
                        <a:rPr lang="en-US" altLang="ko-KR" sz="1050" b="0" dirty="0">
                          <a:solidFill>
                            <a:schemeClr val="bg1"/>
                          </a:solidFill>
                        </a:rPr>
                        <a:t>Styling(CSS)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 착수</a:t>
                      </a:r>
                      <a:endParaRPr lang="en-US" altLang="ko-KR" sz="1050" b="0" dirty="0">
                        <a:solidFill>
                          <a:schemeClr val="bg1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b="0" dirty="0">
                          <a:solidFill>
                            <a:schemeClr val="bg1"/>
                          </a:solidFill>
                        </a:rPr>
                        <a:t>Layout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과 디자인의 완성도 높이기</a:t>
                      </a:r>
                      <a:endParaRPr lang="en-US" altLang="ko-KR" sz="1050" b="0" dirty="0">
                        <a:solidFill>
                          <a:schemeClr val="bg1"/>
                        </a:solidFill>
                      </a:endParaRP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2728778869"/>
                  </a:ext>
                </a:extLst>
              </a:tr>
              <a:tr h="119526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>
                          <a:solidFill>
                            <a:schemeClr val="bg1"/>
                          </a:solidFill>
                          <a:latin typeface="Calibri"/>
                        </a:rPr>
                        <a:t>Week</a:t>
                      </a:r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Calibri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bg1"/>
                          </a:solidFill>
                          <a:latin typeface="Calibri"/>
                        </a:rPr>
                        <a:t>4</a:t>
                      </a:r>
                      <a:endParaRPr lang="ko-KR" alt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b="0" dirty="0">
                          <a:solidFill>
                            <a:schemeClr val="bg1"/>
                          </a:solidFill>
                        </a:rPr>
                        <a:t>Design 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및 </a:t>
                      </a:r>
                      <a:r>
                        <a:rPr lang="en-US" altLang="ko-KR" sz="1050" b="0" dirty="0">
                          <a:solidFill>
                            <a:schemeClr val="bg1"/>
                          </a:solidFill>
                        </a:rPr>
                        <a:t>Styling 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최종 완성</a:t>
                      </a:r>
                      <a:endParaRPr lang="en-US" altLang="ko-KR" sz="1050" b="0" dirty="0">
                        <a:solidFill>
                          <a:schemeClr val="bg1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b="0" dirty="0">
                          <a:solidFill>
                            <a:schemeClr val="bg1"/>
                          </a:solidFill>
                        </a:rPr>
                        <a:t>Front-end 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파일 </a:t>
                      </a:r>
                      <a:r>
                        <a:rPr lang="en-US" altLang="ko-KR" sz="1050" b="0" dirty="0">
                          <a:solidFill>
                            <a:schemeClr val="bg1"/>
                          </a:solidFill>
                        </a:rPr>
                        <a:t>Dev Branch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에 </a:t>
                      </a:r>
                      <a:r>
                        <a:rPr lang="en-US" altLang="ko-KR" sz="1050" b="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1050" b="0" dirty="0">
                          <a:solidFill>
                            <a:schemeClr val="bg1"/>
                          </a:solidFill>
                        </a:rPr>
                        <a:t>차 통합 및 최종 디자인 검토</a:t>
                      </a:r>
                      <a:endParaRPr lang="en-US" altLang="ko-KR" sz="1050" b="0" dirty="0">
                        <a:solidFill>
                          <a:schemeClr val="bg1"/>
                        </a:solidFill>
                      </a:endParaRP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185092262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86D0F253-9B8B-453C-81E2-3E14FB6471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086376"/>
              </p:ext>
            </p:extLst>
          </p:nvPr>
        </p:nvGraphicFramePr>
        <p:xfrm>
          <a:off x="5587067" y="1925171"/>
          <a:ext cx="6199177" cy="4464436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851137">
                  <a:extLst>
                    <a:ext uri="{9D8B030D-6E8A-4147-A177-3AD203B41FA5}">
                      <a16:colId xmlns:a16="http://schemas.microsoft.com/office/drawing/2014/main" val="62630620"/>
                    </a:ext>
                  </a:extLst>
                </a:gridCol>
                <a:gridCol w="5348040">
                  <a:extLst>
                    <a:ext uri="{9D8B030D-6E8A-4147-A177-3AD203B41FA5}">
                      <a16:colId xmlns:a16="http://schemas.microsoft.com/office/drawing/2014/main" val="2277403672"/>
                    </a:ext>
                  </a:extLst>
                </a:gridCol>
              </a:tblGrid>
              <a:tr h="75104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Calibri"/>
                        </a:rPr>
                        <a:t>Week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Calibri"/>
                        </a:rPr>
                        <a:t> 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Calibri"/>
                        </a:rPr>
                        <a:t>5-6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Front-end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코드를 </a:t>
                      </a:r>
                      <a:r>
                        <a:rPr lang="en-US" altLang="ko-KR" sz="1000" b="0" dirty="0" err="1">
                          <a:solidFill>
                            <a:schemeClr val="bg1"/>
                          </a:solidFill>
                        </a:rPr>
                        <a:t>Springboot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 환경에 맞게 전환 배치</a:t>
                      </a:r>
                      <a:endParaRPr lang="en-US" altLang="ko-KR" sz="1000" b="0" dirty="0">
                        <a:solidFill>
                          <a:schemeClr val="bg1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JPA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 등 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DB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연동을 위한 학습 및 환경 설정 집중</a:t>
                      </a:r>
                      <a:endParaRPr lang="en-US" altLang="ko-KR" sz="1000" b="0" dirty="0">
                        <a:solidFill>
                          <a:schemeClr val="bg1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Login, DB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연결 등 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Backend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기본 개념 복습</a:t>
                      </a:r>
                      <a:endParaRPr lang="en-US" altLang="ko-KR" sz="1000" b="0" dirty="0">
                        <a:solidFill>
                          <a:schemeClr val="bg1"/>
                        </a:solidFill>
                      </a:endParaRPr>
                    </a:p>
                  </a:txBody>
                  <a:tcPr marL="43513" marR="43513" marT="21757" marB="21757" anchor="ctr"/>
                </a:tc>
                <a:extLst>
                  <a:ext uri="{0D108BD9-81ED-4DB2-BD59-A6C34878D82A}">
                    <a16:rowId xmlns:a16="http://schemas.microsoft.com/office/drawing/2014/main" val="4290137116"/>
                  </a:ext>
                </a:extLst>
              </a:tr>
              <a:tr h="43471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Calibri"/>
                        </a:rPr>
                        <a:t>Week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Calibri"/>
                        </a:rPr>
                        <a:t> 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Calibri"/>
                        </a:rPr>
                        <a:t>7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dirty="0" err="1">
                          <a:solidFill>
                            <a:schemeClr val="bg1"/>
                          </a:solidFill>
                        </a:rPr>
                        <a:t>Springboot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기반의 로그인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예약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000" b="0" dirty="0" err="1">
                          <a:solidFill>
                            <a:schemeClr val="bg1"/>
                          </a:solidFill>
                        </a:rPr>
                        <a:t>굿즈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 페이지 등 개인별 최소 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개 기능을 구현 목표</a:t>
                      </a:r>
                      <a:endParaRPr lang="en-US" altLang="ko-KR" sz="1000" b="0" dirty="0">
                        <a:solidFill>
                          <a:schemeClr val="bg1"/>
                        </a:solidFill>
                      </a:endParaRPr>
                    </a:p>
                  </a:txBody>
                  <a:tcPr marL="43513" marR="43513" marT="21757" marB="21757" anchor="ctr"/>
                </a:tc>
                <a:extLst>
                  <a:ext uri="{0D108BD9-81ED-4DB2-BD59-A6C34878D82A}">
                    <a16:rowId xmlns:a16="http://schemas.microsoft.com/office/drawing/2014/main" val="2344351533"/>
                  </a:ext>
                </a:extLst>
              </a:tr>
              <a:tr h="45076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Calibri"/>
                        </a:rPr>
                        <a:t>Week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Calibri"/>
                        </a:rPr>
                        <a:t> 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Calibri"/>
                        </a:rPr>
                        <a:t>8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회원가입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로그인 등 회원 관련 기능의 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CRUD(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생성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조회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수정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삭제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)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 구현 시작</a:t>
                      </a:r>
                      <a:endParaRPr lang="en-US" altLang="ko-KR" sz="1000" b="0" dirty="0">
                        <a:solidFill>
                          <a:schemeClr val="bg1"/>
                        </a:solidFill>
                      </a:endParaRPr>
                    </a:p>
                  </a:txBody>
                  <a:tcPr marL="43513" marR="43513" marT="21757" marB="21757" anchor="ctr"/>
                </a:tc>
                <a:extLst>
                  <a:ext uri="{0D108BD9-81ED-4DB2-BD59-A6C34878D82A}">
                    <a16:rowId xmlns:a16="http://schemas.microsoft.com/office/drawing/2014/main" val="1678496933"/>
                  </a:ext>
                </a:extLst>
              </a:tr>
              <a:tr h="70697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Calibri"/>
                        </a:rPr>
                        <a:t>Week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Calibri"/>
                        </a:rPr>
                        <a:t> 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Calibri"/>
                        </a:rPr>
                        <a:t>9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예약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심리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장례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ko-KR" altLang="en-US" sz="1000" b="0" dirty="0" err="1">
                          <a:solidFill>
                            <a:schemeClr val="bg1"/>
                          </a:solidFill>
                        </a:rPr>
                        <a:t>굿즈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)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 관련 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CRUD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 구현 완성</a:t>
                      </a:r>
                      <a:endParaRPr lang="en-US" altLang="ko-KR" sz="1000" b="0" dirty="0">
                        <a:solidFill>
                          <a:schemeClr val="bg1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dirty="0" err="1">
                          <a:solidFill>
                            <a:schemeClr val="bg1"/>
                          </a:solidFill>
                        </a:rPr>
                        <a:t>Springboot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의 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MVC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패턴으로 </a:t>
                      </a:r>
                      <a:r>
                        <a:rPr lang="ko-KR" altLang="en-US" sz="1000" b="0" dirty="0" err="1">
                          <a:solidFill>
                            <a:schemeClr val="bg1"/>
                          </a:solidFill>
                        </a:rPr>
                        <a:t>백엔드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 코드 체계화</a:t>
                      </a:r>
                      <a:endParaRPr lang="en-US" altLang="ko-KR" sz="1000" b="0" dirty="0">
                        <a:solidFill>
                          <a:schemeClr val="bg1"/>
                        </a:solidFill>
                      </a:endParaRPr>
                    </a:p>
                  </a:txBody>
                  <a:tcPr marL="43513" marR="43513" marT="21757" marB="21757" anchor="ctr"/>
                </a:tc>
                <a:extLst>
                  <a:ext uri="{0D108BD9-81ED-4DB2-BD59-A6C34878D82A}">
                    <a16:rowId xmlns:a16="http://schemas.microsoft.com/office/drawing/2014/main" val="1664457287"/>
                  </a:ext>
                </a:extLst>
              </a:tr>
              <a:tr h="70697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Calibri"/>
                        </a:rPr>
                        <a:t>Week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Calibri"/>
                        </a:rPr>
                        <a:t> 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Calibri"/>
                        </a:rPr>
                        <a:t>10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DB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에서 조회한 예약 정보를 </a:t>
                      </a:r>
                      <a:r>
                        <a:rPr lang="en-US" altLang="ko-KR" sz="1000" b="0" dirty="0" err="1">
                          <a:solidFill>
                            <a:schemeClr val="bg1"/>
                          </a:solidFill>
                        </a:rPr>
                        <a:t>MyPage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UI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에 출력하도록 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View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연동 구현</a:t>
                      </a:r>
                      <a:endParaRPr lang="en-US" altLang="ko-KR" sz="1000" b="0" dirty="0">
                        <a:solidFill>
                          <a:schemeClr val="bg1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모든 기능 구현을 완료하고 </a:t>
                      </a:r>
                      <a:r>
                        <a:rPr lang="ko-KR" altLang="en-US" sz="1000" b="0" dirty="0" err="1">
                          <a:solidFill>
                            <a:schemeClr val="bg1"/>
                          </a:solidFill>
                        </a:rPr>
                        <a:t>브랜치에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 올려 최종 합본 준비</a:t>
                      </a:r>
                      <a:endParaRPr lang="en-US" altLang="ko-KR" sz="1000" b="0" dirty="0">
                        <a:solidFill>
                          <a:schemeClr val="bg1"/>
                        </a:solidFill>
                      </a:endParaRPr>
                    </a:p>
                  </a:txBody>
                  <a:tcPr marL="43513" marR="43513" marT="21757" marB="21757" anchor="ctr"/>
                </a:tc>
                <a:extLst>
                  <a:ext uri="{0D108BD9-81ED-4DB2-BD59-A6C34878D82A}">
                    <a16:rowId xmlns:a16="http://schemas.microsoft.com/office/drawing/2014/main" val="1465389795"/>
                  </a:ext>
                </a:extLst>
              </a:tr>
              <a:tr h="70697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Calibri"/>
                        </a:rPr>
                        <a:t>Week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Calibri"/>
                        </a:rPr>
                        <a:t> 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Calibri"/>
                        </a:rPr>
                        <a:t>11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커뮤니티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이용 후기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게시판 기능 및 </a:t>
                      </a:r>
                      <a:r>
                        <a:rPr lang="ko-KR" altLang="en-US" sz="1000" b="0" dirty="0" err="1">
                          <a:solidFill>
                            <a:schemeClr val="bg1"/>
                          </a:solidFill>
                        </a:rPr>
                        <a:t>메모리얼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1000" b="0" dirty="0" err="1">
                          <a:solidFill>
                            <a:schemeClr val="bg1"/>
                          </a:solidFill>
                        </a:rPr>
                        <a:t>굿즈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 페이지 최종 기능 구현</a:t>
                      </a:r>
                      <a:endParaRPr lang="en-US" altLang="ko-KR" sz="1000" b="0" dirty="0">
                        <a:solidFill>
                          <a:schemeClr val="bg1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Front-end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와 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Backend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통합 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Merge</a:t>
                      </a:r>
                    </a:p>
                  </a:txBody>
                  <a:tcPr marL="43513" marR="43513" marT="21757" marB="21757" anchor="ctr"/>
                </a:tc>
                <a:extLst>
                  <a:ext uri="{0D108BD9-81ED-4DB2-BD59-A6C34878D82A}">
                    <a16:rowId xmlns:a16="http://schemas.microsoft.com/office/drawing/2014/main" val="3531091375"/>
                  </a:ext>
                </a:extLst>
              </a:tr>
              <a:tr h="70697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Calibri"/>
                        </a:rPr>
                        <a:t>Week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Calibri"/>
                        </a:rPr>
                        <a:t> 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Calibri"/>
                        </a:rPr>
                        <a:t>12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Front-end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와 </a:t>
                      </a:r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Backend </a:t>
                      </a: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기능 연동 테스트</a:t>
                      </a:r>
                      <a:endParaRPr lang="en-US" altLang="ko-KR" sz="1000" b="0" dirty="0">
                        <a:solidFill>
                          <a:schemeClr val="bg1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solidFill>
                            <a:schemeClr val="bg1"/>
                          </a:solidFill>
                        </a:rPr>
                        <a:t>버그 수정 및 완성도 높이기</a:t>
                      </a:r>
                      <a:endParaRPr lang="en-US" altLang="ko-KR" sz="1000" b="0" dirty="0">
                        <a:solidFill>
                          <a:schemeClr val="bg1"/>
                        </a:solidFill>
                      </a:endParaRPr>
                    </a:p>
                  </a:txBody>
                  <a:tcPr marL="43513" marR="43513" marT="21757" marB="21757" anchor="ctr"/>
                </a:tc>
                <a:extLst>
                  <a:ext uri="{0D108BD9-81ED-4DB2-BD59-A6C34878D82A}">
                    <a16:rowId xmlns:a16="http://schemas.microsoft.com/office/drawing/2014/main" val="117071323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A521DAE-21CD-403E-A157-232B5CC15639}"/>
              </a:ext>
            </a:extLst>
          </p:cNvPr>
          <p:cNvSpPr txBox="1"/>
          <p:nvPr/>
        </p:nvSpPr>
        <p:spPr>
          <a:xfrm>
            <a:off x="263742" y="1534043"/>
            <a:ext cx="3221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☆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프론트엔드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집중 및 환경 구축 기간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7621A9-C99E-4327-A25C-BB402CB849BC}"/>
              </a:ext>
            </a:extLst>
          </p:cNvPr>
          <p:cNvSpPr txBox="1"/>
          <p:nvPr/>
        </p:nvSpPr>
        <p:spPr>
          <a:xfrm>
            <a:off x="5600160" y="1530876"/>
            <a:ext cx="31067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☆ </a:t>
            </a: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백엔드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전환 및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DB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연동 기간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262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>
            <a:extLst>
              <a:ext uri="{FF2B5EF4-FFF2-40B4-BE49-F238E27FC236}">
                <a16:creationId xmlns:a16="http://schemas.microsoft.com/office/drawing/2014/main" id="{CFC9568F-8FFE-4464-953B-4625D7036672}"/>
              </a:ext>
            </a:extLst>
          </p:cNvPr>
          <p:cNvSpPr txBox="1">
            <a:spLocks/>
          </p:cNvSpPr>
          <p:nvPr/>
        </p:nvSpPr>
        <p:spPr>
          <a:xfrm>
            <a:off x="0" y="2"/>
            <a:ext cx="12191999" cy="1291904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. HISTORY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6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521DAE-21CD-403E-A157-232B5CC15639}"/>
              </a:ext>
            </a:extLst>
          </p:cNvPr>
          <p:cNvSpPr txBox="1"/>
          <p:nvPr/>
        </p:nvSpPr>
        <p:spPr>
          <a:xfrm>
            <a:off x="1127760" y="2369502"/>
            <a:ext cx="3221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☆ 최종 완성 기간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CE00B8B-944D-43FD-ACCF-6EE8877206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389216"/>
              </p:ext>
            </p:extLst>
          </p:nvPr>
        </p:nvGraphicFramePr>
        <p:xfrm>
          <a:off x="1015068" y="2865397"/>
          <a:ext cx="10024844" cy="2604224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947805">
                  <a:extLst>
                    <a:ext uri="{9D8B030D-6E8A-4147-A177-3AD203B41FA5}">
                      <a16:colId xmlns:a16="http://schemas.microsoft.com/office/drawing/2014/main" val="190336083"/>
                    </a:ext>
                  </a:extLst>
                </a:gridCol>
                <a:gridCol w="8077039">
                  <a:extLst>
                    <a:ext uri="{9D8B030D-6E8A-4147-A177-3AD203B41FA5}">
                      <a16:colId xmlns:a16="http://schemas.microsoft.com/office/drawing/2014/main" val="3857420016"/>
                    </a:ext>
                  </a:extLst>
                </a:gridCol>
              </a:tblGrid>
              <a:tr h="82861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Calibri"/>
                        </a:rPr>
                        <a:t>Week</a:t>
                      </a: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Calibri"/>
                        </a:rPr>
                        <a:t> 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Calibri"/>
                        </a:rPr>
                        <a:t>13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b="0" dirty="0">
                          <a:solidFill>
                            <a:schemeClr val="bg1"/>
                          </a:solidFill>
                        </a:rPr>
                        <a:t>Front-end</a:t>
                      </a:r>
                      <a:r>
                        <a:rPr lang="ko-KR" altLang="en-US" sz="1200" b="0" dirty="0">
                          <a:solidFill>
                            <a:schemeClr val="bg1"/>
                          </a:solidFill>
                        </a:rPr>
                        <a:t>와 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</a:rPr>
                        <a:t>Backend </a:t>
                      </a:r>
                      <a:r>
                        <a:rPr lang="ko-KR" altLang="en-US" sz="1200" b="0" dirty="0">
                          <a:solidFill>
                            <a:schemeClr val="bg1"/>
                          </a:solidFill>
                        </a:rPr>
                        <a:t>기능 연동 테스트를 집중 진행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dirty="0">
                          <a:solidFill>
                            <a:schemeClr val="bg1"/>
                          </a:solidFill>
                        </a:rPr>
                        <a:t>기능별 버그 수정 및 완성도 높이기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dirty="0">
                          <a:solidFill>
                            <a:schemeClr val="bg1"/>
                          </a:solidFill>
                        </a:rPr>
                        <a:t>모든 기능이 유기적으로 작동하는지 확인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320615"/>
                  </a:ext>
                </a:extLst>
              </a:tr>
              <a:tr h="59186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Calibri"/>
                        </a:rPr>
                        <a:t>Week</a:t>
                      </a: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Calibri"/>
                        </a:rPr>
                        <a:t> 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Calibri"/>
                        </a:rPr>
                        <a:t>14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dirty="0">
                          <a:solidFill>
                            <a:schemeClr val="bg1"/>
                          </a:solidFill>
                        </a:rPr>
                        <a:t>코드 리뷰 및 최적화를 통한 시스템 안정화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dirty="0">
                          <a:solidFill>
                            <a:schemeClr val="bg1"/>
                          </a:solidFill>
                        </a:rPr>
                        <a:t>프로젝트 최종 문서화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</a:rPr>
                        <a:t>(Notion </a:t>
                      </a:r>
                      <a:r>
                        <a:rPr lang="ko-KR" altLang="en-US" sz="1200" b="0" dirty="0">
                          <a:solidFill>
                            <a:schemeClr val="bg1"/>
                          </a:solidFill>
                        </a:rPr>
                        <a:t>등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</a:rPr>
                        <a:t>)</a:t>
                      </a:r>
                      <a:r>
                        <a:rPr lang="ko-KR" altLang="en-US" sz="1200" b="0" dirty="0">
                          <a:solidFill>
                            <a:schemeClr val="bg1"/>
                          </a:solidFill>
                        </a:rPr>
                        <a:t> 작업 착수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825825"/>
                  </a:ext>
                </a:extLst>
              </a:tr>
              <a:tr h="59186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Calibri"/>
                        </a:rPr>
                        <a:t>Week</a:t>
                      </a: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Calibri"/>
                        </a:rPr>
                        <a:t> 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Calibri"/>
                        </a:rPr>
                        <a:t>15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b="0" dirty="0">
                          <a:solidFill>
                            <a:schemeClr val="bg1"/>
                          </a:solidFill>
                        </a:rPr>
                        <a:t>Front-end/Backend </a:t>
                      </a:r>
                      <a:r>
                        <a:rPr lang="ko-KR" altLang="en-US" sz="1200" b="0" dirty="0">
                          <a:solidFill>
                            <a:schemeClr val="bg1"/>
                          </a:solidFill>
                        </a:rPr>
                        <a:t>코드 최종 병합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</a:rPr>
                        <a:t>(Merge)</a:t>
                      </a:r>
                      <a:r>
                        <a:rPr lang="ko-KR" altLang="en-US" sz="1200" b="0" dirty="0">
                          <a:solidFill>
                            <a:schemeClr val="bg1"/>
                          </a:solidFill>
                        </a:rPr>
                        <a:t> 및 통합 </a:t>
                      </a:r>
                      <a:r>
                        <a:rPr lang="ko-KR" altLang="en-US" sz="1200" b="0" dirty="0" err="1">
                          <a:solidFill>
                            <a:schemeClr val="bg1"/>
                          </a:solidFill>
                        </a:rPr>
                        <a:t>브랜치</a:t>
                      </a:r>
                      <a:r>
                        <a:rPr lang="ko-KR" altLang="en-US" sz="1200" b="0" dirty="0">
                          <a:solidFill>
                            <a:schemeClr val="bg1"/>
                          </a:solidFill>
                        </a:rPr>
                        <a:t> 확정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dirty="0">
                          <a:solidFill>
                            <a:schemeClr val="bg1"/>
                          </a:solidFill>
                        </a:rPr>
                        <a:t>최종 사용자 시나리오 기반의 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</a:rPr>
                        <a:t>QA(Quality Assurance)</a:t>
                      </a:r>
                      <a:r>
                        <a:rPr lang="ko-KR" altLang="en-US" sz="1200" b="0" dirty="0">
                          <a:solidFill>
                            <a:schemeClr val="bg1"/>
                          </a:solidFill>
                        </a:rPr>
                        <a:t> 완료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4583956"/>
                  </a:ext>
                </a:extLst>
              </a:tr>
              <a:tr h="59186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Calibri"/>
                        </a:rPr>
                        <a:t>Week</a:t>
                      </a: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Calibri"/>
                        </a:rPr>
                        <a:t> 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Calibri"/>
                        </a:rPr>
                        <a:t>16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dirty="0">
                          <a:solidFill>
                            <a:schemeClr val="bg1"/>
                          </a:solidFill>
                        </a:rPr>
                        <a:t>최종 코드 정리 및 클린업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dirty="0">
                          <a:solidFill>
                            <a:schemeClr val="bg1"/>
                          </a:solidFill>
                        </a:rPr>
                        <a:t>배포 환경에 맞는 최종 패키지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</a:rPr>
                        <a:t>(Package) </a:t>
                      </a:r>
                      <a:r>
                        <a:rPr lang="ko-KR" altLang="en-US" sz="1200" b="0" dirty="0">
                          <a:solidFill>
                            <a:schemeClr val="bg1"/>
                          </a:solidFill>
                        </a:rPr>
                        <a:t>준비 및 프로젝트 최종 종료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5543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7356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스타일가이드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7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53A2527-3942-48B3-96C1-BD45A3720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93" y="1904504"/>
            <a:ext cx="2015696" cy="262336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35712FF-D1FB-45C0-96B1-E3F0CF5DA6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8582" y="1904504"/>
            <a:ext cx="2469999" cy="347533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2AF583A-1DAB-42D9-91CD-20584AE54F1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282" r="2422"/>
          <a:stretch/>
        </p:blipFill>
        <p:spPr>
          <a:xfrm>
            <a:off x="6296550" y="1904504"/>
            <a:ext cx="2532505" cy="348822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E873AD6A-3192-4A29-B198-C30BF659AE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7024" y="1904504"/>
            <a:ext cx="2532505" cy="347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397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8013F7C6-91B8-4515-80F4-51C95A71F400}"/>
              </a:ext>
            </a:extLst>
          </p:cNvPr>
          <p:cNvSpPr/>
          <p:nvPr/>
        </p:nvSpPr>
        <p:spPr>
          <a:xfrm>
            <a:off x="750056" y="1583204"/>
            <a:ext cx="2607009" cy="16558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98474D31-B463-47EA-A06E-BDEB7BD41C28}"/>
              </a:ext>
            </a:extLst>
          </p:cNvPr>
          <p:cNvSpPr/>
          <p:nvPr/>
        </p:nvSpPr>
        <p:spPr>
          <a:xfrm>
            <a:off x="750055" y="5103138"/>
            <a:ext cx="2607009" cy="16558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6D1AB097-C085-49B8-A044-1AC69D8356F7}"/>
              </a:ext>
            </a:extLst>
          </p:cNvPr>
          <p:cNvSpPr/>
          <p:nvPr/>
        </p:nvSpPr>
        <p:spPr>
          <a:xfrm>
            <a:off x="750055" y="3343171"/>
            <a:ext cx="2607009" cy="16558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. </a:t>
            </a:r>
            <a:r>
              <a:rPr lang="ko-KR" altLang="en-US" sz="28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기술스택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협력도구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8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5313198-5491-4E56-B394-69C0CE4719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92" y="3538132"/>
            <a:ext cx="540000" cy="540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F552F84-2F0D-40EC-9B26-1A2CA0A7CF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695" y="3543594"/>
            <a:ext cx="540000" cy="540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1553417-404F-4371-81A8-324BDAC230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50" y="2520968"/>
            <a:ext cx="540000" cy="540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FB742CE-6E9A-401C-931B-9C55BBE4ED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733" y="5338138"/>
            <a:ext cx="540000" cy="540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F2DDCC4-BBCB-4394-ACFC-56E3FCEE34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92" y="4315732"/>
            <a:ext cx="540000" cy="5400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FCD30A2D-7029-42B9-8C0A-42B1B623F4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733" y="6122099"/>
            <a:ext cx="540000" cy="5400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12973CD6-6D21-4C1D-9022-532CCEDC78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3560" y="6159226"/>
            <a:ext cx="540000" cy="54000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91E913C8-21B4-48F2-B505-DEAE844609D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971" y="1801848"/>
            <a:ext cx="540000" cy="54000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63FB77CC-6072-4B26-BACA-E540B57CB04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1070" y="1810813"/>
            <a:ext cx="540000" cy="5400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E5A38591-60F2-43FA-B23A-9F6532C71DD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672" y="6122099"/>
            <a:ext cx="540000" cy="54000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81606027-ECE8-4A43-93EF-77A19197EC0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672" y="5338138"/>
            <a:ext cx="540000" cy="540000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11C5E3DF-FE50-4177-B545-5E8AAD69832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3560" y="5338138"/>
            <a:ext cx="540000" cy="540000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67962217-925B-4C16-A7EB-24C48F07BBC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5698" y="3538132"/>
            <a:ext cx="540000" cy="540000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763D72B8-5AA1-42C2-A8DC-D724E804462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50" y="1810813"/>
            <a:ext cx="540000" cy="54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567A77-6838-47D6-A49E-267269371B98}"/>
              </a:ext>
            </a:extLst>
          </p:cNvPr>
          <p:cNvSpPr txBox="1"/>
          <p:nvPr/>
        </p:nvSpPr>
        <p:spPr>
          <a:xfrm>
            <a:off x="326755" y="1826329"/>
            <a:ext cx="32733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F</a:t>
            </a:r>
          </a:p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R</a:t>
            </a:r>
          </a:p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O</a:t>
            </a:r>
          </a:p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N</a:t>
            </a:r>
          </a:p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T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9E934D-7089-4D13-A018-4F758BF9480D}"/>
              </a:ext>
            </a:extLst>
          </p:cNvPr>
          <p:cNvSpPr txBox="1"/>
          <p:nvPr/>
        </p:nvSpPr>
        <p:spPr>
          <a:xfrm>
            <a:off x="339851" y="3731551"/>
            <a:ext cx="31130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B</a:t>
            </a:r>
          </a:p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</a:p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C</a:t>
            </a:r>
          </a:p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K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A9077E-5AE7-426B-A782-020F2BAB16F2}"/>
              </a:ext>
            </a:extLst>
          </p:cNvPr>
          <p:cNvSpPr txBox="1"/>
          <p:nvPr/>
        </p:nvSpPr>
        <p:spPr>
          <a:xfrm>
            <a:off x="334181" y="5304786"/>
            <a:ext cx="32412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O</a:t>
            </a:r>
          </a:p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T</a:t>
            </a:r>
          </a:p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H</a:t>
            </a:r>
          </a:p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E</a:t>
            </a:r>
          </a:p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R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50FA4D3D-2C0C-4CEB-AC72-F32CAD752C5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46927" y="2072824"/>
            <a:ext cx="3249986" cy="250768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973E02B-54BE-4B11-8401-25A69F389E3C}"/>
              </a:ext>
            </a:extLst>
          </p:cNvPr>
          <p:cNvSpPr txBox="1"/>
          <p:nvPr/>
        </p:nvSpPr>
        <p:spPr>
          <a:xfrm>
            <a:off x="4303521" y="1643131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>
                <a:solidFill>
                  <a:schemeClr val="bg1"/>
                </a:solidFill>
              </a:rPr>
              <a:t>Github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4BC00CF5-84D3-4FF6-8B78-893E426C4BD7}"/>
              </a:ext>
            </a:extLst>
          </p:cNvPr>
          <p:cNvPicPr>
            <a:picLocks noChangeAspect="1"/>
          </p:cNvPicPr>
          <p:nvPr/>
        </p:nvPicPr>
        <p:blipFill rotWithShape="1">
          <a:blip r:embed="rId18"/>
          <a:srcRect l="395" r="395"/>
          <a:stretch/>
        </p:blipFill>
        <p:spPr>
          <a:xfrm>
            <a:off x="8303094" y="2074166"/>
            <a:ext cx="2988082" cy="2488529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D24BFBA8-8E3A-4895-845C-5D4466B5567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54498" y="4192769"/>
            <a:ext cx="2651634" cy="219684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642CEA88-DFBF-4515-8CFB-E7B9097DC1EB}"/>
              </a:ext>
            </a:extLst>
          </p:cNvPr>
          <p:cNvSpPr txBox="1"/>
          <p:nvPr/>
        </p:nvSpPr>
        <p:spPr>
          <a:xfrm>
            <a:off x="8368044" y="1643131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Notion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B80426-7E51-44BB-A51D-47C59246100E}"/>
              </a:ext>
            </a:extLst>
          </p:cNvPr>
          <p:cNvSpPr txBox="1"/>
          <p:nvPr/>
        </p:nvSpPr>
        <p:spPr>
          <a:xfrm>
            <a:off x="4303521" y="4547873"/>
            <a:ext cx="1218603" cy="1066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</a:rPr>
              <a:t>-</a:t>
            </a:r>
            <a:r>
              <a:rPr lang="en-US" altLang="ko-KR" sz="1600" dirty="0">
                <a:solidFill>
                  <a:schemeClr val="bg1"/>
                </a:solidFill>
              </a:rPr>
              <a:t> </a:t>
            </a:r>
            <a:r>
              <a:rPr lang="en-US" altLang="ko-KR" sz="1400" dirty="0">
                <a:solidFill>
                  <a:schemeClr val="bg1"/>
                </a:solidFill>
              </a:rPr>
              <a:t>Main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</a:rPr>
              <a:t>- Dev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</a:rPr>
              <a:t>- </a:t>
            </a:r>
            <a:r>
              <a:rPr lang="ko-KR" altLang="en-US" sz="1400" dirty="0" err="1">
                <a:solidFill>
                  <a:schemeClr val="bg1"/>
                </a:solidFill>
              </a:rPr>
              <a:t>개인브랜치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BAB3F89-15EE-4A60-B9AC-491B01A8172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145" y="3359624"/>
            <a:ext cx="1652637" cy="3036143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CABB750F-0F25-49C0-B675-AFF046688EF8}"/>
              </a:ext>
            </a:extLst>
          </p:cNvPr>
          <p:cNvSpPr txBox="1"/>
          <p:nvPr/>
        </p:nvSpPr>
        <p:spPr>
          <a:xfrm>
            <a:off x="7060950" y="6389551"/>
            <a:ext cx="1285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>
                <a:solidFill>
                  <a:schemeClr val="bg1"/>
                </a:solidFill>
              </a:rPr>
              <a:t>KakaoTalk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688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. ERD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9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C16C883-2F8A-4C2A-A739-6EAFF1AB3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233" y="1595276"/>
            <a:ext cx="7720777" cy="51016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41B6D3-B05F-4FA0-9C13-714B00EFBC7C}"/>
              </a:ext>
            </a:extLst>
          </p:cNvPr>
          <p:cNvSpPr txBox="1"/>
          <p:nvPr/>
        </p:nvSpPr>
        <p:spPr>
          <a:xfrm>
            <a:off x="9060964" y="1650844"/>
            <a:ext cx="1819729" cy="49905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bg1"/>
                </a:solidFill>
              </a:rPr>
              <a:t>☆ </a:t>
            </a:r>
            <a:r>
              <a:rPr lang="en-US" altLang="ko-KR" b="1" dirty="0">
                <a:solidFill>
                  <a:schemeClr val="bg1"/>
                </a:solidFill>
              </a:rPr>
              <a:t>List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 err="1">
                <a:solidFill>
                  <a:schemeClr val="bg1"/>
                </a:solidFill>
              </a:rPr>
              <a:t>user_info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 err="1">
                <a:solidFill>
                  <a:schemeClr val="bg1"/>
                </a:solidFill>
              </a:rPr>
              <a:t>funeral_palce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 err="1">
                <a:solidFill>
                  <a:schemeClr val="bg1"/>
                </a:solidFill>
              </a:rPr>
              <a:t>funeral_reserve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 err="1">
                <a:solidFill>
                  <a:schemeClr val="bg1"/>
                </a:solidFill>
              </a:rPr>
              <a:t>psy_reserve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 err="1">
                <a:solidFill>
                  <a:schemeClr val="bg1"/>
                </a:solidFill>
              </a:rPr>
              <a:t>goods_reserve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 err="1">
                <a:solidFill>
                  <a:schemeClr val="bg1"/>
                </a:solidFill>
              </a:rPr>
              <a:t>ourpage_reserve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 err="1">
                <a:solidFill>
                  <a:schemeClr val="bg1"/>
                </a:solidFill>
              </a:rPr>
              <a:t>community_post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 err="1">
                <a:solidFill>
                  <a:schemeClr val="bg1"/>
                </a:solidFill>
              </a:rPr>
              <a:t>post_like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 err="1">
                <a:solidFill>
                  <a:schemeClr val="bg1"/>
                </a:solidFill>
              </a:rPr>
              <a:t>post_comment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solidFill>
                  <a:schemeClr val="bg1"/>
                </a:solidFill>
              </a:rPr>
              <a:t>follow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solidFill>
                  <a:schemeClr val="bg1"/>
                </a:solidFill>
              </a:rPr>
              <a:t>payments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 err="1">
                <a:solidFill>
                  <a:schemeClr val="bg1"/>
                </a:solidFill>
              </a:rPr>
              <a:t>qna_board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 err="1">
                <a:solidFill>
                  <a:schemeClr val="bg1"/>
                </a:solidFill>
              </a:rPr>
              <a:t>qna_images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 err="1">
                <a:solidFill>
                  <a:schemeClr val="bg1"/>
                </a:solidFill>
              </a:rPr>
              <a:t>qna_links</a:t>
            </a:r>
            <a:endParaRPr lang="en-US" altLang="ko-K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2907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8.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페이지 상세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10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154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프로젝트 개발 시 겪었던 점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5781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DF5F-EEC7-7330-11DA-82489AF6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105F9C-5F0F-C98D-C444-7E79C05C12A2}"/>
              </a:ext>
            </a:extLst>
          </p:cNvPr>
          <p:cNvSpPr txBox="1">
            <a:spLocks/>
          </p:cNvSpPr>
          <p:nvPr/>
        </p:nvSpPr>
        <p:spPr>
          <a:xfrm>
            <a:off x="838200" y="2292596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11500" dirty="0">
                <a:solidFill>
                  <a:schemeClr val="bg1"/>
                </a:solidFill>
              </a:rPr>
              <a:t>Q</a:t>
            </a:r>
            <a:r>
              <a:rPr lang="en-US" altLang="ko-KR" sz="8000" dirty="0">
                <a:solidFill>
                  <a:schemeClr val="bg1"/>
                </a:solidFill>
              </a:rPr>
              <a:t>&amp;</a:t>
            </a:r>
            <a:r>
              <a:rPr lang="en-US" altLang="ko-KR" sz="11500" dirty="0">
                <a:solidFill>
                  <a:schemeClr val="bg1"/>
                </a:solidFill>
              </a:rPr>
              <a:t>A</a:t>
            </a:r>
            <a:endParaRPr lang="ko-KR" altLang="en-US" sz="11500" dirty="0">
              <a:solidFill>
                <a:schemeClr val="bg1"/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4065CC-BAF2-2646-6DC9-CCA2AC58DAD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ko-KR" altLang="en-US" sz="4800" dirty="0">
              <a:solidFill>
                <a:srgbClr val="2C3930"/>
              </a:solidFill>
            </a:endParaRPr>
          </a:p>
        </p:txBody>
      </p:sp>
      <p:pic>
        <p:nvPicPr>
          <p:cNvPr id="9" name="그림 8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E723E-4DFB-CCF9-FB66-49713820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8FCE66-B67E-3DCC-EDC0-BF93D04DBEEA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548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DF5F-EEC7-7330-11DA-82489AF6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105F9C-5F0F-C98D-C444-7E79C05C12A2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감사합니다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4065CC-BAF2-2646-6DC9-CCA2AC58DAD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pic>
        <p:nvPicPr>
          <p:cNvPr id="9" name="그림 8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E723E-4DFB-CCF9-FB66-49713820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8FCE66-B67E-3DCC-EDC0-BF93D04DBEEA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88F3796-C2DD-4B3B-A779-04A4DEF6B8AF}"/>
              </a:ext>
            </a:extLst>
          </p:cNvPr>
          <p:cNvSpPr txBox="1">
            <a:spLocks/>
          </p:cNvSpPr>
          <p:nvPr/>
        </p:nvSpPr>
        <p:spPr>
          <a:xfrm>
            <a:off x="9707134" y="5409213"/>
            <a:ext cx="2247122" cy="1261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심예진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37107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4199</TotalTime>
  <Words>667</Words>
  <Application>Microsoft Office PowerPoint</Application>
  <PresentationFormat>와이드스크린</PresentationFormat>
  <Paragraphs>144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Calibri</vt:lpstr>
      <vt:lpstr>Office 테마</vt:lpstr>
      <vt:lpstr>PowerPoint 프레젠테이션</vt:lpstr>
      <vt:lpstr>INDEX 및 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273</cp:revision>
  <dcterms:created xsi:type="dcterms:W3CDTF">2025-08-05T00:27:28Z</dcterms:created>
  <dcterms:modified xsi:type="dcterms:W3CDTF">2025-11-28T08:35:24Z</dcterms:modified>
</cp:coreProperties>
</file>