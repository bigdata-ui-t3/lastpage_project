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18" r:id="rId5"/>
    <p:sldId id="319" r:id="rId6"/>
    <p:sldId id="321" r:id="rId7"/>
    <p:sldId id="320" r:id="rId8"/>
    <p:sldId id="322" r:id="rId9"/>
    <p:sldId id="323" r:id="rId10"/>
    <p:sldId id="324" r:id="rId11"/>
    <p:sldId id="299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환경분석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요건 정의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기존 요구사항 확인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명세화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Use Case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명세서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검증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검토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(Review)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탐색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데이터 분석 기획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분류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확보 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개념적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(Conceptual) -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엔터티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관계 요약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논리적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(Logical)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인덱스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외부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Open 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내부 수집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모델링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모델링 기획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분류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)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BCE937-8E3D-496A-8190-F3C3CE40A191}"/>
              </a:ext>
            </a:extLst>
          </p:cNvPr>
          <p:cNvSpPr txBox="1">
            <a:spLocks/>
          </p:cNvSpPr>
          <p:nvPr/>
        </p:nvSpPr>
        <p:spPr>
          <a:xfrm>
            <a:off x="6398521" y="497887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5.  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결과 적용 계획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NCS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기획 보고서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기존 요구사항 </a:t>
            </a:r>
            <a:r>
              <a:rPr lang="ko-KR" altLang="en-US" dirty="0">
                <a:solidFill>
                  <a:prstClr val="black"/>
                </a:solidFill>
                <a:ea typeface="맑은 고딕" panose="020B0503020000020004" pitchFamily="50" charset="-127"/>
              </a:rPr>
              <a:t>확인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A27A644-DEE2-4622-A8A0-58E81BD4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73572"/>
              </p:ext>
            </p:extLst>
          </p:nvPr>
        </p:nvGraphicFramePr>
        <p:xfrm>
          <a:off x="991184" y="1601637"/>
          <a:ext cx="10209630" cy="5092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2453">
                  <a:extLst>
                    <a:ext uri="{9D8B030D-6E8A-4147-A177-3AD203B41FA5}">
                      <a16:colId xmlns:a16="http://schemas.microsoft.com/office/drawing/2014/main" val="1257472940"/>
                    </a:ext>
                  </a:extLst>
                </a:gridCol>
                <a:gridCol w="1512162">
                  <a:extLst>
                    <a:ext uri="{9D8B030D-6E8A-4147-A177-3AD203B41FA5}">
                      <a16:colId xmlns:a16="http://schemas.microsoft.com/office/drawing/2014/main" val="2155757754"/>
                    </a:ext>
                  </a:extLst>
                </a:gridCol>
                <a:gridCol w="5369086">
                  <a:extLst>
                    <a:ext uri="{9D8B030D-6E8A-4147-A177-3AD203B41FA5}">
                      <a16:colId xmlns:a16="http://schemas.microsoft.com/office/drawing/2014/main" val="635701269"/>
                    </a:ext>
                  </a:extLst>
                </a:gridCol>
                <a:gridCol w="1915929">
                  <a:extLst>
                    <a:ext uri="{9D8B030D-6E8A-4147-A177-3AD203B41FA5}">
                      <a16:colId xmlns:a16="http://schemas.microsoft.com/office/drawing/2014/main" val="4193443379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요청자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3923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R-001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기반 장례식장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납골당 추천 및 검색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9742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위치 및 검색 데이터 암호화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개인정보위원회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2817"/>
                  </a:ext>
                </a:extLst>
              </a:tr>
              <a:tr h="336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반려동물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 정보 입력을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장례 예약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2042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비용 확인 및 웹 결제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92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3585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조회 시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초 내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15436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리스트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08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R-008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1187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R-009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상담형태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심리상태 정보를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8707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비용 확인 및 웹 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9890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5399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판매 데이터 분석을 통한 인기 굿즈 트렌드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94141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요청 접수 시 업체에 자동 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4743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통계 리포트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36916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작성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9355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R-016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및 리뷰 신고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악성 게시글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4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ea typeface="맑은 고딕" panose="020B0503020000020004" pitchFamily="50" charset="-127"/>
              </a:rPr>
              <a:t>1-2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명세화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02A3B28-6344-4B05-B0FB-ADBA0E22D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22719"/>
              </p:ext>
            </p:extLst>
          </p:nvPr>
        </p:nvGraphicFramePr>
        <p:xfrm>
          <a:off x="580282" y="2984600"/>
          <a:ext cx="11031436" cy="20571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3847">
                  <a:extLst>
                    <a:ext uri="{9D8B030D-6E8A-4147-A177-3AD203B41FA5}">
                      <a16:colId xmlns:a16="http://schemas.microsoft.com/office/drawing/2014/main" val="3822811726"/>
                    </a:ext>
                  </a:extLst>
                </a:gridCol>
                <a:gridCol w="3328469">
                  <a:extLst>
                    <a:ext uri="{9D8B030D-6E8A-4147-A177-3AD203B41FA5}">
                      <a16:colId xmlns:a16="http://schemas.microsoft.com/office/drawing/2014/main" val="1040827934"/>
                    </a:ext>
                  </a:extLst>
                </a:gridCol>
                <a:gridCol w="1445978">
                  <a:extLst>
                    <a:ext uri="{9D8B030D-6E8A-4147-A177-3AD203B41FA5}">
                      <a16:colId xmlns:a16="http://schemas.microsoft.com/office/drawing/2014/main" val="1360107011"/>
                    </a:ext>
                  </a:extLst>
                </a:gridCol>
                <a:gridCol w="2326855">
                  <a:extLst>
                    <a:ext uri="{9D8B030D-6E8A-4147-A177-3AD203B41FA5}">
                      <a16:colId xmlns:a16="http://schemas.microsoft.com/office/drawing/2014/main" val="1885686380"/>
                    </a:ext>
                  </a:extLst>
                </a:gridCol>
                <a:gridCol w="2206287">
                  <a:extLst>
                    <a:ext uri="{9D8B030D-6E8A-4147-A177-3AD203B41FA5}">
                      <a16:colId xmlns:a16="http://schemas.microsoft.com/office/drawing/2014/main" val="446095888"/>
                    </a:ext>
                  </a:extLst>
                </a:gridCol>
              </a:tblGrid>
              <a:tr h="470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요구사항 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요구사항 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우선순위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입력데이터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444576"/>
                  </a:ext>
                </a:extLst>
              </a:tr>
              <a:tr h="9286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RQ-01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사용자의 현재 위치 기반 가까운 거리의 장례식장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납골당 추천 및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GPS</a:t>
                      </a:r>
                      <a:r>
                        <a:rPr lang="ko-KR" altLang="en-US" sz="1400" dirty="0"/>
                        <a:t>위치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전국 반려동물 장례식장 위치 및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반려동물 장례업체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리스트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거리순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793964"/>
                  </a:ext>
                </a:extLst>
              </a:tr>
              <a:tr h="657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RQ-02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리뷰 데이터 기반 사용자의 심리상태에 알맞은 상담사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심리상태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맞춤형 상담사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별점순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83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1-3. TRIP_SMART Use Case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명세서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546C5-F6EF-461B-A27C-F585FF8C5CB7}"/>
              </a:ext>
            </a:extLst>
          </p:cNvPr>
          <p:cNvSpPr txBox="1"/>
          <p:nvPr/>
        </p:nvSpPr>
        <p:spPr>
          <a:xfrm>
            <a:off x="783811" y="1773197"/>
            <a:ext cx="6564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Use Case 1 :  </a:t>
            </a:r>
            <a:r>
              <a:rPr lang="ko-KR" altLang="en-US" sz="1600" b="1" dirty="0">
                <a:solidFill>
                  <a:schemeClr val="bg1"/>
                </a:solidFill>
              </a:rPr>
              <a:t>위치 기반 장례식장</a:t>
            </a:r>
            <a:r>
              <a:rPr lang="en-US" altLang="ko-KR" sz="1600" b="1" dirty="0">
                <a:solidFill>
                  <a:schemeClr val="bg1"/>
                </a:solidFill>
              </a:rPr>
              <a:t>/</a:t>
            </a:r>
            <a:r>
              <a:rPr lang="ko-KR" altLang="en-US" sz="1600" b="1" dirty="0">
                <a:solidFill>
                  <a:schemeClr val="bg1"/>
                </a:solidFill>
              </a:rPr>
              <a:t>납골당 추천 및 검색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D3C16D-0E32-46FA-A03B-B2EE84676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741651"/>
              </p:ext>
            </p:extLst>
          </p:nvPr>
        </p:nvGraphicFramePr>
        <p:xfrm>
          <a:off x="1702877" y="2364649"/>
          <a:ext cx="8786244" cy="4209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7664">
                  <a:extLst>
                    <a:ext uri="{9D8B030D-6E8A-4147-A177-3AD203B41FA5}">
                      <a16:colId xmlns:a16="http://schemas.microsoft.com/office/drawing/2014/main" val="629785218"/>
                    </a:ext>
                  </a:extLst>
                </a:gridCol>
                <a:gridCol w="6568580">
                  <a:extLst>
                    <a:ext uri="{9D8B030D-6E8A-4147-A177-3AD203B41FA5}">
                      <a16:colId xmlns:a16="http://schemas.microsoft.com/office/drawing/2014/main" val="2171669908"/>
                    </a:ext>
                  </a:extLst>
                </a:gridCol>
              </a:tblGrid>
              <a:tr h="387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83645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Use Case </a:t>
                      </a:r>
                      <a:r>
                        <a:rPr lang="ko-KR" altLang="en-US" sz="1200" b="1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위치 기반 장례식장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납골당 추천 및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5495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사용자의 현재 위치 기반 가까운 거리의 장례식장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납골당 추천 및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14848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사전조건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GPS </a:t>
                      </a:r>
                      <a:r>
                        <a:rPr lang="ko-KR" altLang="en-US" sz="1400" dirty="0"/>
                        <a:t>권한 허용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01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기본흐름</a:t>
                      </a:r>
                      <a:r>
                        <a:rPr lang="en-US" altLang="ko-KR" sz="1200" b="1" dirty="0"/>
                        <a:t>(Basic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사용자가 웹사이트 실행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</a:t>
                      </a:r>
                      <a:r>
                        <a:rPr lang="en-US" altLang="ko-KR" sz="1400" dirty="0"/>
                        <a:t>GPS</a:t>
                      </a:r>
                      <a:r>
                        <a:rPr lang="ko-KR" altLang="en-US" sz="1400" dirty="0"/>
                        <a:t>로 현재 위치 수집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분석 후 추천 리스트 생성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</a:t>
                      </a:r>
                      <a:r>
                        <a:rPr lang="ko-KR" altLang="en-US" sz="1400" dirty="0" err="1"/>
                        <a:t>거리순</a:t>
                      </a:r>
                      <a:r>
                        <a:rPr lang="ko-KR" altLang="en-US" sz="1400" dirty="0"/>
                        <a:t> 반려동물 장례식장 리스트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1806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대안흐름</a:t>
                      </a:r>
                      <a:r>
                        <a:rPr lang="en-US" altLang="ko-KR" sz="1200" b="1" dirty="0"/>
                        <a:t>(Alternative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A1: </a:t>
                      </a:r>
                      <a:r>
                        <a:rPr lang="ko-KR" altLang="en-US" sz="1400" dirty="0"/>
                        <a:t>사용자가 직접 위치 입력 → 해당 위치 기반 추천 리스트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4745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예외흐름</a:t>
                      </a:r>
                      <a:r>
                        <a:rPr lang="en-US" altLang="ko-KR" sz="1200" b="1" dirty="0"/>
                        <a:t>(Exception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E1 : </a:t>
                      </a:r>
                      <a:r>
                        <a:rPr lang="ko-KR" altLang="en-US" sz="1400" dirty="0"/>
                        <a:t>사용자가 </a:t>
                      </a:r>
                      <a:r>
                        <a:rPr lang="en-US" altLang="ko-KR" sz="1400" dirty="0"/>
                        <a:t>GPS </a:t>
                      </a:r>
                      <a:r>
                        <a:rPr lang="ko-KR" altLang="en-US" sz="1400" dirty="0"/>
                        <a:t>권한 </a:t>
                      </a:r>
                      <a:r>
                        <a:rPr lang="ko-KR" altLang="en-US" sz="1400" dirty="0" err="1"/>
                        <a:t>비동의</a:t>
                      </a:r>
                      <a:r>
                        <a:rPr lang="ko-KR" altLang="en-US" sz="1400" dirty="0"/>
                        <a:t> → 수도권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서울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경기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중심 기본 리스트 생성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- E2 : </a:t>
                      </a:r>
                      <a:r>
                        <a:rPr lang="ko-KR" altLang="en-US" sz="1400" dirty="0"/>
                        <a:t>네트워크 오류 → 오류 메시지 및 </a:t>
                      </a:r>
                      <a:r>
                        <a:rPr lang="ko-KR" altLang="en-US" sz="1400" dirty="0" err="1"/>
                        <a:t>새로고침</a:t>
                      </a:r>
                      <a:r>
                        <a:rPr lang="ko-KR" altLang="en-US" sz="1400" dirty="0"/>
                        <a:t> 권장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01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1-3. TRIP_SMART Use Case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명세서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546C5-F6EF-461B-A27C-F585FF8C5CB7}"/>
              </a:ext>
            </a:extLst>
          </p:cNvPr>
          <p:cNvSpPr txBox="1"/>
          <p:nvPr/>
        </p:nvSpPr>
        <p:spPr>
          <a:xfrm>
            <a:off x="783811" y="1773197"/>
            <a:ext cx="7368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Use Case 2 : </a:t>
            </a:r>
            <a:r>
              <a:rPr lang="ko-KR" altLang="en-US" sz="1600" b="1" dirty="0">
                <a:solidFill>
                  <a:schemeClr val="bg1"/>
                </a:solidFill>
              </a:rPr>
              <a:t>사용자 리뷰 데이터 기반 맞춤형 상담사 추천 알고리즘 활용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D3C16D-0E32-46FA-A03B-B2EE84676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11986"/>
              </p:ext>
            </p:extLst>
          </p:nvPr>
        </p:nvGraphicFramePr>
        <p:xfrm>
          <a:off x="1183158" y="2357972"/>
          <a:ext cx="9825681" cy="4209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80019">
                  <a:extLst>
                    <a:ext uri="{9D8B030D-6E8A-4147-A177-3AD203B41FA5}">
                      <a16:colId xmlns:a16="http://schemas.microsoft.com/office/drawing/2014/main" val="629785218"/>
                    </a:ext>
                  </a:extLst>
                </a:gridCol>
                <a:gridCol w="7345662">
                  <a:extLst>
                    <a:ext uri="{9D8B030D-6E8A-4147-A177-3AD203B41FA5}">
                      <a16:colId xmlns:a16="http://schemas.microsoft.com/office/drawing/2014/main" val="2171669908"/>
                    </a:ext>
                  </a:extLst>
                </a:gridCol>
              </a:tblGrid>
              <a:tr h="387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83645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Use Case </a:t>
                      </a:r>
                      <a:r>
                        <a:rPr lang="ko-KR" altLang="en-US" sz="1200" b="1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5495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사용자가 리뷰를 쓰면 데이터를 활용해 맞춤형 상담사를 추천해주는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14848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사전조건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사용자는 앱에 로그인 상태여야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01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기본흐름</a:t>
                      </a:r>
                      <a:r>
                        <a:rPr lang="en-US" altLang="ko-KR" sz="1200" b="1" dirty="0"/>
                        <a:t>(Basic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사용자가 자신의 상태를 남김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키워드를 판단함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맞춤 상담사를 판별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최종 맞춤 상담사를 사용자에게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1806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대안흐름</a:t>
                      </a:r>
                      <a:r>
                        <a:rPr lang="en-US" altLang="ko-KR" sz="1200" b="1" dirty="0"/>
                        <a:t>(Alternative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A1 : </a:t>
                      </a:r>
                      <a:r>
                        <a:rPr lang="ko-KR" altLang="en-US" sz="1400" dirty="0"/>
                        <a:t>사용자가 복수 키워드 기입 →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공통 상담사 우선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4745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예외흐름</a:t>
                      </a:r>
                      <a:r>
                        <a:rPr lang="en-US" altLang="ko-KR" sz="1200" b="1" dirty="0"/>
                        <a:t>(Exception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E1 : </a:t>
                      </a:r>
                      <a:r>
                        <a:rPr lang="ko-KR" altLang="en-US" sz="1400" dirty="0"/>
                        <a:t>어떤 상태인지 구분하는 키워드를 적지 않음 →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단어의 유사도를 판단해 상담사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47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1-4. TRIP_SMART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61FE6-CE3E-4AAD-ADD4-A4EA90D6860B}"/>
              </a:ext>
            </a:extLst>
          </p:cNvPr>
          <p:cNvSpPr txBox="1"/>
          <p:nvPr/>
        </p:nvSpPr>
        <p:spPr>
          <a:xfrm>
            <a:off x="449450" y="1711205"/>
            <a:ext cx="281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검증 기법 </a:t>
            </a:r>
            <a:r>
              <a:rPr lang="en-US" altLang="ko-KR" b="1" dirty="0">
                <a:solidFill>
                  <a:schemeClr val="bg1"/>
                </a:solidFill>
              </a:rPr>
              <a:t>: </a:t>
            </a:r>
            <a:r>
              <a:rPr lang="ko-KR" altLang="en-US" b="1" dirty="0">
                <a:solidFill>
                  <a:schemeClr val="bg1"/>
                </a:solidFill>
              </a:rPr>
              <a:t>검토</a:t>
            </a:r>
            <a:r>
              <a:rPr lang="en-US" altLang="ko-KR" b="1" dirty="0">
                <a:solidFill>
                  <a:schemeClr val="bg1"/>
                </a:solidFill>
              </a:rPr>
              <a:t>(Review)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CEE5-56F0-44A6-8DF5-F82ABC443930}"/>
              </a:ext>
            </a:extLst>
          </p:cNvPr>
          <p:cNvSpPr txBox="1"/>
          <p:nvPr/>
        </p:nvSpPr>
        <p:spPr>
          <a:xfrm>
            <a:off x="449450" y="2107464"/>
            <a:ext cx="94900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목적 </a:t>
            </a:r>
            <a:r>
              <a:rPr lang="en-US" altLang="ko-KR" sz="1600" dirty="0">
                <a:solidFill>
                  <a:schemeClr val="bg1"/>
                </a:solidFill>
              </a:rPr>
              <a:t>: </a:t>
            </a:r>
            <a:r>
              <a:rPr lang="ko-KR" altLang="en-US" sz="1600" dirty="0">
                <a:solidFill>
                  <a:schemeClr val="bg1"/>
                </a:solidFill>
              </a:rPr>
              <a:t>도출된 요구사항이 이해관계자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장례업체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사용자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데이터 제공자 등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r>
              <a:rPr lang="ko-KR" altLang="en-US" sz="1600" dirty="0">
                <a:solidFill>
                  <a:schemeClr val="bg1"/>
                </a:solidFill>
              </a:rPr>
              <a:t>의 기대와 일치하는지 확인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    </a:t>
            </a:r>
            <a:r>
              <a:rPr lang="en-US" altLang="ko-KR" sz="1600" dirty="0">
                <a:solidFill>
                  <a:srgbClr val="2C3930"/>
                </a:solidFill>
              </a:rPr>
              <a:t>.</a:t>
            </a:r>
            <a:r>
              <a:rPr lang="ko-KR" altLang="en-US" sz="1600" dirty="0">
                <a:solidFill>
                  <a:schemeClr val="bg1"/>
                </a:solidFill>
              </a:rPr>
              <a:t>요구사항의 모호성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누락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충돌 여부를 사전에 점검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73B8EAB-417E-471E-857C-C320ABEA8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05758"/>
              </p:ext>
            </p:extLst>
          </p:nvPr>
        </p:nvGraphicFramePr>
        <p:xfrm>
          <a:off x="874828" y="3640068"/>
          <a:ext cx="4166499" cy="29606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7797">
                  <a:extLst>
                    <a:ext uri="{9D8B030D-6E8A-4147-A177-3AD203B41FA5}">
                      <a16:colId xmlns:a16="http://schemas.microsoft.com/office/drawing/2014/main" val="1990919159"/>
                    </a:ext>
                  </a:extLst>
                </a:gridCol>
                <a:gridCol w="2648702">
                  <a:extLst>
                    <a:ext uri="{9D8B030D-6E8A-4147-A177-3AD203B41FA5}">
                      <a16:colId xmlns:a16="http://schemas.microsoft.com/office/drawing/2014/main" val="761099162"/>
                    </a:ext>
                  </a:extLst>
                </a:gridCol>
              </a:tblGrid>
              <a:tr h="4597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참여자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915089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사용자 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반려인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44244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서비스 제공자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반려동물 장례업체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400" dirty="0"/>
                        <a:t>심리상담업체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1586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데이터 제공자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위치정보 </a:t>
                      </a:r>
                      <a:r>
                        <a:rPr lang="en-US" altLang="ko-KR" sz="1400" dirty="0"/>
                        <a:t>API </a:t>
                      </a:r>
                      <a:r>
                        <a:rPr lang="ko-KR" altLang="en-US" sz="1400" dirty="0"/>
                        <a:t>업체 담당자</a:t>
                      </a:r>
                      <a:r>
                        <a:rPr lang="en-US" altLang="ko-KR" sz="1400" dirty="0"/>
                        <a:t>, </a:t>
                      </a:r>
                    </a:p>
                    <a:p>
                      <a:pPr algn="l" latinLnBrk="1"/>
                      <a:r>
                        <a:rPr lang="ko-KR" altLang="en-US" sz="1400" dirty="0"/>
                        <a:t>심리상담 데이터셋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임시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9981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개발팀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기획자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개발자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QA </a:t>
                      </a:r>
                      <a:r>
                        <a:rPr lang="ko-KR" altLang="en-US" sz="1400" dirty="0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9442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E11948-3BA8-463E-BE89-B1E1DF900938}"/>
              </a:ext>
            </a:extLst>
          </p:cNvPr>
          <p:cNvSpPr txBox="1"/>
          <p:nvPr/>
        </p:nvSpPr>
        <p:spPr>
          <a:xfrm>
            <a:off x="771301" y="3239524"/>
            <a:ext cx="4406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dirty="0">
                <a:solidFill>
                  <a:schemeClr val="bg1"/>
                </a:solidFill>
              </a:rPr>
              <a:t>참여자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C70A3-713C-48A1-A273-5D8D88C4ECA4}"/>
              </a:ext>
            </a:extLst>
          </p:cNvPr>
          <p:cNvSpPr txBox="1"/>
          <p:nvPr/>
        </p:nvSpPr>
        <p:spPr>
          <a:xfrm>
            <a:off x="5832532" y="2884647"/>
            <a:ext cx="5622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dirty="0">
                <a:solidFill>
                  <a:schemeClr val="bg1"/>
                </a:solidFill>
              </a:rPr>
              <a:t>검토항목                                                              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FE7A8FF-A31A-4863-AA25-C69C6840E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37568"/>
              </p:ext>
            </p:extLst>
          </p:nvPr>
        </p:nvGraphicFramePr>
        <p:xfrm>
          <a:off x="5904209" y="3284817"/>
          <a:ext cx="5330640" cy="332979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3021">
                  <a:extLst>
                    <a:ext uri="{9D8B030D-6E8A-4147-A177-3AD203B41FA5}">
                      <a16:colId xmlns:a16="http://schemas.microsoft.com/office/drawing/2014/main" val="3582384445"/>
                    </a:ext>
                  </a:extLst>
                </a:gridCol>
                <a:gridCol w="2858145">
                  <a:extLst>
                    <a:ext uri="{9D8B030D-6E8A-4147-A177-3AD203B41FA5}">
                      <a16:colId xmlns:a16="http://schemas.microsoft.com/office/drawing/2014/main" val="3559744197"/>
                    </a:ext>
                  </a:extLst>
                </a:gridCol>
                <a:gridCol w="959474">
                  <a:extLst>
                    <a:ext uri="{9D8B030D-6E8A-4147-A177-3AD203B41FA5}">
                      <a16:colId xmlns:a16="http://schemas.microsoft.com/office/drawing/2014/main" val="3098319452"/>
                    </a:ext>
                  </a:extLst>
                </a:gridCol>
              </a:tblGrid>
              <a:tr h="572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검토 질문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확인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919869"/>
                  </a:ext>
                </a:extLst>
              </a:tr>
              <a:tr h="678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기능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GPS </a:t>
                      </a:r>
                      <a:r>
                        <a:rPr lang="ko-KR" altLang="en-US" sz="1400" dirty="0"/>
                        <a:t>기반 현재 위치 수집 및 반영 기능이 명확히 정의 되었는가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025025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기능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심리상태별 맞춤 심리상담사 추천이 충분히 구분되는가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199032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비기능</a:t>
                      </a:r>
                      <a:r>
                        <a:rPr lang="ko-KR" altLang="en-US" sz="1400" b="1" dirty="0"/>
                        <a:t>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추천 속도가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초 이내라는 성능 목표가 현실적인가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추가 논의 필요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341077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비기능</a:t>
                      </a:r>
                      <a:r>
                        <a:rPr lang="ko-KR" altLang="en-US" sz="1400" b="1" dirty="0"/>
                        <a:t>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개인정보 암호화 저장 및 전송 방안이 포함되었는가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772932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데이터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리뷰 기반 데이터의 정확성과 수집 주기가 명확한가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추가 검토 필요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40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5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1-4. TRIP_SMART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61FE6-CE3E-4AAD-ADD4-A4EA90D6860B}"/>
              </a:ext>
            </a:extLst>
          </p:cNvPr>
          <p:cNvSpPr txBox="1"/>
          <p:nvPr/>
        </p:nvSpPr>
        <p:spPr>
          <a:xfrm>
            <a:off x="835344" y="2707428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◇ 검토 결과 요약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D0200BF4-649B-452E-8BD6-F3B8CF606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781229"/>
              </p:ext>
            </p:extLst>
          </p:nvPr>
        </p:nvGraphicFramePr>
        <p:xfrm>
          <a:off x="730109" y="3211411"/>
          <a:ext cx="10731779" cy="199836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38666">
                  <a:extLst>
                    <a:ext uri="{9D8B030D-6E8A-4147-A177-3AD203B41FA5}">
                      <a16:colId xmlns:a16="http://schemas.microsoft.com/office/drawing/2014/main" val="4260948705"/>
                    </a:ext>
                  </a:extLst>
                </a:gridCol>
                <a:gridCol w="8393113">
                  <a:extLst>
                    <a:ext uri="{9D8B030D-6E8A-4147-A177-3AD203B41FA5}">
                      <a16:colId xmlns:a16="http://schemas.microsoft.com/office/drawing/2014/main" val="1798110352"/>
                    </a:ext>
                  </a:extLst>
                </a:gridCol>
              </a:tblGrid>
              <a:tr h="416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6288"/>
                  </a:ext>
                </a:extLst>
              </a:tr>
              <a:tr h="582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승인된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사용자 위치 기반 장례업체 추천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사용자 심리상태별 심리상담사 추천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개인정보보안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418449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보완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성능목표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초 이내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검증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데이터 수집 주기 및 정확성 확보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266644"/>
                  </a:ext>
                </a:extLst>
              </a:tr>
              <a:tr h="582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후속 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추가 성능 테스트 계획 수립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데이터 제공자와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SLA(Service Level Agreement)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검토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634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62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 </a:t>
            </a:r>
            <a:r>
              <a:rPr kumimoji="0" lang="en-US" altLang="ko-KR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2-1. </a:t>
            </a:r>
            <a:r>
              <a:rPr kumimoji="0" lang="ko-KR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개념적 설계</a:t>
            </a:r>
            <a:r>
              <a:rPr kumimoji="0" lang="en-US" altLang="ko-KR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(Conceptual) - </a:t>
            </a:r>
            <a:r>
              <a:rPr kumimoji="0" lang="ko-KR" altLang="en-US" sz="36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엔터티</a:t>
            </a:r>
            <a:r>
              <a:rPr kumimoji="0" lang="en-US" altLang="ko-KR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관계 요약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035261"/>
              </p:ext>
            </p:extLst>
          </p:nvPr>
        </p:nvGraphicFramePr>
        <p:xfrm>
          <a:off x="931668" y="1585189"/>
          <a:ext cx="10176396" cy="5098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5458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3658232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223082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299624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31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엔티티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핵심 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6834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User(</a:t>
                      </a:r>
                      <a:r>
                        <a:rPr lang="ko-KR" altLang="en-US" sz="1200" b="1" dirty="0"/>
                        <a:t>사용자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age_group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relation_with_deceased</a:t>
                      </a:r>
                      <a:r>
                        <a:rPr lang="en-US" altLang="ko-KR" sz="1200" dirty="0"/>
                        <a:t>(FAMILY/FRIEND), </a:t>
                      </a:r>
                      <a:r>
                        <a:rPr lang="en-US" altLang="ko-KR" sz="1200" dirty="0" err="1"/>
                        <a:t>signup_channel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UserLocation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1:N → Review,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CounselingSession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PII </a:t>
                      </a:r>
                      <a:r>
                        <a:rPr lang="ko-KR" altLang="en-US" sz="1200" dirty="0"/>
                        <a:t>분리 저장 권장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4843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UserLocation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위치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en-US" altLang="ko-KR" sz="1200" dirty="0" err="1"/>
                        <a:t>accuracy_m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collected_at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이벤트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6231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Facility(</a:t>
                      </a:r>
                      <a:r>
                        <a:rPr lang="ko-KR" altLang="en-US" sz="1200" b="1" dirty="0"/>
                        <a:t>장례식장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납골당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name, type(FUNERAL_HALL/COLUMBARIUM),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, capacity, description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/>
                        <a:t>1:N → Review,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1:N → FacilitySnapshot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</a:t>
                      </a: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및 공공 </a:t>
                      </a:r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5732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FacilitySnapshot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혼잡도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상태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obs_time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crowd_index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available_slots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분 </a:t>
                      </a:r>
                      <a:r>
                        <a:rPr lang="ko-KR" altLang="en-US" sz="1200" dirty="0" err="1"/>
                        <a:t>폴링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580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Review(</a:t>
                      </a:r>
                      <a:r>
                        <a:rPr lang="ko-KR" altLang="en-US" sz="1200" b="1" dirty="0"/>
                        <a:t>리뷰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review_id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source, rating, text, </a:t>
                      </a:r>
                      <a:r>
                        <a:rPr lang="en-US" altLang="ko-KR" sz="1200" dirty="0" err="1"/>
                        <a:t>sentiment_score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reviewed_at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감성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품질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591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Counselor(</a:t>
                      </a:r>
                      <a:r>
                        <a:rPr lang="ko-KR" altLang="en-US" sz="1200" b="1" dirty="0"/>
                        <a:t>상담사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 specialty, </a:t>
                      </a:r>
                      <a:r>
                        <a:rPr lang="en-US" altLang="ko-KR" sz="1200" dirty="0" err="1"/>
                        <a:t>available_time</a:t>
                      </a:r>
                      <a:r>
                        <a:rPr lang="en-US" altLang="ko-KR" sz="1200" dirty="0"/>
                        <a:t>, rating, description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CounselingSession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전문가 </a:t>
                      </a: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  <a:tr h="6199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CounselingSession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상담 세션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context_json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created_at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/>
                        <a:t>N:1 → User,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N:1 → Counselor,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1:N → Recommendation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기록 보관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465030"/>
                  </a:ext>
                </a:extLst>
              </a:tr>
              <a:tr h="591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Recommendation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추천 결과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rec_id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score, </a:t>
                      </a:r>
                      <a:r>
                        <a:rPr lang="en-US" altLang="ko-KR" sz="1200" dirty="0" err="1"/>
                        <a:t>rationale_text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</a:t>
                      </a:r>
                      <a:r>
                        <a:rPr lang="en-US" altLang="ko-KR" sz="1200" dirty="0" err="1"/>
                        <a:t>CounselingSession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N:1 → Counselor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맞춤형 추천 근거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84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32135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      2-2. 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논리적 설계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(Logical) - 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테이블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키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인덱스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자료형 포함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40085"/>
              </p:ext>
            </p:extLst>
          </p:nvPr>
        </p:nvGraphicFramePr>
        <p:xfrm>
          <a:off x="102065" y="1649618"/>
          <a:ext cx="11987868" cy="50687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28015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6202898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783611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1905411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  <a:gridCol w="1767933">
                  <a:extLst>
                    <a:ext uri="{9D8B030D-6E8A-4147-A177-3AD203B41FA5}">
                      <a16:colId xmlns:a16="http://schemas.microsoft.com/office/drawing/2014/main" val="2336383843"/>
                    </a:ext>
                  </a:extLst>
                </a:gridCol>
              </a:tblGrid>
              <a:tr h="235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컬럼 정의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자료형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인덱스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기타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TB_USER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age_group</a:t>
                      </a:r>
                      <a:r>
                        <a:rPr lang="en-US" altLang="ko-KR" sz="1100" dirty="0"/>
                        <a:t> ENUM('20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','30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','40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','50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+'); </a:t>
                      </a:r>
                      <a:r>
                        <a:rPr lang="en-US" altLang="ko-KR" sz="1100" dirty="0" err="1"/>
                        <a:t>relation_with_deceased</a:t>
                      </a:r>
                      <a:r>
                        <a:rPr lang="en-US" altLang="ko-KR" sz="1100" dirty="0"/>
                        <a:t> ENUM('FAMILY','FRIEND'); </a:t>
                      </a:r>
                      <a:r>
                        <a:rPr lang="en-US" altLang="ko-KR" sz="1100" dirty="0" err="1"/>
                        <a:t>signup_channel</a:t>
                      </a:r>
                      <a:r>
                        <a:rPr lang="en-US" altLang="ko-KR" sz="1100" dirty="0"/>
                        <a:t> VARCHAR(30); </a:t>
                      </a:r>
                      <a:r>
                        <a:rPr lang="en-US" altLang="ko-KR" sz="1100" dirty="0" err="1"/>
                        <a:t>created_at</a:t>
                      </a:r>
                      <a:r>
                        <a:rPr lang="en-US" altLang="ko-KR" sz="1100" dirty="0"/>
                        <a:t> DATETIME(3)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TB_USER_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LOCATION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loc_id</a:t>
                      </a:r>
                      <a:r>
                        <a:rPr lang="en-US" altLang="ko-KR" sz="1100" dirty="0"/>
                        <a:t> BIGINT UNSIGNED AUTO_INCREMENT; 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 DECIMAL(9,6);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 DECIMAL(9,6); </a:t>
                      </a:r>
                      <a:r>
                        <a:rPr lang="en-US" altLang="ko-KR" sz="1100" dirty="0" err="1"/>
                        <a:t>accuracy_m</a:t>
                      </a:r>
                      <a:r>
                        <a:rPr lang="en-US" altLang="ko-KR" sz="1100" dirty="0"/>
                        <a:t> FLOAT; </a:t>
                      </a:r>
                      <a:r>
                        <a:rPr lang="en-US" altLang="ko-KR" sz="1100" dirty="0" err="1"/>
                        <a:t>collected_at</a:t>
                      </a:r>
                      <a:r>
                        <a:rPr lang="en-US" altLang="ko-KR" sz="1100" dirty="0"/>
                        <a:t> DATETIME(3)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loc_id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TB_USER.user_id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collected_at</a:t>
                      </a:r>
                      <a:r>
                        <a:rPr lang="en-US" altLang="ko-KR" sz="1100" dirty="0"/>
                        <a:t>), GEO(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TB_FACILITY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VARCHAR(32); name VARCHAR(200); type ENUM('FUNERAL_HALL','COLUMBARIUM'); 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 DECIMAL(9,6);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 DECIMAL(9,6); capacity INT; description TEXT; </a:t>
                      </a:r>
                      <a:r>
                        <a:rPr lang="en-US" altLang="ko-KR" sz="1100" dirty="0" err="1"/>
                        <a:t>updated_at</a:t>
                      </a:r>
                      <a:r>
                        <a:rPr lang="en-US" altLang="ko-KR" sz="1100" dirty="0"/>
                        <a:t> DATETIME(0)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facility_id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GEO(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), IDX(type)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TB_FACILITY_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SNAPSHOT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snapshot_id</a:t>
                      </a:r>
                      <a:r>
                        <a:rPr lang="en-US" altLang="ko-KR" sz="1100" dirty="0"/>
                        <a:t> BIGINT UNSIGNED AUTO_INCREMENT; 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VARCHAR(32) NULL; </a:t>
                      </a:r>
                      <a:r>
                        <a:rPr lang="en-US" altLang="ko-KR" sz="1100" dirty="0" err="1"/>
                        <a:t>obs_time</a:t>
                      </a:r>
                      <a:r>
                        <a:rPr lang="en-US" altLang="ko-KR" sz="1100" dirty="0"/>
                        <a:t> DATETIME(0); </a:t>
                      </a:r>
                      <a:r>
                        <a:rPr lang="en-US" altLang="ko-KR" sz="1100" dirty="0" err="1"/>
                        <a:t>crowd_index</a:t>
                      </a:r>
                      <a:r>
                        <a:rPr lang="en-US" altLang="ko-KR" sz="1100" dirty="0"/>
                        <a:t> DECIMAL(5,2); </a:t>
                      </a:r>
                      <a:r>
                        <a:rPr lang="en-US" altLang="ko-KR" sz="1100" dirty="0" err="1"/>
                        <a:t>available_slots</a:t>
                      </a:r>
                      <a:r>
                        <a:rPr lang="en-US" altLang="ko-KR" sz="1100" dirty="0"/>
                        <a:t> INT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snapshot_id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옵션</a:t>
                      </a:r>
                      <a:r>
                        <a:rPr lang="en-US" altLang="ko-KR" sz="1100" dirty="0"/>
                        <a:t>) 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TB_FACILITY.facility_id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obs_time</a:t>
                      </a:r>
                      <a:r>
                        <a:rPr lang="en-US" altLang="ko-KR" sz="1100" dirty="0"/>
                        <a:t>), IDX(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obs_time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TB_REVIEW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review_id</a:t>
                      </a:r>
                      <a:r>
                        <a:rPr lang="en-US" altLang="ko-KR" sz="1100" dirty="0"/>
                        <a:t> VARCHAR(64); 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VARCHAR(32); source ENUM('DIRECT','NAVER','GOOGLE'); rating DECIMAL(2,1); text </a:t>
                      </a:r>
                      <a:r>
                        <a:rPr lang="en-US" altLang="ko-KR" sz="1100" dirty="0" err="1"/>
                        <a:t>TEXT</a:t>
                      </a:r>
                      <a:r>
                        <a:rPr lang="en-US" altLang="ko-KR" sz="1100" dirty="0"/>
                        <a:t>; </a:t>
                      </a:r>
                      <a:r>
                        <a:rPr lang="en-US" altLang="ko-KR" sz="1100" dirty="0" err="1"/>
                        <a:t>sentiment_score</a:t>
                      </a:r>
                      <a:r>
                        <a:rPr lang="en-US" altLang="ko-KR" sz="1100" dirty="0"/>
                        <a:t> DECIMAL(3,2); </a:t>
                      </a:r>
                      <a:r>
                        <a:rPr lang="en-US" altLang="ko-KR" sz="1100" dirty="0" err="1"/>
                        <a:t>reviewed_at</a:t>
                      </a:r>
                      <a:r>
                        <a:rPr lang="en-US" altLang="ko-KR" sz="1100" dirty="0"/>
                        <a:t> DATETIME(0)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review_id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TB_FACILITY.facility_id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reviewed_at</a:t>
                      </a:r>
                      <a:r>
                        <a:rPr lang="en-US" altLang="ko-KR" sz="1100" dirty="0"/>
                        <a:t>), FULLTEXT(text)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TB_COUNSELOR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BIGINT UNSIGNED AUTO_INCREMENT; specialty VARCHAR(100); </a:t>
                      </a:r>
                      <a:r>
                        <a:rPr lang="en-US" altLang="ko-KR" sz="1100" dirty="0" err="1"/>
                        <a:t>available_time</a:t>
                      </a:r>
                      <a:r>
                        <a:rPr lang="en-US" altLang="ko-KR" sz="1100" dirty="0"/>
                        <a:t> JSON; rating DECIMAL(2,1); description TEXT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counselor_id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IDX(specialty), IDX(rating)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  <a:tr h="778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TB_COUNSELING_SESSION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session_id</a:t>
                      </a:r>
                      <a:r>
                        <a:rPr lang="en-US" altLang="ko-KR" sz="1100" dirty="0"/>
                        <a:t> CHAR(36); 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context_json</a:t>
                      </a:r>
                      <a:r>
                        <a:rPr lang="en-US" altLang="ko-KR" sz="1100" dirty="0"/>
                        <a:t> JSON; </a:t>
                      </a:r>
                      <a:r>
                        <a:rPr lang="en-US" altLang="ko-KR" sz="1100" dirty="0" err="1"/>
                        <a:t>created_at</a:t>
                      </a:r>
                      <a:r>
                        <a:rPr lang="en-US" altLang="ko-KR" sz="1100" dirty="0"/>
                        <a:t> DATETIME(3)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session_id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TB_USER.user_id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TB_COUNSELOR.counselor_id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created_at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465030"/>
                  </a:ext>
                </a:extLst>
              </a:tr>
              <a:tr h="920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TB_RECOMMENDATION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rec_id</a:t>
                      </a:r>
                      <a:r>
                        <a:rPr lang="en-US" altLang="ko-KR" sz="1100" dirty="0"/>
                        <a:t> CHAR(36); </a:t>
                      </a:r>
                      <a:r>
                        <a:rPr lang="en-US" altLang="ko-KR" sz="1100" dirty="0" err="1"/>
                        <a:t>session_id</a:t>
                      </a:r>
                      <a:r>
                        <a:rPr lang="en-US" altLang="ko-KR" sz="1100" dirty="0"/>
                        <a:t> CHAR(36);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BIGINT UNSIGNED; score DECIMAL(3,2); </a:t>
                      </a:r>
                      <a:r>
                        <a:rPr lang="en-US" altLang="ko-KR" sz="1100" dirty="0" err="1"/>
                        <a:t>rationale_text</a:t>
                      </a:r>
                      <a:r>
                        <a:rPr lang="en-US" altLang="ko-KR" sz="1100" dirty="0"/>
                        <a:t> TEXT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rec_id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session_id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TB_COUNSELING_SESSION.session_id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TB_COUNSELOR.counselor_id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365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479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3-1.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후보데이터 수집 방식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/>
        </p:nvGraphicFramePr>
        <p:xfrm>
          <a:off x="997881" y="1843969"/>
          <a:ext cx="10196235" cy="44704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9247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31336828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4338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후보 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경로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활용 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780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내에서 직접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이미지 파일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업로드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작성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간 감정 공유 및 커뮤니티 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552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 사용자 행동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클릭 스트림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페이지에 머문 시간 등 자동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행동 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개인화 추천 알고리즘 학습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이용 행태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711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굿즈 조회</a:t>
                      </a:r>
                      <a:r>
                        <a:rPr lang="en-US" altLang="ko-KR" sz="1200" dirty="0"/>
                        <a:t>, 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＇</a:t>
                      </a:r>
                      <a:r>
                        <a:rPr lang="ko-KR" altLang="en-US" sz="1200" dirty="0"/>
                        <a:t>클릭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’ </a:t>
                      </a:r>
                      <a:r>
                        <a:rPr lang="ko-KR" altLang="en-US" sz="1200" dirty="0"/>
                        <a:t>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인기 굿즈 트렌드 분석 및 상품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65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상담사 리뷰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상담 후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 입력 및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별점 선택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종료 후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비정기적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신뢰도 높은 상담사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추천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품질 개선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6627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회원 기본정보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회원가입 시 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폼</a:t>
                      </a:r>
                      <a:r>
                        <a:rPr lang="en-US" altLang="ko-KR" sz="1200" dirty="0"/>
                        <a:t>(Form) </a:t>
                      </a:r>
                      <a:r>
                        <a:rPr lang="ko-KR" altLang="en-US" sz="1200" dirty="0"/>
                        <a:t>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이용자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통계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675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동물장묘업체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농림축산검역본부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(e-animal.go.kr)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공공데이터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호출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또는 주기적 크롤링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1884</Words>
  <Application>Microsoft Office PowerPoint</Application>
  <PresentationFormat>와이드스크린</PresentationFormat>
  <Paragraphs>351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119</cp:revision>
  <dcterms:created xsi:type="dcterms:W3CDTF">2025-08-05T00:27:28Z</dcterms:created>
  <dcterms:modified xsi:type="dcterms:W3CDTF">2025-09-30T08:24:36Z</dcterms:modified>
</cp:coreProperties>
</file>