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7" r:id="rId3"/>
    <p:sldId id="302" r:id="rId4"/>
    <p:sldId id="318" r:id="rId5"/>
    <p:sldId id="299" r:id="rId6"/>
    <p:sldId id="286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C39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535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61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C2D174-CB32-4F11-B7D5-1A7BA59E4A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9D795AB-E336-45EB-A305-DD9AC46839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B2254FD-84F1-428D-9057-ADAB81B3D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2025-09-30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3BD85F5-ED05-4F59-AE9E-A58CEDA5B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79A623-0C98-4283-9D38-6AB30199D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88108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1DFFC5-38A8-42C2-A273-FAB663237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7E2275-8578-4DB7-9D83-8CCD9E2910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647C62E-4128-4DAC-A65A-27BB07B15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2025-09-30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924C588-E11C-4D94-8F48-301C424F2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81D5DEC-11A5-4320-839E-7F51A3AE9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0296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E59599-3C19-445B-8494-65877CB891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E5B53FD-C5F7-4500-BCF7-72846463F3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E83EE29-7B5A-4A33-A2E2-95C3F6079B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2025-09-30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36DC215-611A-40F3-A9AE-4EE2515F40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F079D90-5960-4F74-B035-C3B1894997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48618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B7EE06-1A7E-4A92-AAD0-9B86B8FF9B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5688597-0625-4374-89CD-44B8845505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525B3D4-AF4B-4AE8-8394-D610318F67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F47BFB0-D7CE-457E-9189-BFF67F8D57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2025-09-30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F705FD7-3D9F-4845-8269-DDACF1416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22645E4-0207-4203-9E82-F7636B0D5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043875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10BA0D-07F6-4D96-BF5B-9436CB1AF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A570F5-018D-444F-B20D-7729D02D8E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81EA175-6F80-498A-B91B-186EB4E9EA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88C8E9D-6863-4906-B550-56942E2D37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351414A-34E4-4E1D-8229-4BAA2EB301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1AA7644-2A06-4E36-80B6-059F982563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2025-09-30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5C1EA36-C08D-410A-BF83-A04F264E6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1CC500D-50CE-43C2-8933-D267B7AE96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41265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3703C0-9ACF-4AAE-9D37-8D18B26C76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7A6BCB5-73A1-4024-82FE-AF51172CB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2025-09-30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FF8ED94-3DD5-42AA-8FF1-38C6499C7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6D23E3A-D959-4203-BD40-C83512760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16076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C8A935A-7442-4F58-8D11-325F1B5C6C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2025-09-30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FFBA2FD-9246-42AD-B56C-E8EA7AE50A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FE6B8E-4A69-4A9B-A9DD-5F0CB7237D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31216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16DA8A-92BC-49DE-A8CF-C983904A36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23E4CE-55E3-4027-A86D-AC29312D7E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63CD0D5-63EF-4021-AF42-9F742E4957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B8D621F-7A35-4AB1-9015-6EE6F3156B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2025-09-30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C5FD7D6-46C4-408F-847C-245D5126F9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96B04C4-A611-43E8-834B-444CAF026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7260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CCDD74F-EF7A-4889-85F7-871326D4A5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E16CC49-48CD-4612-BF78-EBB3B04EE3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087BBA3-126E-40D9-955B-8C8D7877CC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97E777C-8677-437F-9339-DEE00C799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2025-09-30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411FACA-F355-4D90-B353-2AE547D56B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D0C2A7F-AB07-44EB-9EF8-2BEB08E2B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07580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1F0666-4475-4B01-8F4E-B875648A8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97346D4-00C3-47FF-9B09-D4FF35DCC3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E781B1-9EDD-4233-A374-EB535A6E53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2025-09-30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5826D15-4D50-4692-B46D-F882C66EE9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245EE2F-D229-4007-8D9F-7A3820BE1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62924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EF2BF9F-0C81-4E8A-886A-CAEB2C36B61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A505AFD-1AA5-45B8-BD53-DA28197BD7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149204C-AB5D-4CA3-9046-1619B2154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F23D8-EC25-4018-9CD7-C53C9D694542}" type="datetimeFigureOut">
              <a:rPr lang="ko-KR" altLang="en-US" smtClean="0"/>
              <a:t>2025-09-30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FA9E8D-4B61-46A7-A49A-9045BDFD63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DEB5F22-C6F7-44D5-ACE0-6E7A148D0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88414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A488827D-BBE9-423B-8A3E-16F1434F19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B1ACD2B-EAC8-4DAE-80BC-8153D0C808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B87A703-9670-4373-B621-3347DC4D14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5F23D8-EC25-4018-9CD7-C53C9D694542}" type="datetimeFigureOut">
              <a:rPr lang="ko-KR" altLang="en-US" smtClean="0"/>
              <a:t>2025-09-30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C25031C-9617-4CD5-AB16-821A2E9453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2749AC1-BC97-42DC-BBFB-1FF1599E85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3952CE-132A-4246-9EFC-67360164121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8926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09FB2B1-ADA3-4D09-BE1E-5FE440FEFD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07134" y="5409213"/>
            <a:ext cx="2247122" cy="1261535"/>
          </a:xfrm>
        </p:spPr>
        <p:txBody>
          <a:bodyPr>
            <a:noAutofit/>
          </a:bodyPr>
          <a:lstStyle/>
          <a:p>
            <a:pPr marL="0" indent="0" algn="r">
              <a:buNone/>
            </a:pPr>
            <a:r>
              <a:rPr lang="ko-KR" altLang="en-US" sz="1400" b="1" dirty="0">
                <a:solidFill>
                  <a:schemeClr val="bg1"/>
                </a:solidFill>
                <a:latin typeface="+mn-ea"/>
              </a:rPr>
              <a:t>빅데이터</a:t>
            </a:r>
            <a:r>
              <a:rPr lang="en-US" altLang="ko-KR" sz="1400" b="1" dirty="0">
                <a:solidFill>
                  <a:schemeClr val="bg1"/>
                </a:solidFill>
                <a:latin typeface="+mn-ea"/>
              </a:rPr>
              <a:t>UI</a:t>
            </a:r>
            <a:r>
              <a:rPr lang="ko-KR" altLang="en-US" sz="1400" b="1" dirty="0">
                <a:solidFill>
                  <a:schemeClr val="bg1"/>
                </a:solidFill>
                <a:latin typeface="+mn-ea"/>
              </a:rPr>
              <a:t>양성과정</a:t>
            </a:r>
            <a:endParaRPr lang="en-US" altLang="ko-KR" sz="1400" b="1" dirty="0">
              <a:solidFill>
                <a:schemeClr val="bg1"/>
              </a:solidFill>
              <a:latin typeface="+mn-ea"/>
            </a:endParaRPr>
          </a:p>
          <a:p>
            <a:pPr marL="0" indent="0" algn="r">
              <a:buNone/>
            </a:pPr>
            <a:r>
              <a:rPr lang="ko-KR" altLang="en-US" sz="1400" b="1" dirty="0" err="1">
                <a:solidFill>
                  <a:schemeClr val="bg1"/>
                </a:solidFill>
                <a:latin typeface="+mn-ea"/>
              </a:rPr>
              <a:t>손보금</a:t>
            </a:r>
            <a:endParaRPr lang="en-US" altLang="ko-KR" sz="1400" b="1" dirty="0">
              <a:solidFill>
                <a:schemeClr val="bg1"/>
              </a:solidFill>
              <a:latin typeface="+mn-ea"/>
            </a:endParaRPr>
          </a:p>
          <a:p>
            <a:pPr marL="0" indent="0" algn="r">
              <a:buNone/>
            </a:pPr>
            <a:r>
              <a:rPr lang="ko-KR" altLang="en-US" sz="1400" b="1" dirty="0">
                <a:solidFill>
                  <a:schemeClr val="bg1"/>
                </a:solidFill>
                <a:latin typeface="+mn-ea"/>
              </a:rPr>
              <a:t>박준형</a:t>
            </a:r>
            <a:endParaRPr lang="en-US" altLang="ko-KR" sz="1400" b="1" dirty="0">
              <a:solidFill>
                <a:schemeClr val="bg1"/>
              </a:solidFill>
              <a:latin typeface="+mn-ea"/>
            </a:endParaRPr>
          </a:p>
          <a:p>
            <a:pPr marL="0" indent="0" algn="r">
              <a:buNone/>
            </a:pPr>
            <a:r>
              <a:rPr lang="ko-KR" altLang="en-US" sz="1400" b="1" dirty="0">
                <a:solidFill>
                  <a:schemeClr val="bg1"/>
                </a:solidFill>
                <a:latin typeface="+mn-ea"/>
              </a:rPr>
              <a:t>심예진</a:t>
            </a:r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3DA77DD5-F07A-4FA6-8DEA-409A2C5ABB17}"/>
              </a:ext>
            </a:extLst>
          </p:cNvPr>
          <p:cNvSpPr txBox="1">
            <a:spLocks/>
          </p:cNvSpPr>
          <p:nvPr/>
        </p:nvSpPr>
        <p:spPr>
          <a:xfrm>
            <a:off x="982980" y="3100841"/>
            <a:ext cx="10515600" cy="6563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빅데이터 환경분석</a:t>
            </a:r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0892D854-65E9-4161-BD25-B1C960BA7B08}"/>
              </a:ext>
            </a:extLst>
          </p:cNvPr>
          <p:cNvSpPr txBox="1">
            <a:spLocks/>
          </p:cNvSpPr>
          <p:nvPr/>
        </p:nvSpPr>
        <p:spPr>
          <a:xfrm>
            <a:off x="838200" y="2051483"/>
            <a:ext cx="10515600" cy="6563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altLang="ko-KR" sz="5400" dirty="0" err="1">
                <a:solidFill>
                  <a:srgbClr val="2C3930"/>
                </a:solidFill>
              </a:rPr>
              <a:t>astpage</a:t>
            </a:r>
            <a:r>
              <a:rPr lang="en-US" altLang="ko-KR" sz="5400" dirty="0" err="1">
                <a:solidFill>
                  <a:schemeClr val="bg1"/>
                </a:solidFill>
              </a:rPr>
              <a:t>Lastpage</a:t>
            </a:r>
            <a:r>
              <a:rPr lang="en-US" altLang="ko-KR" sz="5400" dirty="0">
                <a:solidFill>
                  <a:schemeClr val="bg1"/>
                </a:solidFill>
              </a:rPr>
              <a:t> Project</a:t>
            </a:r>
            <a:r>
              <a:rPr lang="en-US" altLang="ko-KR" sz="5400" dirty="0">
                <a:solidFill>
                  <a:srgbClr val="2C3930"/>
                </a:solidFill>
              </a:rPr>
              <a:t> </a:t>
            </a:r>
            <a:r>
              <a:rPr lang="en-US" altLang="ko-KR" sz="4800" dirty="0">
                <a:solidFill>
                  <a:srgbClr val="2C3930"/>
                </a:solidFill>
              </a:rPr>
              <a:t>Project</a:t>
            </a:r>
            <a:endParaRPr lang="ko-KR" altLang="en-US" sz="4800" dirty="0">
              <a:solidFill>
                <a:srgbClr val="2C393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C62395-CB82-C6B8-18EC-276CC2A8E7CC}"/>
              </a:ext>
            </a:extLst>
          </p:cNvPr>
          <p:cNvSpPr txBox="1"/>
          <p:nvPr/>
        </p:nvSpPr>
        <p:spPr>
          <a:xfrm>
            <a:off x="-129540" y="4450080"/>
            <a:ext cx="124206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pic>
        <p:nvPicPr>
          <p:cNvPr id="13" name="그림 1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47CCDA8-F2F2-6E33-1693-7115E4B9C6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221163"/>
            <a:ext cx="807629" cy="807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39742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D2E548-C65D-48A7-AF17-BB29D6CB8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1999" cy="1429670"/>
          </a:xfrm>
          <a:solidFill>
            <a:schemeClr val="bg1"/>
          </a:solidFill>
        </p:spPr>
        <p:txBody>
          <a:bodyPr/>
          <a:lstStyle/>
          <a:p>
            <a:pPr algn="ctr"/>
            <a:r>
              <a:rPr lang="en-US" altLang="ko-KR" dirty="0"/>
              <a:t>INDEX </a:t>
            </a:r>
            <a:r>
              <a:rPr lang="ko-KR" altLang="en-US" dirty="0"/>
              <a:t>및 </a:t>
            </a:r>
            <a:r>
              <a:rPr lang="en-US" altLang="ko-KR" dirty="0"/>
              <a:t>CONTENTS</a:t>
            </a:r>
            <a:endParaRPr lang="ko-KR" altLang="en-US" dirty="0"/>
          </a:p>
        </p:txBody>
      </p:sp>
      <p:pic>
        <p:nvPicPr>
          <p:cNvPr id="5" name="그림 4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4B4ED27-7257-EC1F-98C4-E6E38551F9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131" y="236265"/>
            <a:ext cx="815249" cy="81524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EC93E1F-B78C-523A-B7A0-7AA31B32F725}"/>
              </a:ext>
            </a:extLst>
          </p:cNvPr>
          <p:cNvSpPr txBox="1"/>
          <p:nvPr/>
        </p:nvSpPr>
        <p:spPr>
          <a:xfrm>
            <a:off x="11446707" y="6439943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solidFill>
                  <a:schemeClr val="bg1"/>
                </a:solidFill>
              </a:rPr>
              <a:t>1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4EA2501B-6B7D-417C-BE87-5373F6C9C5A5}"/>
              </a:ext>
            </a:extLst>
          </p:cNvPr>
          <p:cNvSpPr txBox="1">
            <a:spLocks/>
          </p:cNvSpPr>
          <p:nvPr/>
        </p:nvSpPr>
        <p:spPr>
          <a:xfrm>
            <a:off x="463405" y="1716269"/>
            <a:ext cx="5327661" cy="230448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AutoNum type="arabicPeriod"/>
            </a:pPr>
            <a:r>
              <a:rPr lang="ko-KR" altLang="en-US" sz="2000" b="1" u="sng" dirty="0" err="1">
                <a:solidFill>
                  <a:schemeClr val="bg1"/>
                </a:solidFill>
                <a:latin typeface="+mj-lt"/>
              </a:rPr>
              <a:t>빅데이터분석</a:t>
            </a:r>
            <a:r>
              <a:rPr lang="ko-KR" altLang="en-US" sz="2000" b="1" u="sng" dirty="0">
                <a:solidFill>
                  <a:schemeClr val="bg1"/>
                </a:solidFill>
                <a:latin typeface="+mj-lt"/>
              </a:rPr>
              <a:t> 요건 정의 </a:t>
            </a:r>
            <a:r>
              <a:rPr lang="en-US" altLang="ko-KR" sz="2000" b="1" u="sng" dirty="0">
                <a:solidFill>
                  <a:schemeClr val="bg1"/>
                </a:solidFill>
                <a:latin typeface="+mj-lt"/>
              </a:rPr>
              <a:t>-</a:t>
            </a:r>
            <a:endParaRPr lang="en-US" altLang="ko-KR" sz="1600" b="1" u="sng" dirty="0">
              <a:solidFill>
                <a:schemeClr val="bg1"/>
              </a:solidFill>
              <a:latin typeface="+mj-lt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500" dirty="0">
                <a:solidFill>
                  <a:schemeClr val="bg1"/>
                </a:solidFill>
                <a:latin typeface="+mj-lt"/>
              </a:rPr>
              <a:t>       - </a:t>
            </a:r>
            <a:r>
              <a:rPr lang="ko-KR" altLang="en-US" sz="1500" dirty="0">
                <a:solidFill>
                  <a:schemeClr val="bg1"/>
                </a:solidFill>
                <a:latin typeface="+mj-lt"/>
              </a:rPr>
              <a:t>기존 요구사항 확인</a:t>
            </a:r>
            <a:endParaRPr lang="en-US" altLang="ko-KR" sz="1500" dirty="0">
              <a:solidFill>
                <a:schemeClr val="bg1"/>
              </a:solidFill>
              <a:latin typeface="+mj-lt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500" dirty="0">
                <a:solidFill>
                  <a:schemeClr val="bg1"/>
                </a:solidFill>
                <a:latin typeface="+mj-lt"/>
              </a:rPr>
              <a:t>       - </a:t>
            </a:r>
            <a:r>
              <a:rPr lang="ko-KR" altLang="en-US" sz="1500" dirty="0">
                <a:solidFill>
                  <a:schemeClr val="bg1"/>
                </a:solidFill>
                <a:latin typeface="+mj-lt"/>
              </a:rPr>
              <a:t>요구사항 명세화</a:t>
            </a:r>
            <a:endParaRPr lang="en-US" altLang="ko-KR" sz="1500" dirty="0">
              <a:solidFill>
                <a:schemeClr val="bg1"/>
              </a:solidFill>
              <a:latin typeface="+mj-lt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500" dirty="0">
                <a:solidFill>
                  <a:schemeClr val="bg1"/>
                </a:solidFill>
                <a:latin typeface="+mj-lt"/>
              </a:rPr>
              <a:t>       - TRIP_SMART Use Case </a:t>
            </a:r>
            <a:r>
              <a:rPr lang="ko-KR" altLang="en-US" sz="1500" dirty="0">
                <a:solidFill>
                  <a:schemeClr val="bg1"/>
                </a:solidFill>
                <a:latin typeface="+mj-lt"/>
              </a:rPr>
              <a:t>명세서</a:t>
            </a:r>
            <a:endParaRPr lang="en-US" altLang="ko-KR" sz="1500" dirty="0">
              <a:solidFill>
                <a:schemeClr val="bg1"/>
              </a:solidFill>
              <a:latin typeface="+mj-lt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500" dirty="0">
                <a:solidFill>
                  <a:schemeClr val="bg1"/>
                </a:solidFill>
                <a:latin typeface="+mj-lt"/>
              </a:rPr>
              <a:t>       - TRIP_SMART </a:t>
            </a:r>
            <a:r>
              <a:rPr lang="ko-KR" altLang="en-US" sz="1500" dirty="0">
                <a:solidFill>
                  <a:schemeClr val="bg1"/>
                </a:solidFill>
                <a:latin typeface="+mj-lt"/>
              </a:rPr>
              <a:t>요구사항 검증 </a:t>
            </a:r>
            <a:r>
              <a:rPr lang="en-US" altLang="ko-KR" sz="1500" dirty="0">
                <a:solidFill>
                  <a:schemeClr val="bg1"/>
                </a:solidFill>
                <a:latin typeface="+mj-lt"/>
              </a:rPr>
              <a:t>: </a:t>
            </a:r>
            <a:r>
              <a:rPr lang="ko-KR" altLang="en-US" sz="1500" dirty="0">
                <a:solidFill>
                  <a:schemeClr val="bg1"/>
                </a:solidFill>
                <a:latin typeface="+mj-lt"/>
              </a:rPr>
              <a:t>검토</a:t>
            </a:r>
            <a:r>
              <a:rPr lang="en-US" altLang="ko-KR" sz="1500" dirty="0">
                <a:solidFill>
                  <a:schemeClr val="bg1"/>
                </a:solidFill>
                <a:latin typeface="+mj-lt"/>
              </a:rPr>
              <a:t>(REVIEW)</a:t>
            </a:r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6CFC6EAA-8325-4486-8D16-3BE392A7BDB4}"/>
              </a:ext>
            </a:extLst>
          </p:cNvPr>
          <p:cNvSpPr txBox="1">
            <a:spLocks/>
          </p:cNvSpPr>
          <p:nvPr/>
        </p:nvSpPr>
        <p:spPr>
          <a:xfrm>
            <a:off x="6398522" y="1716269"/>
            <a:ext cx="5327661" cy="157227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lnSpc>
                <a:spcPct val="150000"/>
              </a:lnSpc>
              <a:buAutoNum type="arabicPeriod" startAt="3"/>
            </a:pPr>
            <a:r>
              <a:rPr lang="ko-KR" altLang="en-US" sz="2000" b="1" u="sng" dirty="0" err="1">
                <a:solidFill>
                  <a:schemeClr val="bg1"/>
                </a:solidFill>
                <a:latin typeface="+mj-lt"/>
              </a:rPr>
              <a:t>빅데이터분석</a:t>
            </a:r>
            <a:r>
              <a:rPr lang="ko-KR" altLang="en-US" sz="2000" b="1" u="sng" dirty="0">
                <a:solidFill>
                  <a:schemeClr val="bg1"/>
                </a:solidFill>
                <a:latin typeface="+mj-lt"/>
              </a:rPr>
              <a:t> 데이터 탐색 기획 </a:t>
            </a:r>
            <a:r>
              <a:rPr lang="en-US" altLang="ko-KR" sz="2000" b="1" u="sng" dirty="0">
                <a:solidFill>
                  <a:schemeClr val="bg1"/>
                </a:solidFill>
                <a:latin typeface="+mj-lt"/>
              </a:rPr>
              <a:t>-</a:t>
            </a:r>
            <a:endParaRPr lang="en-US" altLang="ko-KR" sz="1600" b="1" u="sng" dirty="0">
              <a:solidFill>
                <a:schemeClr val="bg1"/>
              </a:solidFill>
              <a:latin typeface="+mj-lt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500" dirty="0">
                <a:solidFill>
                  <a:schemeClr val="bg1"/>
                </a:solidFill>
                <a:latin typeface="+mj-lt"/>
              </a:rPr>
              <a:t>       - </a:t>
            </a:r>
            <a:r>
              <a:rPr lang="ko-KR" altLang="en-US" sz="1500" dirty="0">
                <a:solidFill>
                  <a:schemeClr val="bg1"/>
                </a:solidFill>
                <a:latin typeface="+mj-lt"/>
              </a:rPr>
              <a:t>데이터 분석 기획</a:t>
            </a:r>
            <a:r>
              <a:rPr lang="en-US" altLang="ko-KR" sz="1500" dirty="0">
                <a:solidFill>
                  <a:schemeClr val="bg1"/>
                </a:solidFill>
                <a:latin typeface="+mj-lt"/>
              </a:rPr>
              <a:t>(</a:t>
            </a:r>
            <a:r>
              <a:rPr lang="ko-KR" altLang="en-US" sz="1500" dirty="0">
                <a:solidFill>
                  <a:schemeClr val="bg1"/>
                </a:solidFill>
                <a:latin typeface="+mj-lt"/>
              </a:rPr>
              <a:t>회귀</a:t>
            </a:r>
            <a:r>
              <a:rPr lang="en-US" altLang="ko-KR" sz="1500" dirty="0">
                <a:solidFill>
                  <a:schemeClr val="bg1"/>
                </a:solidFill>
                <a:latin typeface="+mj-lt"/>
              </a:rPr>
              <a:t>/</a:t>
            </a:r>
            <a:r>
              <a:rPr lang="ko-KR" altLang="en-US" sz="1500" dirty="0">
                <a:solidFill>
                  <a:schemeClr val="bg1"/>
                </a:solidFill>
                <a:latin typeface="+mj-lt"/>
              </a:rPr>
              <a:t>분류 중 하나 선택하기</a:t>
            </a:r>
            <a:r>
              <a:rPr lang="en-US" altLang="ko-KR" sz="1500" dirty="0">
                <a:solidFill>
                  <a:schemeClr val="bg1"/>
                </a:solidFill>
                <a:latin typeface="+mj-lt"/>
              </a:rPr>
              <a:t>!)</a:t>
            </a:r>
          </a:p>
        </p:txBody>
      </p:sp>
      <p:sp>
        <p:nvSpPr>
          <p:cNvPr id="14" name="내용 개체 틀 2">
            <a:extLst>
              <a:ext uri="{FF2B5EF4-FFF2-40B4-BE49-F238E27FC236}">
                <a16:creationId xmlns:a16="http://schemas.microsoft.com/office/drawing/2014/main" id="{D7B18B17-BE04-4BE0-B812-06966B97BD73}"/>
              </a:ext>
            </a:extLst>
          </p:cNvPr>
          <p:cNvSpPr txBox="1">
            <a:spLocks/>
          </p:cNvSpPr>
          <p:nvPr/>
        </p:nvSpPr>
        <p:spPr>
          <a:xfrm>
            <a:off x="463404" y="4157238"/>
            <a:ext cx="5327661" cy="230448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lnSpc>
                <a:spcPct val="150000"/>
              </a:lnSpc>
              <a:buAutoNum type="arabicPeriod" startAt="2"/>
            </a:pPr>
            <a:r>
              <a:rPr lang="ko-KR" altLang="en-US" sz="2000" b="1" u="sng" dirty="0" err="1">
                <a:solidFill>
                  <a:schemeClr val="bg1"/>
                </a:solidFill>
                <a:latin typeface="+mj-lt"/>
              </a:rPr>
              <a:t>빅데이터분석</a:t>
            </a:r>
            <a:r>
              <a:rPr lang="ko-KR" altLang="en-US" sz="2000" b="1" u="sng" dirty="0">
                <a:solidFill>
                  <a:schemeClr val="bg1"/>
                </a:solidFill>
                <a:latin typeface="+mj-lt"/>
              </a:rPr>
              <a:t> 데이터 확보 기획 </a:t>
            </a:r>
            <a:r>
              <a:rPr lang="en-US" altLang="ko-KR" sz="1600" b="1" u="sng" dirty="0">
                <a:solidFill>
                  <a:schemeClr val="bg1"/>
                </a:solidFill>
                <a:latin typeface="+mj-lt"/>
              </a:rPr>
              <a:t>-</a:t>
            </a:r>
            <a:r>
              <a:rPr lang="ko-KR" altLang="en-US" sz="1600" b="1" u="sng" dirty="0">
                <a:solidFill>
                  <a:schemeClr val="bg1"/>
                </a:solidFill>
                <a:latin typeface="+mj-lt"/>
              </a:rPr>
              <a:t> </a:t>
            </a:r>
            <a:endParaRPr lang="en-US" altLang="ko-KR" sz="1600" b="1" u="sng" dirty="0">
              <a:solidFill>
                <a:schemeClr val="bg1"/>
              </a:solidFill>
              <a:latin typeface="+mj-lt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500" dirty="0">
                <a:solidFill>
                  <a:schemeClr val="bg1"/>
                </a:solidFill>
                <a:latin typeface="+mj-lt"/>
              </a:rPr>
              <a:t>       - </a:t>
            </a:r>
            <a:r>
              <a:rPr lang="ko-KR" altLang="en-US" sz="1500" dirty="0">
                <a:solidFill>
                  <a:schemeClr val="bg1"/>
                </a:solidFill>
                <a:latin typeface="+mj-lt"/>
              </a:rPr>
              <a:t>개념적 설계</a:t>
            </a:r>
            <a:r>
              <a:rPr lang="en-US" altLang="ko-KR" sz="1500" dirty="0">
                <a:solidFill>
                  <a:schemeClr val="bg1"/>
                </a:solidFill>
                <a:latin typeface="+mj-lt"/>
              </a:rPr>
              <a:t>(Conceptual) - </a:t>
            </a:r>
            <a:r>
              <a:rPr lang="ko-KR" altLang="en-US" sz="1500" dirty="0" err="1">
                <a:solidFill>
                  <a:schemeClr val="bg1"/>
                </a:solidFill>
                <a:latin typeface="+mj-lt"/>
              </a:rPr>
              <a:t>엔터티</a:t>
            </a:r>
            <a:r>
              <a:rPr lang="en-US" altLang="ko-KR" sz="1500" dirty="0">
                <a:solidFill>
                  <a:schemeClr val="bg1"/>
                </a:solidFill>
                <a:latin typeface="+mj-lt"/>
              </a:rPr>
              <a:t>/</a:t>
            </a:r>
            <a:r>
              <a:rPr lang="ko-KR" altLang="en-US" sz="1500" dirty="0">
                <a:solidFill>
                  <a:schemeClr val="bg1"/>
                </a:solidFill>
                <a:latin typeface="+mj-lt"/>
              </a:rPr>
              <a:t>관계 요약</a:t>
            </a:r>
            <a:br>
              <a:rPr lang="en-US" altLang="ko-KR" sz="1500" dirty="0">
                <a:solidFill>
                  <a:schemeClr val="bg1"/>
                </a:solidFill>
                <a:latin typeface="+mj-lt"/>
              </a:rPr>
            </a:br>
            <a:r>
              <a:rPr lang="en-US" altLang="ko-KR" sz="1500" dirty="0">
                <a:solidFill>
                  <a:schemeClr val="bg1"/>
                </a:solidFill>
                <a:latin typeface="+mj-lt"/>
              </a:rPr>
              <a:t>       - </a:t>
            </a:r>
            <a:r>
              <a:rPr lang="ko-KR" altLang="en-US" sz="1500" dirty="0">
                <a:solidFill>
                  <a:schemeClr val="bg1"/>
                </a:solidFill>
                <a:latin typeface="+mj-lt"/>
              </a:rPr>
              <a:t>논리적 설계</a:t>
            </a:r>
            <a:r>
              <a:rPr lang="en-US" altLang="ko-KR" sz="1500" dirty="0">
                <a:solidFill>
                  <a:schemeClr val="bg1"/>
                </a:solidFill>
                <a:latin typeface="+mj-lt"/>
              </a:rPr>
              <a:t>(Logical) - </a:t>
            </a:r>
            <a:r>
              <a:rPr lang="ko-KR" altLang="en-US" sz="1500" dirty="0">
                <a:solidFill>
                  <a:schemeClr val="bg1"/>
                </a:solidFill>
                <a:latin typeface="+mj-lt"/>
              </a:rPr>
              <a:t>테이블</a:t>
            </a:r>
            <a:r>
              <a:rPr lang="en-US" altLang="ko-KR" sz="1500" dirty="0">
                <a:solidFill>
                  <a:schemeClr val="bg1"/>
                </a:solidFill>
                <a:latin typeface="+mj-lt"/>
              </a:rPr>
              <a:t>/</a:t>
            </a:r>
            <a:r>
              <a:rPr lang="ko-KR" altLang="en-US" sz="1500" dirty="0">
                <a:solidFill>
                  <a:schemeClr val="bg1"/>
                </a:solidFill>
                <a:latin typeface="+mj-lt"/>
              </a:rPr>
              <a:t>키</a:t>
            </a:r>
            <a:r>
              <a:rPr lang="en-US" altLang="ko-KR" sz="1500" dirty="0">
                <a:solidFill>
                  <a:schemeClr val="bg1"/>
                </a:solidFill>
                <a:latin typeface="+mj-lt"/>
              </a:rPr>
              <a:t>/</a:t>
            </a:r>
            <a:r>
              <a:rPr lang="ko-KR" altLang="en-US" sz="1500" dirty="0">
                <a:solidFill>
                  <a:schemeClr val="bg1"/>
                </a:solidFill>
                <a:latin typeface="+mj-lt"/>
              </a:rPr>
              <a:t>인덱스</a:t>
            </a:r>
            <a:r>
              <a:rPr lang="en-US" altLang="ko-KR" sz="1500" dirty="0">
                <a:solidFill>
                  <a:schemeClr val="bg1"/>
                </a:solidFill>
                <a:latin typeface="+mj-lt"/>
              </a:rPr>
              <a:t>(</a:t>
            </a:r>
            <a:r>
              <a:rPr lang="ko-KR" altLang="en-US" sz="1500" dirty="0">
                <a:solidFill>
                  <a:schemeClr val="bg1"/>
                </a:solidFill>
                <a:latin typeface="+mj-lt"/>
              </a:rPr>
              <a:t>자료형 포함</a:t>
            </a:r>
            <a:r>
              <a:rPr lang="en-US" altLang="ko-KR" sz="1500" dirty="0">
                <a:solidFill>
                  <a:schemeClr val="bg1"/>
                </a:solidFill>
                <a:latin typeface="+mj-lt"/>
              </a:rPr>
              <a:t>)</a:t>
            </a:r>
            <a:br>
              <a:rPr lang="en-US" altLang="ko-KR" sz="1500" dirty="0">
                <a:solidFill>
                  <a:schemeClr val="bg1"/>
                </a:solidFill>
                <a:latin typeface="+mj-lt"/>
              </a:rPr>
            </a:br>
            <a:r>
              <a:rPr lang="en-US" altLang="ko-KR" sz="1500" dirty="0">
                <a:solidFill>
                  <a:schemeClr val="bg1"/>
                </a:solidFill>
                <a:latin typeface="+mj-lt"/>
              </a:rPr>
              <a:t>       - </a:t>
            </a:r>
            <a:r>
              <a:rPr lang="ko-KR" altLang="en-US" sz="1500" dirty="0">
                <a:solidFill>
                  <a:schemeClr val="bg1"/>
                </a:solidFill>
                <a:latin typeface="+mj-lt"/>
              </a:rPr>
              <a:t>외부 </a:t>
            </a:r>
            <a:r>
              <a:rPr lang="en-US" altLang="ko-KR" sz="1500" dirty="0">
                <a:solidFill>
                  <a:schemeClr val="bg1"/>
                </a:solidFill>
                <a:latin typeface="+mj-lt"/>
              </a:rPr>
              <a:t>Open API</a:t>
            </a:r>
            <a:br>
              <a:rPr lang="en-US" altLang="ko-KR" sz="1500" dirty="0">
                <a:solidFill>
                  <a:schemeClr val="bg1"/>
                </a:solidFill>
                <a:latin typeface="+mj-lt"/>
              </a:rPr>
            </a:br>
            <a:r>
              <a:rPr lang="en-US" altLang="ko-KR" sz="1500" dirty="0">
                <a:solidFill>
                  <a:schemeClr val="bg1"/>
                </a:solidFill>
                <a:latin typeface="+mj-lt"/>
              </a:rPr>
              <a:t>       - </a:t>
            </a:r>
            <a:r>
              <a:rPr lang="ko-KR" altLang="en-US" sz="1500" dirty="0">
                <a:solidFill>
                  <a:schemeClr val="bg1"/>
                </a:solidFill>
                <a:latin typeface="+mj-lt"/>
              </a:rPr>
              <a:t>내부 수집 </a:t>
            </a:r>
            <a:r>
              <a:rPr lang="en-US" altLang="ko-KR" sz="1500" dirty="0">
                <a:solidFill>
                  <a:schemeClr val="bg1"/>
                </a:solidFill>
                <a:latin typeface="+mj-lt"/>
              </a:rPr>
              <a:t>API</a:t>
            </a:r>
            <a:br>
              <a:rPr lang="en-US" altLang="ko-KR" sz="1500" dirty="0">
                <a:solidFill>
                  <a:schemeClr val="bg1"/>
                </a:solidFill>
                <a:latin typeface="+mj-lt"/>
              </a:rPr>
            </a:br>
            <a:r>
              <a:rPr lang="en-US" altLang="ko-KR" sz="1400" dirty="0">
                <a:solidFill>
                  <a:schemeClr val="bg1"/>
                </a:solidFill>
                <a:latin typeface="+mj-lt"/>
              </a:rPr>
              <a:t>     </a:t>
            </a:r>
          </a:p>
        </p:txBody>
      </p:sp>
      <p:sp>
        <p:nvSpPr>
          <p:cNvPr id="15" name="내용 개체 틀 2">
            <a:extLst>
              <a:ext uri="{FF2B5EF4-FFF2-40B4-BE49-F238E27FC236}">
                <a16:creationId xmlns:a16="http://schemas.microsoft.com/office/drawing/2014/main" id="{17CA8DE4-6BE9-4BE6-AC91-FFD8E1E3EC2D}"/>
              </a:ext>
            </a:extLst>
          </p:cNvPr>
          <p:cNvSpPr txBox="1">
            <a:spLocks/>
          </p:cNvSpPr>
          <p:nvPr/>
        </p:nvSpPr>
        <p:spPr>
          <a:xfrm>
            <a:off x="6398521" y="3492649"/>
            <a:ext cx="5614514" cy="96832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>
              <a:lnSpc>
                <a:spcPct val="150000"/>
              </a:lnSpc>
              <a:buAutoNum type="arabicPeriod" startAt="4"/>
            </a:pPr>
            <a:r>
              <a:rPr lang="ko-KR" altLang="en-US" sz="2000" b="1" u="sng" dirty="0" err="1">
                <a:solidFill>
                  <a:schemeClr val="bg1"/>
                </a:solidFill>
                <a:latin typeface="+mj-lt"/>
              </a:rPr>
              <a:t>빅데이터분석</a:t>
            </a:r>
            <a:r>
              <a:rPr lang="ko-KR" altLang="en-US" sz="2000" b="1" u="sng" dirty="0">
                <a:solidFill>
                  <a:schemeClr val="bg1"/>
                </a:solidFill>
                <a:latin typeface="+mj-lt"/>
              </a:rPr>
              <a:t> 모델링 기획 </a:t>
            </a:r>
            <a:r>
              <a:rPr lang="en-US" altLang="ko-KR" sz="2000" b="1" u="sng" dirty="0">
                <a:solidFill>
                  <a:schemeClr val="bg1"/>
                </a:solidFill>
                <a:latin typeface="+mj-lt"/>
              </a:rPr>
              <a:t>-</a:t>
            </a:r>
            <a:endParaRPr lang="en-US" altLang="ko-KR" sz="1600" b="1" u="sng" dirty="0">
              <a:solidFill>
                <a:schemeClr val="bg1"/>
              </a:solidFill>
              <a:latin typeface="+mj-lt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600" b="1" dirty="0">
                <a:solidFill>
                  <a:schemeClr val="bg1"/>
                </a:solidFill>
                <a:latin typeface="+mj-lt"/>
              </a:rPr>
              <a:t>      </a:t>
            </a:r>
            <a:r>
              <a:rPr lang="en-US" altLang="ko-KR" sz="1500" dirty="0">
                <a:solidFill>
                  <a:schemeClr val="bg1"/>
                </a:solidFill>
                <a:latin typeface="+mj-lt"/>
              </a:rPr>
              <a:t>- </a:t>
            </a:r>
            <a:r>
              <a:rPr lang="ko-KR" altLang="en-US" sz="1500" dirty="0">
                <a:solidFill>
                  <a:schemeClr val="bg1"/>
                </a:solidFill>
                <a:latin typeface="+mj-lt"/>
              </a:rPr>
              <a:t>빅데이터 분석 모델링 기획</a:t>
            </a:r>
            <a:r>
              <a:rPr lang="en-US" altLang="ko-KR" sz="1400" dirty="0">
                <a:solidFill>
                  <a:schemeClr val="bg1"/>
                </a:solidFill>
                <a:latin typeface="+mj-lt"/>
              </a:rPr>
              <a:t>(</a:t>
            </a:r>
            <a:r>
              <a:rPr lang="ko-KR" altLang="en-US" sz="1400" dirty="0">
                <a:solidFill>
                  <a:schemeClr val="bg1"/>
                </a:solidFill>
                <a:latin typeface="+mj-lt"/>
              </a:rPr>
              <a:t>회귀</a:t>
            </a:r>
            <a:r>
              <a:rPr lang="en-US" altLang="ko-KR" sz="1400" dirty="0">
                <a:solidFill>
                  <a:schemeClr val="bg1"/>
                </a:solidFill>
                <a:latin typeface="+mj-lt"/>
              </a:rPr>
              <a:t>/</a:t>
            </a:r>
            <a:r>
              <a:rPr lang="ko-KR" altLang="en-US" sz="1400" dirty="0">
                <a:solidFill>
                  <a:schemeClr val="bg1"/>
                </a:solidFill>
                <a:latin typeface="+mj-lt"/>
              </a:rPr>
              <a:t>분류 중 하나 선택하기</a:t>
            </a:r>
            <a:r>
              <a:rPr lang="en-US" altLang="ko-KR" sz="1400" dirty="0">
                <a:solidFill>
                  <a:schemeClr val="bg1"/>
                </a:solidFill>
                <a:latin typeface="+mj-lt"/>
              </a:rPr>
              <a:t>!)</a:t>
            </a:r>
            <a:br>
              <a:rPr lang="en-US" altLang="ko-KR" sz="1400" dirty="0">
                <a:solidFill>
                  <a:schemeClr val="bg1"/>
                </a:solidFill>
                <a:latin typeface="+mj-lt"/>
              </a:rPr>
            </a:br>
            <a:endParaRPr lang="en-US" altLang="ko-KR" sz="14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41BCE937-8E3D-496A-8190-F3C3CE40A191}"/>
              </a:ext>
            </a:extLst>
          </p:cNvPr>
          <p:cNvSpPr txBox="1">
            <a:spLocks/>
          </p:cNvSpPr>
          <p:nvPr/>
        </p:nvSpPr>
        <p:spPr>
          <a:xfrm>
            <a:off x="6398521" y="4978879"/>
            <a:ext cx="5614514" cy="96832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altLang="ko-KR" sz="2000" b="1" dirty="0">
                <a:solidFill>
                  <a:schemeClr val="bg1"/>
                </a:solidFill>
                <a:latin typeface="+mj-lt"/>
              </a:rPr>
              <a:t>5.   </a:t>
            </a:r>
            <a:r>
              <a:rPr lang="ko-KR" altLang="en-US" sz="2000" b="1" u="sng" dirty="0" err="1">
                <a:solidFill>
                  <a:schemeClr val="bg1"/>
                </a:solidFill>
                <a:latin typeface="+mj-lt"/>
              </a:rPr>
              <a:t>빅데이터분석</a:t>
            </a:r>
            <a:r>
              <a:rPr lang="ko-KR" altLang="en-US" sz="2000" b="1" u="sng" dirty="0">
                <a:solidFill>
                  <a:schemeClr val="bg1"/>
                </a:solidFill>
                <a:latin typeface="+mj-lt"/>
              </a:rPr>
              <a:t> 결과 적용 계획 </a:t>
            </a:r>
            <a:r>
              <a:rPr lang="en-US" altLang="ko-KR" sz="2000" b="1" u="sng" dirty="0">
                <a:solidFill>
                  <a:schemeClr val="bg1"/>
                </a:solidFill>
                <a:latin typeface="+mj-lt"/>
              </a:rPr>
              <a:t>-</a:t>
            </a:r>
            <a:endParaRPr lang="en-US" altLang="ko-KR" sz="1600" b="1" u="sng" dirty="0">
              <a:solidFill>
                <a:schemeClr val="bg1"/>
              </a:solidFill>
              <a:latin typeface="+mj-lt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sz="1600" b="1" dirty="0">
                <a:solidFill>
                  <a:schemeClr val="bg1"/>
                </a:solidFill>
                <a:latin typeface="+mj-lt"/>
              </a:rPr>
              <a:t>      </a:t>
            </a:r>
            <a:r>
              <a:rPr lang="en-US" altLang="ko-KR" sz="1500" dirty="0">
                <a:solidFill>
                  <a:schemeClr val="bg1"/>
                </a:solidFill>
                <a:latin typeface="+mj-lt"/>
              </a:rPr>
              <a:t>- NCS </a:t>
            </a:r>
            <a:r>
              <a:rPr lang="ko-KR" altLang="en-US" sz="1500" dirty="0">
                <a:solidFill>
                  <a:schemeClr val="bg1"/>
                </a:solidFill>
                <a:latin typeface="+mj-lt"/>
              </a:rPr>
              <a:t>빅데이터 분석 기획 보고서</a:t>
            </a:r>
            <a:br>
              <a:rPr lang="en-US" altLang="ko-KR" sz="1400" dirty="0">
                <a:solidFill>
                  <a:schemeClr val="bg1"/>
                </a:solidFill>
                <a:latin typeface="+mj-lt"/>
              </a:rPr>
            </a:br>
            <a:endParaRPr lang="en-US" altLang="ko-KR" sz="1400" dirty="0">
              <a:solidFill>
                <a:schemeClr val="bg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4842745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맑은 고딕" panose="020B0503020000020004" pitchFamily="50" charset="-127"/>
                <a:cs typeface="+mj-cs"/>
              </a:rPr>
              <a:t>1. </a:t>
            </a:r>
            <a:r>
              <a:rPr kumimoji="0" lang="ko-KR" alt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맑은 고딕" panose="020B0503020000020004" pitchFamily="50" charset="-127"/>
                <a:cs typeface="+mj-cs"/>
              </a:rPr>
              <a:t>기존 요구사항 </a:t>
            </a:r>
            <a:r>
              <a:rPr lang="ko-KR" altLang="en-US" dirty="0">
                <a:solidFill>
                  <a:prstClr val="black"/>
                </a:solidFill>
                <a:ea typeface="맑은 고딕" panose="020B0503020000020004" pitchFamily="50" charset="-127"/>
              </a:rPr>
              <a:t>확인</a:t>
            </a:r>
            <a:endParaRPr kumimoji="0" lang="ko-KR" alt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맑은 고딕" panose="020B0503020000020004" pitchFamily="50" charset="-127"/>
              <a:cs typeface="+mj-cs"/>
            </a:endParaRP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7B732A7B-E5FC-C187-1B8B-8F966DF966F8}"/>
              </a:ext>
            </a:extLst>
          </p:cNvPr>
          <p:cNvSpPr txBox="1"/>
          <p:nvPr/>
        </p:nvSpPr>
        <p:spPr>
          <a:xfrm>
            <a:off x="758816" y="769940"/>
            <a:ext cx="11027428" cy="5856475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marL="0" marR="0" lvl="0" indent="0" algn="ctr" defTabSz="609630" rtl="0" eaLnBrk="1" fontAlgn="auto" latinLnBrk="0" hangingPunct="1">
              <a:lnSpc>
                <a:spcPts val="1773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4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aphicFrame>
        <p:nvGraphicFramePr>
          <p:cNvPr id="2" name="표 3">
            <a:extLst>
              <a:ext uri="{FF2B5EF4-FFF2-40B4-BE49-F238E27FC236}">
                <a16:creationId xmlns:a16="http://schemas.microsoft.com/office/drawing/2014/main" id="{CA27A644-DEE2-4622-A8A0-58E81BD447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3693967"/>
              </p:ext>
            </p:extLst>
          </p:nvPr>
        </p:nvGraphicFramePr>
        <p:xfrm>
          <a:off x="991184" y="1601637"/>
          <a:ext cx="10209630" cy="5092771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412453">
                  <a:extLst>
                    <a:ext uri="{9D8B030D-6E8A-4147-A177-3AD203B41FA5}">
                      <a16:colId xmlns:a16="http://schemas.microsoft.com/office/drawing/2014/main" val="1257472940"/>
                    </a:ext>
                  </a:extLst>
                </a:gridCol>
                <a:gridCol w="1512162">
                  <a:extLst>
                    <a:ext uri="{9D8B030D-6E8A-4147-A177-3AD203B41FA5}">
                      <a16:colId xmlns:a16="http://schemas.microsoft.com/office/drawing/2014/main" val="2155757754"/>
                    </a:ext>
                  </a:extLst>
                </a:gridCol>
                <a:gridCol w="5369086">
                  <a:extLst>
                    <a:ext uri="{9D8B030D-6E8A-4147-A177-3AD203B41FA5}">
                      <a16:colId xmlns:a16="http://schemas.microsoft.com/office/drawing/2014/main" val="635701269"/>
                    </a:ext>
                  </a:extLst>
                </a:gridCol>
                <a:gridCol w="1915929">
                  <a:extLst>
                    <a:ext uri="{9D8B030D-6E8A-4147-A177-3AD203B41FA5}">
                      <a16:colId xmlns:a16="http://schemas.microsoft.com/office/drawing/2014/main" val="4193443379"/>
                    </a:ext>
                  </a:extLst>
                </a:gridCol>
              </a:tblGrid>
              <a:tr h="29675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요구</a:t>
                      </a:r>
                      <a:r>
                        <a:rPr lang="en-US" altLang="ko-KR" sz="1400" dirty="0"/>
                        <a:t>ID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유형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요구내용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요청자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68239233"/>
                  </a:ext>
                </a:extLst>
              </a:tr>
              <a:tr h="29675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R-001</a:t>
                      </a:r>
                      <a:endParaRPr lang="ko-KR" altLang="en-US" sz="1200" b="1" dirty="0"/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기능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기반 장례식장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납골당 검색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사용자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4497427"/>
                  </a:ext>
                </a:extLst>
              </a:tr>
              <a:tr h="29675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R-002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보안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사용자의 위치 및 검색 데이터 암호화 저장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개인정보위원회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07342817"/>
                  </a:ext>
                </a:extLst>
              </a:tr>
              <a:tr h="33661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R-003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기능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사용자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반려동물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날짜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시간 정보 입력을</a:t>
                      </a:r>
                      <a:r>
                        <a:rPr lang="en-US" altLang="ko-KR" sz="1200" dirty="0"/>
                        <a:t> </a:t>
                      </a:r>
                      <a:r>
                        <a:rPr lang="ko-KR" altLang="en-US" sz="1200" dirty="0"/>
                        <a:t>포함한 장례 예약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사용자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86920423"/>
                  </a:ext>
                </a:extLst>
              </a:tr>
              <a:tr h="29675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R-004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기능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장례 비용 확인 및 웹 결제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사용자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802924"/>
                  </a:ext>
                </a:extLst>
              </a:tr>
              <a:tr h="29675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R-005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기능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장례 예약 후 조회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수정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취소 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조건부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사용자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50335855"/>
                  </a:ext>
                </a:extLst>
              </a:tr>
              <a:tr h="29675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R-006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성능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예약 조회 시 </a:t>
                      </a:r>
                      <a:r>
                        <a:rPr lang="en-US" altLang="ko-KR" sz="1200" dirty="0"/>
                        <a:t>2</a:t>
                      </a:r>
                      <a:r>
                        <a:rPr lang="ko-KR" altLang="en-US" sz="1200" dirty="0"/>
                        <a:t>초 내 응답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서비스 운영팀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1215436"/>
                  </a:ext>
                </a:extLst>
              </a:tr>
              <a:tr h="29675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R-007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기능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상담사 리스트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사용자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2464408"/>
                  </a:ext>
                </a:extLst>
              </a:tr>
              <a:tr h="29675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R-008</a:t>
                      </a:r>
                      <a:endParaRPr lang="ko-KR" altLang="en-US" sz="1200" b="1" dirty="0"/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추천 알고리즘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사용자 리뷰 데이터 기반 맞춤형 상담사 추천 알고리즘 활용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서비스 운영팀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3711879"/>
                  </a:ext>
                </a:extLst>
              </a:tr>
              <a:tr h="29675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R-009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기능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상담형태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날짜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시간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심리상태 정보를</a:t>
                      </a:r>
                      <a:r>
                        <a:rPr lang="en-US" altLang="ko-KR" sz="1200" dirty="0"/>
                        <a:t> </a:t>
                      </a:r>
                      <a:r>
                        <a:rPr lang="ko-KR" altLang="en-US" sz="1200" dirty="0"/>
                        <a:t>포함한 상담 예약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사용자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8287075"/>
                  </a:ext>
                </a:extLst>
              </a:tr>
              <a:tr h="29675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R-010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기능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상담 비용 확인 및 웹 결제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사용자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91669890"/>
                  </a:ext>
                </a:extLst>
              </a:tr>
              <a:tr h="29675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R-011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기능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상담 예약 후 조회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수정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취소 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조건부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사용자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453992"/>
                  </a:ext>
                </a:extLst>
              </a:tr>
              <a:tr h="29675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R-012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추천 알고리즘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실시간 판매 데이터 분석을 통한 인기 굿즈 트렌드 제공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서비스 운영팀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99941419"/>
                  </a:ext>
                </a:extLst>
              </a:tr>
              <a:tr h="29675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R-013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기능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굿즈 제작 요청 접수 시 업체에 자동 전달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굿즈 제작 업체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6947432"/>
                  </a:ext>
                </a:extLst>
              </a:tr>
              <a:tr h="29675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R-014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분석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통계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예약 통계 리포트 생성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서비스 운영팀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51369163"/>
                  </a:ext>
                </a:extLst>
              </a:tr>
              <a:tr h="29675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R-015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기능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커뮤니티 작성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조회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수정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삭제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사용자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8793557"/>
                  </a:ext>
                </a:extLst>
              </a:tr>
              <a:tr h="296757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1" dirty="0"/>
                        <a:t>R-016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기능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커뮤니티 및 리뷰 신고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악성 게시글 관리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관리자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74800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60632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>
                <a:solidFill>
                  <a:prstClr val="black"/>
                </a:solidFill>
                <a:ea typeface="맑은 고딕" panose="020B0503020000020004" pitchFamily="50" charset="-127"/>
              </a:rPr>
              <a:t>2</a:t>
            </a:r>
            <a:r>
              <a:rPr kumimoji="0" lang="en-US" altLang="ko-KR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맑은 고딕" panose="020B0503020000020004" pitchFamily="50" charset="-127"/>
                <a:cs typeface="+mj-cs"/>
              </a:rPr>
              <a:t>. </a:t>
            </a:r>
            <a:r>
              <a:rPr kumimoji="0" lang="ko-KR" alt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맑은 고딕" panose="020B0503020000020004" pitchFamily="50" charset="-127"/>
                <a:cs typeface="+mj-cs"/>
              </a:rPr>
              <a:t>요구사항 명세화</a:t>
            </a: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4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aphicFrame>
        <p:nvGraphicFramePr>
          <p:cNvPr id="2" name="표 3">
            <a:extLst>
              <a:ext uri="{FF2B5EF4-FFF2-40B4-BE49-F238E27FC236}">
                <a16:creationId xmlns:a16="http://schemas.microsoft.com/office/drawing/2014/main" id="{CA27A644-DEE2-4622-A8A0-58E81BD447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7233225"/>
              </p:ext>
            </p:extLst>
          </p:nvPr>
        </p:nvGraphicFramePr>
        <p:xfrm>
          <a:off x="918811" y="4491573"/>
          <a:ext cx="10209630" cy="5092771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412453">
                  <a:extLst>
                    <a:ext uri="{9D8B030D-6E8A-4147-A177-3AD203B41FA5}">
                      <a16:colId xmlns:a16="http://schemas.microsoft.com/office/drawing/2014/main" val="1257472940"/>
                    </a:ext>
                  </a:extLst>
                </a:gridCol>
                <a:gridCol w="1512162">
                  <a:extLst>
                    <a:ext uri="{9D8B030D-6E8A-4147-A177-3AD203B41FA5}">
                      <a16:colId xmlns:a16="http://schemas.microsoft.com/office/drawing/2014/main" val="2155757754"/>
                    </a:ext>
                  </a:extLst>
                </a:gridCol>
                <a:gridCol w="5369086">
                  <a:extLst>
                    <a:ext uri="{9D8B030D-6E8A-4147-A177-3AD203B41FA5}">
                      <a16:colId xmlns:a16="http://schemas.microsoft.com/office/drawing/2014/main" val="635701269"/>
                    </a:ext>
                  </a:extLst>
                </a:gridCol>
                <a:gridCol w="1915929">
                  <a:extLst>
                    <a:ext uri="{9D8B030D-6E8A-4147-A177-3AD203B41FA5}">
                      <a16:colId xmlns:a16="http://schemas.microsoft.com/office/drawing/2014/main" val="4193443379"/>
                    </a:ext>
                  </a:extLst>
                </a:gridCol>
              </a:tblGrid>
              <a:tr h="29675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요구</a:t>
                      </a:r>
                      <a:r>
                        <a:rPr lang="en-US" altLang="ko-KR" sz="1400" dirty="0"/>
                        <a:t>ID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유형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요구내용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요청자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68239233"/>
                  </a:ext>
                </a:extLst>
              </a:tr>
              <a:tr h="296757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1" dirty="0"/>
                        <a:t>R-001</a:t>
                      </a:r>
                      <a:endParaRPr lang="ko-KR" altLang="en-US" sz="1200" b="1" dirty="0"/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기능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위치 기반 장례식장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납골당 검색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사용자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4497427"/>
                  </a:ext>
                </a:extLst>
              </a:tr>
              <a:tr h="29675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R-002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보안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사용자의 위치 및 검색 데이터 암호화 저장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개인정보위원회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07342817"/>
                  </a:ext>
                </a:extLst>
              </a:tr>
              <a:tr h="33661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R-003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기능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사용자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반려동물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날짜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시간 정보 입력을</a:t>
                      </a:r>
                      <a:r>
                        <a:rPr lang="en-US" altLang="ko-KR" sz="1200" dirty="0"/>
                        <a:t> </a:t>
                      </a:r>
                      <a:r>
                        <a:rPr lang="ko-KR" altLang="en-US" sz="1200" dirty="0"/>
                        <a:t>포함한 장례 예약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사용자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86920423"/>
                  </a:ext>
                </a:extLst>
              </a:tr>
              <a:tr h="29675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R-004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기능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장례 비용 확인 및 웹 결제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사용자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6802924"/>
                  </a:ext>
                </a:extLst>
              </a:tr>
              <a:tr h="29675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R-005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기능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장례 예약 후 조회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수정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취소 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조건부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사용자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50335855"/>
                  </a:ext>
                </a:extLst>
              </a:tr>
              <a:tr h="29675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R-006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성능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예약 조회 시 </a:t>
                      </a:r>
                      <a:r>
                        <a:rPr lang="en-US" altLang="ko-KR" sz="1200" dirty="0"/>
                        <a:t>2</a:t>
                      </a:r>
                      <a:r>
                        <a:rPr lang="ko-KR" altLang="en-US" sz="1200" dirty="0"/>
                        <a:t>초 내 응답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서비스 운영팀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1215436"/>
                  </a:ext>
                </a:extLst>
              </a:tr>
              <a:tr h="29675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R-007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기능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상담사 리스트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사용자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2464408"/>
                  </a:ext>
                </a:extLst>
              </a:tr>
              <a:tr h="29675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R-008</a:t>
                      </a:r>
                      <a:endParaRPr lang="ko-KR" altLang="en-US" sz="1200" b="1" dirty="0"/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추천 알고리즘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사용자 리뷰 데이터 기반 맞춤형 상담사 추천 알고리즘 활용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서비스 운영팀</a:t>
                      </a:r>
                    </a:p>
                  </a:txBody>
                  <a:tcPr anchor="ctr"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3711879"/>
                  </a:ext>
                </a:extLst>
              </a:tr>
              <a:tr h="29675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R-009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기능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상담형태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날짜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시간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심리상태 정보를</a:t>
                      </a:r>
                      <a:r>
                        <a:rPr lang="en-US" altLang="ko-KR" sz="1200" dirty="0"/>
                        <a:t> </a:t>
                      </a:r>
                      <a:r>
                        <a:rPr lang="ko-KR" altLang="en-US" sz="1200" dirty="0"/>
                        <a:t>포함한 상담 예약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사용자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8287075"/>
                  </a:ext>
                </a:extLst>
              </a:tr>
              <a:tr h="29675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R-010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기능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상담 비용 확인 및 웹 결제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사용자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91669890"/>
                  </a:ext>
                </a:extLst>
              </a:tr>
              <a:tr h="29675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R-011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기능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상담 예약 후 조회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수정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취소 </a:t>
                      </a:r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조건부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사용자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453992"/>
                  </a:ext>
                </a:extLst>
              </a:tr>
              <a:tr h="29675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R-012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추천 알고리즘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실시간 판매 데이터 분석을 통한 인기 굿즈 트렌드 제공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서비스 운영팀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99941419"/>
                  </a:ext>
                </a:extLst>
              </a:tr>
              <a:tr h="29675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R-013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기능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굿즈 제작 요청 접수 시 업체에 자동 전달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굿즈 제작 업체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6947432"/>
                  </a:ext>
                </a:extLst>
              </a:tr>
              <a:tr h="29675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R-014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분석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통계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예약 통계 리포트 생성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서비스 운영팀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51369163"/>
                  </a:ext>
                </a:extLst>
              </a:tr>
              <a:tr h="29675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R-015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기능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커뮤니티 작성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조회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수정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삭제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사용자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48793557"/>
                  </a:ext>
                </a:extLst>
              </a:tr>
              <a:tr h="296757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200" b="1" dirty="0"/>
                        <a:t>R-016</a:t>
                      </a:r>
                      <a:endParaRPr lang="ko-KR" altLang="en-US" sz="1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기능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커뮤니티 및 리뷰 신고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악성 게시글 관리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관리자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7480083"/>
                  </a:ext>
                </a:extLst>
              </a:tr>
            </a:tbl>
          </a:graphicData>
        </a:graphic>
      </p:graphicFrame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B02A3B28-6344-4B05-B0FB-ADBA0E22D4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1626180"/>
              </p:ext>
            </p:extLst>
          </p:nvPr>
        </p:nvGraphicFramePr>
        <p:xfrm>
          <a:off x="1892514" y="2984602"/>
          <a:ext cx="8128000" cy="111252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407202">
                  <a:extLst>
                    <a:ext uri="{9D8B030D-6E8A-4147-A177-3AD203B41FA5}">
                      <a16:colId xmlns:a16="http://schemas.microsoft.com/office/drawing/2014/main" val="3822811726"/>
                    </a:ext>
                  </a:extLst>
                </a:gridCol>
                <a:gridCol w="2315361">
                  <a:extLst>
                    <a:ext uri="{9D8B030D-6E8A-4147-A177-3AD203B41FA5}">
                      <a16:colId xmlns:a16="http://schemas.microsoft.com/office/drawing/2014/main" val="1040827934"/>
                    </a:ext>
                  </a:extLst>
                </a:gridCol>
                <a:gridCol w="1065402">
                  <a:extLst>
                    <a:ext uri="{9D8B030D-6E8A-4147-A177-3AD203B41FA5}">
                      <a16:colId xmlns:a16="http://schemas.microsoft.com/office/drawing/2014/main" val="1360107011"/>
                    </a:ext>
                  </a:extLst>
                </a:gridCol>
                <a:gridCol w="1714435">
                  <a:extLst>
                    <a:ext uri="{9D8B030D-6E8A-4147-A177-3AD203B41FA5}">
                      <a16:colId xmlns:a16="http://schemas.microsoft.com/office/drawing/2014/main" val="188568638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4609588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요구사항 </a:t>
                      </a:r>
                      <a:r>
                        <a:rPr lang="en-US" altLang="ko-KR" sz="1400" dirty="0"/>
                        <a:t>ID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요구사항 설명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우선순위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입력데이터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출력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084445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b="1" dirty="0"/>
                        <a:t>RQ-01</a:t>
                      </a:r>
                      <a:endParaRPr lang="ko-KR" altLang="en-US" sz="1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077939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b="1" dirty="0"/>
                        <a:t>RQ-02</a:t>
                      </a:r>
                      <a:endParaRPr lang="ko-KR" altLang="en-US" sz="1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708358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42860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7136B-A6BB-1D81-FAFA-C79B68861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>
            <a:extLst>
              <a:ext uri="{FF2B5EF4-FFF2-40B4-BE49-F238E27FC236}">
                <a16:creationId xmlns:a16="http://schemas.microsoft.com/office/drawing/2014/main" id="{65E78ADC-476A-9454-1FF3-4C2A7C014EC9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1999" cy="145388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302020204030204"/>
                <a:ea typeface="맑은 고딕" panose="020B0503020000020004" pitchFamily="50" charset="-127"/>
                <a:cs typeface="+mj-cs"/>
              </a:rPr>
              <a:t>3-1. </a:t>
            </a:r>
            <a:r>
              <a:rPr kumimoji="0" lang="ko-KR" altLang="en-US" sz="4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302020204030204"/>
                <a:ea typeface="맑은 고딕" panose="020B0503020000020004" pitchFamily="50" charset="-127"/>
                <a:cs typeface="+mj-cs"/>
              </a:rPr>
              <a:t>후보데이터 수집 방식</a:t>
            </a:r>
          </a:p>
        </p:txBody>
      </p:sp>
      <p:pic>
        <p:nvPicPr>
          <p:cNvPr id="3" name="그림 2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F55BD1-195D-E2CC-A2C8-8DB3D9357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319316"/>
            <a:ext cx="815249" cy="815249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7B732A7B-E5FC-C187-1B8B-8F966DF966F8}"/>
              </a:ext>
            </a:extLst>
          </p:cNvPr>
          <p:cNvSpPr txBox="1"/>
          <p:nvPr/>
        </p:nvSpPr>
        <p:spPr>
          <a:xfrm>
            <a:off x="758816" y="769940"/>
            <a:ext cx="11027428" cy="5856475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marL="0" marR="0" lvl="0" indent="0" algn="ctr" defTabSz="609630" rtl="0" eaLnBrk="1" fontAlgn="auto" latinLnBrk="0" hangingPunct="1">
              <a:lnSpc>
                <a:spcPts val="1773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TextBox 7">
            <a:extLst>
              <a:ext uri="{FF2B5EF4-FFF2-40B4-BE49-F238E27FC236}">
                <a16:creationId xmlns:a16="http://schemas.microsoft.com/office/drawing/2014/main" id="{5E0C4AB9-2DF5-838A-7831-101C28958028}"/>
              </a:ext>
            </a:extLst>
          </p:cNvPr>
          <p:cNvSpPr txBox="1"/>
          <p:nvPr/>
        </p:nvSpPr>
        <p:spPr>
          <a:xfrm>
            <a:off x="582388" y="925402"/>
            <a:ext cx="11027428" cy="5856476"/>
          </a:xfrm>
          <a:prstGeom prst="rect">
            <a:avLst/>
          </a:prstGeom>
        </p:spPr>
        <p:txBody>
          <a:bodyPr lIns="33867" tIns="33867" rIns="33867" bIns="33867" rtlCol="0" anchor="ctr"/>
          <a:lstStyle/>
          <a:p>
            <a:pPr marL="0" marR="0" lvl="0" indent="0" algn="ctr" defTabSz="609630" rtl="0" eaLnBrk="1" fontAlgn="auto" latinLnBrk="0" hangingPunct="1">
              <a:lnSpc>
                <a:spcPts val="1773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081CC60-FAA6-4FCF-900D-7F243F1B55D5}"/>
              </a:ext>
            </a:extLst>
          </p:cNvPr>
          <p:cNvSpPr txBox="1"/>
          <p:nvPr/>
        </p:nvSpPr>
        <p:spPr>
          <a:xfrm>
            <a:off x="11513819" y="6389609"/>
            <a:ext cx="678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>
                <a:solidFill>
                  <a:prstClr val="white"/>
                </a:solidFill>
                <a:latin typeface="맑은 고딕" panose="020F0502020204030204"/>
                <a:ea typeface="맑은 고딕" panose="020B0503020000020004" pitchFamily="50" charset="-127"/>
              </a:rPr>
              <a:t>14</a:t>
            </a:r>
            <a:endParaRPr kumimoji="0" lang="ko-KR" alt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aphicFrame>
        <p:nvGraphicFramePr>
          <p:cNvPr id="9" name="표 3">
            <a:extLst>
              <a:ext uri="{FF2B5EF4-FFF2-40B4-BE49-F238E27FC236}">
                <a16:creationId xmlns:a16="http://schemas.microsoft.com/office/drawing/2014/main" id="{E84066DC-8077-44E9-A546-FC0D8217CCD5}"/>
              </a:ext>
            </a:extLst>
          </p:cNvPr>
          <p:cNvGraphicFramePr>
            <a:graphicFrameLocks noGrp="1"/>
          </p:cNvGraphicFramePr>
          <p:nvPr/>
        </p:nvGraphicFramePr>
        <p:xfrm>
          <a:off x="997881" y="1843969"/>
          <a:ext cx="10196235" cy="4470453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039247">
                  <a:extLst>
                    <a:ext uri="{9D8B030D-6E8A-4147-A177-3AD203B41FA5}">
                      <a16:colId xmlns:a16="http://schemas.microsoft.com/office/drawing/2014/main" val="1344673237"/>
                    </a:ext>
                  </a:extLst>
                </a:gridCol>
                <a:gridCol w="2039247">
                  <a:extLst>
                    <a:ext uri="{9D8B030D-6E8A-4147-A177-3AD203B41FA5}">
                      <a16:colId xmlns:a16="http://schemas.microsoft.com/office/drawing/2014/main" val="3313368287"/>
                    </a:ext>
                  </a:extLst>
                </a:gridCol>
                <a:gridCol w="2039247">
                  <a:extLst>
                    <a:ext uri="{9D8B030D-6E8A-4147-A177-3AD203B41FA5}">
                      <a16:colId xmlns:a16="http://schemas.microsoft.com/office/drawing/2014/main" val="749706230"/>
                    </a:ext>
                  </a:extLst>
                </a:gridCol>
                <a:gridCol w="2039247">
                  <a:extLst>
                    <a:ext uri="{9D8B030D-6E8A-4147-A177-3AD203B41FA5}">
                      <a16:colId xmlns:a16="http://schemas.microsoft.com/office/drawing/2014/main" val="3584374462"/>
                    </a:ext>
                  </a:extLst>
                </a:gridCol>
                <a:gridCol w="2039247">
                  <a:extLst>
                    <a:ext uri="{9D8B030D-6E8A-4147-A177-3AD203B41FA5}">
                      <a16:colId xmlns:a16="http://schemas.microsoft.com/office/drawing/2014/main" val="2594297005"/>
                    </a:ext>
                  </a:extLst>
                </a:gridCol>
              </a:tblGrid>
              <a:tr h="43386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후보 데이터 항목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수집 경로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수집 방식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수집 주기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활용 목적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3738384"/>
                  </a:ext>
                </a:extLst>
              </a:tr>
              <a:tr h="78017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커뮤니티 게시글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사용자가 앱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웹 내에서 직접 작성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텍스트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이미지 파일</a:t>
                      </a:r>
                      <a:endParaRPr lang="en-US" altLang="ko-KR" sz="1200" dirty="0"/>
                    </a:p>
                    <a:p>
                      <a:pPr algn="ctr" latinLnBrk="1"/>
                      <a:r>
                        <a:rPr lang="ko-KR" altLang="en-US" sz="1200" dirty="0"/>
                        <a:t>업로드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게시글 작성 시</a:t>
                      </a:r>
                      <a:endParaRPr lang="en-US" altLang="ko-KR" sz="1200" dirty="0"/>
                    </a:p>
                    <a:p>
                      <a:pPr algn="ctr" latinLnBrk="1"/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실시간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사용자 간 감정 공유 및 커뮤니티 활성화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3611901"/>
                  </a:ext>
                </a:extLst>
              </a:tr>
              <a:tr h="55286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사용자 활동 로그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앱</a:t>
                      </a:r>
                      <a:r>
                        <a:rPr lang="en-US" altLang="ko-KR" sz="1200" dirty="0"/>
                        <a:t>/</a:t>
                      </a:r>
                      <a:r>
                        <a:rPr lang="ko-KR" altLang="en-US" sz="1200" dirty="0"/>
                        <a:t>웹 내 사용자 행동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클릭 스트림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페이지에 머문 시간 등 자동 수집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사용자 행동 발생 시</a:t>
                      </a:r>
                      <a:endParaRPr lang="en-US" altLang="ko-KR" sz="1200" dirty="0"/>
                    </a:p>
                    <a:p>
                      <a:pPr algn="ctr" latinLnBrk="1"/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실시간</a:t>
                      </a:r>
                      <a:r>
                        <a:rPr lang="en-US" altLang="ko-KR" sz="1200" dirty="0"/>
                        <a:t>) 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개인화 추천 알고리즘 학습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서비스 이용 행태 분석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20780334"/>
                  </a:ext>
                </a:extLst>
              </a:tr>
              <a:tr h="71138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굿즈 선호도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사용자의 굿즈 조회</a:t>
                      </a:r>
                      <a:r>
                        <a:rPr lang="en-US" altLang="ko-KR" sz="1200" dirty="0"/>
                        <a:t>, ‘</a:t>
                      </a:r>
                      <a:r>
                        <a:rPr lang="ko-KR" altLang="en-US" sz="1200" dirty="0"/>
                        <a:t>좋아요</a:t>
                      </a:r>
                      <a:r>
                        <a:rPr lang="en-US" altLang="ko-KR" sz="1200" dirty="0"/>
                        <a:t>＇</a:t>
                      </a:r>
                      <a:r>
                        <a:rPr lang="ko-KR" altLang="en-US" sz="1200" dirty="0"/>
                        <a:t>클릭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로그 수집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‘</a:t>
                      </a:r>
                      <a:r>
                        <a:rPr lang="ko-KR" altLang="en-US" sz="1200" dirty="0"/>
                        <a:t>좋아요</a:t>
                      </a:r>
                      <a:r>
                        <a:rPr lang="en-US" altLang="ko-KR" sz="1200" dirty="0"/>
                        <a:t>’ </a:t>
                      </a:r>
                      <a:r>
                        <a:rPr lang="ko-KR" altLang="en-US" sz="1200" dirty="0"/>
                        <a:t>발생 시</a:t>
                      </a:r>
                      <a:endParaRPr lang="en-US" altLang="ko-KR" sz="1200" dirty="0"/>
                    </a:p>
                    <a:p>
                      <a:pPr algn="ctr" latinLnBrk="1"/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실시간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인기 굿즈 트렌드 분석 및 상품 추천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54855080"/>
                  </a:ext>
                </a:extLst>
              </a:tr>
              <a:tr h="65434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상담사 리뷰</a:t>
                      </a:r>
                      <a:r>
                        <a:rPr lang="en-US" altLang="ko-KR" sz="1200" b="1" dirty="0"/>
                        <a:t>/</a:t>
                      </a:r>
                      <a:r>
                        <a:rPr lang="ko-KR" altLang="en-US" sz="1200" b="1" dirty="0"/>
                        <a:t>평점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사용자가 상담 후 </a:t>
                      </a:r>
                      <a:endParaRPr lang="en-US" altLang="ko-KR" sz="1200" dirty="0"/>
                    </a:p>
                    <a:p>
                      <a:pPr algn="ctr" latinLnBrk="1"/>
                      <a:r>
                        <a:rPr lang="ko-KR" altLang="en-US" sz="1200" dirty="0"/>
                        <a:t>직접 입력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텍스트 입력 및</a:t>
                      </a:r>
                      <a:endParaRPr lang="en-US" altLang="ko-KR" sz="1200" dirty="0"/>
                    </a:p>
                    <a:p>
                      <a:pPr algn="ctr" latinLnBrk="1"/>
                      <a:r>
                        <a:rPr lang="ko-KR" altLang="en-US" sz="1200" dirty="0"/>
                        <a:t>별점 선택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상담 종료 후</a:t>
                      </a:r>
                      <a:endParaRPr lang="en-US" altLang="ko-KR" sz="1200" dirty="0"/>
                    </a:p>
                    <a:p>
                      <a:pPr algn="ctr" latinLnBrk="1"/>
                      <a:r>
                        <a:rPr lang="en-US" altLang="ko-KR" sz="1200" dirty="0"/>
                        <a:t>(</a:t>
                      </a:r>
                      <a:r>
                        <a:rPr lang="ko-KR" altLang="en-US" sz="1200" dirty="0"/>
                        <a:t>비정기적</a:t>
                      </a:r>
                      <a:r>
                        <a:rPr lang="en-US" altLang="ko-KR" sz="1200" dirty="0"/>
                        <a:t>)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신뢰도 높은 상담사 </a:t>
                      </a:r>
                      <a:endParaRPr lang="en-US" altLang="ko-KR" sz="1200" dirty="0"/>
                    </a:p>
                    <a:p>
                      <a:pPr algn="ctr" latinLnBrk="1"/>
                      <a:r>
                        <a:rPr lang="ko-KR" altLang="en-US" sz="1200" dirty="0"/>
                        <a:t>추천</a:t>
                      </a:r>
                      <a:r>
                        <a:rPr lang="en-US" altLang="ko-KR" sz="1200" dirty="0"/>
                        <a:t>, </a:t>
                      </a:r>
                      <a:r>
                        <a:rPr lang="ko-KR" altLang="en-US" sz="1200" dirty="0"/>
                        <a:t>서비스 품질 개선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72183419"/>
                  </a:ext>
                </a:extLst>
              </a:tr>
              <a:tr h="66273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회원 기본정보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사용자가 회원가입 시 직접 입력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폼</a:t>
                      </a:r>
                      <a:r>
                        <a:rPr lang="en-US" altLang="ko-KR" sz="1200" dirty="0"/>
                        <a:t>(Form) </a:t>
                      </a:r>
                      <a:r>
                        <a:rPr lang="ko-KR" altLang="en-US" sz="1200" dirty="0"/>
                        <a:t>입력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회원가입 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서비스 이용자 </a:t>
                      </a:r>
                      <a:endParaRPr lang="en-US" altLang="ko-KR" sz="1200" dirty="0"/>
                    </a:p>
                    <a:p>
                      <a:pPr algn="ctr" latinLnBrk="1"/>
                      <a:r>
                        <a:rPr lang="ko-KR" altLang="en-US" sz="1200" dirty="0"/>
                        <a:t>통계 분석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06644808"/>
                  </a:ext>
                </a:extLst>
              </a:tr>
              <a:tr h="67508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dirty="0"/>
                        <a:t>동물장묘업체 정보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농림축산검역본부</a:t>
                      </a:r>
                      <a:endParaRPr lang="en-US" altLang="ko-KR" sz="1200" dirty="0"/>
                    </a:p>
                    <a:p>
                      <a:pPr algn="ctr" latinLnBrk="1"/>
                      <a:r>
                        <a:rPr lang="en-US" altLang="ko-KR" sz="1200" dirty="0"/>
                        <a:t>(e-animal.go.kr)</a:t>
                      </a:r>
                      <a:endParaRPr lang="ko-KR" alt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공공데이터 </a:t>
                      </a:r>
                      <a:r>
                        <a:rPr lang="en-US" altLang="ko-KR" sz="1200" dirty="0"/>
                        <a:t>API</a:t>
                      </a:r>
                      <a:r>
                        <a:rPr lang="ko-KR" altLang="en-US" sz="1200" dirty="0"/>
                        <a:t>호출 </a:t>
                      </a:r>
                      <a:endParaRPr lang="en-US" altLang="ko-KR" sz="1200" dirty="0"/>
                    </a:p>
                    <a:p>
                      <a:pPr algn="ctr" latinLnBrk="1"/>
                      <a:r>
                        <a:rPr lang="ko-KR" altLang="en-US" sz="1200" dirty="0"/>
                        <a:t>또는 주기적 크롤링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월 </a:t>
                      </a:r>
                      <a:r>
                        <a:rPr lang="en-US" altLang="ko-KR" sz="1200" dirty="0"/>
                        <a:t>1</a:t>
                      </a:r>
                      <a:r>
                        <a:rPr lang="ko-KR" altLang="en-US" sz="1200" dirty="0"/>
                        <a:t>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장례 서비스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865829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330959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C393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9EDF5F-EEC7-7330-11DA-82489AF659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FB105F9C-5F0F-C98D-C444-7E79C05C12A2}"/>
              </a:ext>
            </a:extLst>
          </p:cNvPr>
          <p:cNvSpPr txBox="1">
            <a:spLocks/>
          </p:cNvSpPr>
          <p:nvPr/>
        </p:nvSpPr>
        <p:spPr>
          <a:xfrm>
            <a:off x="982980" y="3100841"/>
            <a:ext cx="10515600" cy="6563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sz="4400" dirty="0">
                <a:solidFill>
                  <a:schemeClr val="bg1"/>
                </a:solidFill>
              </a:rPr>
              <a:t>감사합니다</a:t>
            </a:r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254065CC-BAF2-2646-6DC9-CCA2AC58DAD8}"/>
              </a:ext>
            </a:extLst>
          </p:cNvPr>
          <p:cNvSpPr txBox="1">
            <a:spLocks/>
          </p:cNvSpPr>
          <p:nvPr/>
        </p:nvSpPr>
        <p:spPr>
          <a:xfrm>
            <a:off x="838200" y="2051483"/>
            <a:ext cx="10515600" cy="65631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altLang="ko-KR" sz="5400" dirty="0" err="1">
                <a:solidFill>
                  <a:srgbClr val="2C3930"/>
                </a:solidFill>
              </a:rPr>
              <a:t>astpage</a:t>
            </a:r>
            <a:r>
              <a:rPr lang="en-US" altLang="ko-KR" sz="5400" dirty="0" err="1">
                <a:solidFill>
                  <a:schemeClr val="bg1"/>
                </a:solidFill>
              </a:rPr>
              <a:t>Lastpage</a:t>
            </a:r>
            <a:r>
              <a:rPr lang="en-US" altLang="ko-KR" sz="5400" dirty="0">
                <a:solidFill>
                  <a:schemeClr val="bg1"/>
                </a:solidFill>
              </a:rPr>
              <a:t> Project</a:t>
            </a:r>
            <a:r>
              <a:rPr lang="en-US" altLang="ko-KR" sz="5400" dirty="0">
                <a:solidFill>
                  <a:srgbClr val="2C3930"/>
                </a:solidFill>
              </a:rPr>
              <a:t> </a:t>
            </a:r>
            <a:r>
              <a:rPr lang="en-US" altLang="ko-KR" sz="4800" dirty="0">
                <a:solidFill>
                  <a:srgbClr val="2C3930"/>
                </a:solidFill>
              </a:rPr>
              <a:t>Project</a:t>
            </a:r>
            <a:endParaRPr lang="ko-KR" altLang="en-US" sz="4800" dirty="0">
              <a:solidFill>
                <a:srgbClr val="2C3930"/>
              </a:solidFill>
            </a:endParaRPr>
          </a:p>
        </p:txBody>
      </p:sp>
      <p:pic>
        <p:nvPicPr>
          <p:cNvPr id="9" name="그림 8" descr="일러스트레이션, 선그림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31E723E-4DFB-CCF9-FB66-49713820EF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511" y="221163"/>
            <a:ext cx="807629" cy="80762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A8FCE66-B67E-3DCC-EDC0-BF93D04DBEEA}"/>
              </a:ext>
            </a:extLst>
          </p:cNvPr>
          <p:cNvSpPr txBox="1"/>
          <p:nvPr/>
        </p:nvSpPr>
        <p:spPr>
          <a:xfrm>
            <a:off x="-129540" y="4450080"/>
            <a:ext cx="124206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188F3796-C2DD-4B3B-A779-04A4DEF6B8AF}"/>
              </a:ext>
            </a:extLst>
          </p:cNvPr>
          <p:cNvSpPr txBox="1">
            <a:spLocks/>
          </p:cNvSpPr>
          <p:nvPr/>
        </p:nvSpPr>
        <p:spPr>
          <a:xfrm>
            <a:off x="9707134" y="5409213"/>
            <a:ext cx="2247122" cy="126153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Font typeface="Arial" panose="020B0604020202020204" pitchFamily="34" charset="0"/>
              <a:buNone/>
            </a:pPr>
            <a:r>
              <a:rPr lang="ko-KR" altLang="en-US" sz="1400" b="1">
                <a:solidFill>
                  <a:schemeClr val="bg1"/>
                </a:solidFill>
                <a:latin typeface="+mn-ea"/>
              </a:rPr>
              <a:t>빅데이터</a:t>
            </a:r>
            <a:r>
              <a:rPr lang="en-US" altLang="ko-KR" sz="1400" b="1">
                <a:solidFill>
                  <a:schemeClr val="bg1"/>
                </a:solidFill>
                <a:latin typeface="+mn-ea"/>
              </a:rPr>
              <a:t>UI</a:t>
            </a:r>
            <a:r>
              <a:rPr lang="ko-KR" altLang="en-US" sz="1400" b="1">
                <a:solidFill>
                  <a:schemeClr val="bg1"/>
                </a:solidFill>
                <a:latin typeface="+mn-ea"/>
              </a:rPr>
              <a:t>양성과정</a:t>
            </a:r>
            <a:endParaRPr lang="en-US" altLang="ko-KR" sz="1400" b="1">
              <a:solidFill>
                <a:schemeClr val="bg1"/>
              </a:solidFill>
              <a:latin typeface="+mn-ea"/>
            </a:endParaRPr>
          </a:p>
          <a:p>
            <a:pPr marL="0" indent="0" algn="r">
              <a:buFont typeface="Arial" panose="020B0604020202020204" pitchFamily="34" charset="0"/>
              <a:buNone/>
            </a:pPr>
            <a:r>
              <a:rPr lang="ko-KR" altLang="en-US" sz="1400" b="1">
                <a:solidFill>
                  <a:schemeClr val="bg1"/>
                </a:solidFill>
                <a:latin typeface="+mn-ea"/>
              </a:rPr>
              <a:t>손보금</a:t>
            </a:r>
            <a:endParaRPr lang="en-US" altLang="ko-KR" sz="1400" b="1">
              <a:solidFill>
                <a:schemeClr val="bg1"/>
              </a:solidFill>
              <a:latin typeface="+mn-ea"/>
            </a:endParaRPr>
          </a:p>
          <a:p>
            <a:pPr marL="0" indent="0" algn="r">
              <a:buFont typeface="Arial" panose="020B0604020202020204" pitchFamily="34" charset="0"/>
              <a:buNone/>
            </a:pPr>
            <a:r>
              <a:rPr lang="ko-KR" altLang="en-US" sz="1400" b="1">
                <a:solidFill>
                  <a:schemeClr val="bg1"/>
                </a:solidFill>
                <a:latin typeface="+mn-ea"/>
              </a:rPr>
              <a:t>박준형</a:t>
            </a:r>
            <a:endParaRPr lang="en-US" altLang="ko-KR" sz="1400" b="1">
              <a:solidFill>
                <a:schemeClr val="bg1"/>
              </a:solidFill>
              <a:latin typeface="+mn-ea"/>
            </a:endParaRPr>
          </a:p>
          <a:p>
            <a:pPr marL="0" indent="0" algn="r">
              <a:buFont typeface="Arial" panose="020B0604020202020204" pitchFamily="34" charset="0"/>
              <a:buNone/>
            </a:pPr>
            <a:r>
              <a:rPr lang="ko-KR" altLang="en-US" sz="1400" b="1">
                <a:solidFill>
                  <a:schemeClr val="bg1"/>
                </a:solidFill>
                <a:latin typeface="+mn-ea"/>
              </a:rPr>
              <a:t>심예진</a:t>
            </a:r>
            <a:endParaRPr lang="ko-KR" altLang="en-US" sz="1400" b="1" dirty="0">
              <a:solidFill>
                <a:schemeClr val="bg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655485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2037</TotalTime>
  <Words>731</Words>
  <Application>Microsoft Office PowerPoint</Application>
  <PresentationFormat>와이드스크린</PresentationFormat>
  <Paragraphs>224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0" baseType="lpstr">
      <vt:lpstr>맑은 고딕</vt:lpstr>
      <vt:lpstr>Arial</vt:lpstr>
      <vt:lpstr>Calibri</vt:lpstr>
      <vt:lpstr>Office 테마</vt:lpstr>
      <vt:lpstr>PowerPoint 프레젠테이션</vt:lpstr>
      <vt:lpstr>INDEX 및 CONTENTS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1. Cisco 문제 1번 2. Cisco 문제 2번 3. Jdk설치 + 설정 4. Tomcat 설치 + 설정 5. Eclipse 설치 + 설정</dc:title>
  <dc:creator>FullName</dc:creator>
  <cp:lastModifiedBy>FullName</cp:lastModifiedBy>
  <cp:revision>106</cp:revision>
  <dcterms:created xsi:type="dcterms:W3CDTF">2025-08-05T00:27:28Z</dcterms:created>
  <dcterms:modified xsi:type="dcterms:W3CDTF">2025-09-30T06:36:45Z</dcterms:modified>
</cp:coreProperties>
</file>