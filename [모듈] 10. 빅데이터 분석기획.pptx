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302" r:id="rId4"/>
    <p:sldId id="319" r:id="rId5"/>
    <p:sldId id="318" r:id="rId6"/>
    <p:sldId id="320" r:id="rId7"/>
    <p:sldId id="321" r:id="rId8"/>
    <p:sldId id="322" r:id="rId9"/>
    <p:sldId id="299" r:id="rId10"/>
    <p:sldId id="323" r:id="rId11"/>
    <p:sldId id="286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39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3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C2D174-CB32-4F11-B7D5-1A7BA59E4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9D795AB-E336-45EB-A305-DD9AC4683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2254FD-84F1-428D-9057-ADAB81B3D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BD85F5-ED05-4F59-AE9E-A58CEDA5B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79A623-0C98-4283-9D38-6AB30199D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8810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1DFFC5-38A8-42C2-A273-FAB663237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7E2275-8578-4DB7-9D83-8CCD9E291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47C62E-4128-4DAC-A65A-27BB07B15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24C588-E11C-4D94-8F48-301C424F2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1D5DEC-11A5-4320-839E-7F51A3AE9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29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E59599-3C19-445B-8494-65877CB89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5B53FD-C5F7-4500-BCF7-72846463F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83EE29-7B5A-4A33-A2E2-95C3F6079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6DC215-611A-40F3-A9AE-4EE2515F4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079D90-5960-4F74-B035-C3B189499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4861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B7EE06-1A7E-4A92-AAD0-9B86B8FF9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688597-0625-4374-89CD-44B8845505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525B3D4-AF4B-4AE8-8394-D610318F67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47BFB0-D7CE-457E-9189-BFF67F8D5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705FD7-3D9F-4845-8269-DDACF1416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2645E4-0207-4203-9E82-F7636B0D5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387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0BA0D-07F6-4D96-BF5B-9436CB1AF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A570F5-018D-444F-B20D-7729D02D8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1EA175-6F80-498A-B91B-186EB4E9E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88C8E9D-6863-4906-B550-56942E2D37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351414A-34E4-4E1D-8229-4BAA2EB301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1AA7644-2A06-4E36-80B6-059F98256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5C1EA36-C08D-410A-BF83-A04F264E6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1CC500D-50CE-43C2-8933-D267B7AE9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4126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3703C0-9ACF-4AAE-9D37-8D18B26C7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7A6BCB5-73A1-4024-82FE-AF51172CB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F8ED94-3DD5-42AA-8FF1-38C6499C7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D23E3A-D959-4203-BD40-C83512760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607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C8A935A-7442-4F58-8D11-325F1B5C6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FFBA2FD-9246-42AD-B56C-E8EA7AE50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FE6B8E-4A69-4A9B-A9DD-5F0CB7237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121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16DA8A-92BC-49DE-A8CF-C983904A3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23E4CE-55E3-4027-A86D-AC29312D7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3CD0D5-63EF-4021-AF42-9F742E495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8D621F-7A35-4AB1-9015-6EE6F3156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5FD7D6-46C4-408F-847C-245D5126F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6B04C4-A611-43E8-834B-444CAF026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726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CDD74F-EF7A-4889-85F7-871326D4A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E16CC49-48CD-4612-BF78-EBB3B04EE3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87BBA3-126E-40D9-955B-8C8D7877C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7E777C-8677-437F-9339-DEE00C799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11FACA-F355-4D90-B353-2AE547D56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0C2A7F-AB07-44EB-9EF8-2BEB08E2B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0758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1F0666-4475-4B01-8F4E-B875648A8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97346D4-00C3-47FF-9B09-D4FF35DCC3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E781B1-9EDD-4233-A374-EB535A6E5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826D15-4D50-4692-B46D-F882C66EE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45EE2F-D229-4007-8D9F-7A3820BE1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6292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EF2BF9F-0C81-4E8A-886A-CAEB2C36B6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505AFD-1AA5-45B8-BD53-DA28197BD7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49204C-AB5D-4CA3-9046-1619B2154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FA9E8D-4B61-46A7-A49A-9045BDFD6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EB5F22-C6F7-44D5-ACE0-6E7A148D0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8841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488827D-BBE9-423B-8A3E-16F1434F1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1ACD2B-EAC8-4DAE-80BC-8153D0C80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87A703-9670-4373-B621-3347DC4D14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F23D8-EC25-4018-9CD7-C53C9D694542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25031C-9617-4CD5-AB16-821A2E9453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749AC1-BC97-42DC-BBFB-1FF1599E85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8926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9FB2B1-ADA3-4D09-BE1E-5FE440FEF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7134" y="5409213"/>
            <a:ext cx="2247122" cy="1261535"/>
          </a:xfrm>
        </p:spPr>
        <p:txBody>
          <a:bodyPr>
            <a:noAutofit/>
          </a:bodyPr>
          <a:lstStyle/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빅데이터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UI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양성과정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 err="1">
                <a:solidFill>
                  <a:schemeClr val="bg1"/>
                </a:solidFill>
                <a:latin typeface="+mn-ea"/>
              </a:rPr>
              <a:t>손보금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박준형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심예진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3DA77DD5-F07A-4FA6-8DEA-409A2C5ABB17}"/>
              </a:ext>
            </a:extLst>
          </p:cNvPr>
          <p:cNvSpPr txBox="1">
            <a:spLocks/>
          </p:cNvSpPr>
          <p:nvPr/>
        </p:nvSpPr>
        <p:spPr>
          <a:xfrm>
            <a:off x="982980" y="3100841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빅데이터 환경분석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0892D854-65E9-4161-BD25-B1C960BA7B08}"/>
              </a:ext>
            </a:extLst>
          </p:cNvPr>
          <p:cNvSpPr txBox="1">
            <a:spLocks/>
          </p:cNvSpPr>
          <p:nvPr/>
        </p:nvSpPr>
        <p:spPr>
          <a:xfrm>
            <a:off x="838200" y="2051483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5400" dirty="0" err="1">
                <a:solidFill>
                  <a:srgbClr val="2C3930"/>
                </a:solidFill>
              </a:rPr>
              <a:t>astpage</a:t>
            </a:r>
            <a:r>
              <a:rPr lang="en-US" altLang="ko-KR" sz="5400" dirty="0" err="1">
                <a:solidFill>
                  <a:schemeClr val="bg1"/>
                </a:solidFill>
              </a:rPr>
              <a:t>Lastpage</a:t>
            </a:r>
            <a:r>
              <a:rPr lang="en-US" altLang="ko-KR" sz="5400" dirty="0">
                <a:solidFill>
                  <a:schemeClr val="bg1"/>
                </a:solidFill>
              </a:rPr>
              <a:t> Project</a:t>
            </a:r>
            <a:r>
              <a:rPr lang="en-US" altLang="ko-KR" sz="5400" dirty="0">
                <a:solidFill>
                  <a:srgbClr val="2C3930"/>
                </a:solidFill>
              </a:rPr>
              <a:t> </a:t>
            </a:r>
            <a:r>
              <a:rPr lang="en-US" altLang="ko-KR" sz="4800" dirty="0">
                <a:solidFill>
                  <a:srgbClr val="2C3930"/>
                </a:solidFill>
              </a:rPr>
              <a:t>Project</a:t>
            </a:r>
            <a:endParaRPr lang="ko-KR" altLang="en-US" sz="4800" dirty="0">
              <a:solidFill>
                <a:srgbClr val="2C393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C62395-CB82-C6B8-18EC-276CC2A8E7CC}"/>
              </a:ext>
            </a:extLst>
          </p:cNvPr>
          <p:cNvSpPr txBox="1"/>
          <p:nvPr/>
        </p:nvSpPr>
        <p:spPr>
          <a:xfrm>
            <a:off x="-129540" y="4450080"/>
            <a:ext cx="12420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pic>
        <p:nvPicPr>
          <p:cNvPr id="13" name="그림 1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47CCDA8-F2F2-6E33-1693-7115E4B9C6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221163"/>
            <a:ext cx="807629" cy="80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974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D2E548-C65D-48A7-AF17-BB29D6CB8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429670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US" altLang="ko-KR" dirty="0"/>
              <a:t>INDEX </a:t>
            </a:r>
            <a:r>
              <a:rPr lang="ko-KR" altLang="en-US" dirty="0"/>
              <a:t>및 </a:t>
            </a:r>
            <a:r>
              <a:rPr lang="en-US" altLang="ko-KR" dirty="0"/>
              <a:t>CONTENTS</a:t>
            </a:r>
            <a:endParaRPr lang="ko-KR" altLang="en-US" dirty="0"/>
          </a:p>
        </p:txBody>
      </p:sp>
      <p:pic>
        <p:nvPicPr>
          <p:cNvPr id="5" name="그림 4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B4ED27-7257-EC1F-98C4-E6E38551F9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31" y="236265"/>
            <a:ext cx="815249" cy="8152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C93E1F-B78C-523A-B7A0-7AA31B32F725}"/>
              </a:ext>
            </a:extLst>
          </p:cNvPr>
          <p:cNvSpPr txBox="1"/>
          <p:nvPr/>
        </p:nvSpPr>
        <p:spPr>
          <a:xfrm>
            <a:off x="11446707" y="6439943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EA2501B-6B7D-417C-BE87-5373F6C9C5A5}"/>
              </a:ext>
            </a:extLst>
          </p:cNvPr>
          <p:cNvSpPr txBox="1">
            <a:spLocks/>
          </p:cNvSpPr>
          <p:nvPr/>
        </p:nvSpPr>
        <p:spPr>
          <a:xfrm>
            <a:off x="463405" y="1716269"/>
            <a:ext cx="5327661" cy="2304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2000" b="1" u="sng" dirty="0" err="1">
                <a:solidFill>
                  <a:schemeClr val="bg1"/>
                </a:solidFill>
                <a:latin typeface="+mj-lt"/>
              </a:rPr>
              <a:t>빅데이터분석</a:t>
            </a: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 요건 정의 </a:t>
            </a:r>
            <a:r>
              <a:rPr lang="en-US" altLang="ko-KR" sz="2000" b="1" u="sng" dirty="0">
                <a:solidFill>
                  <a:schemeClr val="bg1"/>
                </a:solidFill>
                <a:latin typeface="+mj-lt"/>
              </a:rPr>
              <a:t>-</a:t>
            </a:r>
            <a:endParaRPr lang="en-US" altLang="ko-KR" sz="1600" b="1" u="sng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기존 요구사항 확인</a:t>
            </a:r>
            <a:endParaRPr lang="en-US" altLang="ko-KR" sz="1500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요구사항 명세화</a:t>
            </a:r>
            <a:endParaRPr lang="en-US" altLang="ko-KR" sz="1500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TRIP_SMART Use Case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명세서</a:t>
            </a:r>
            <a:endParaRPr lang="en-US" altLang="ko-KR" sz="1500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TRIP_SMART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요구사항 검증 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: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검토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(REVIEW)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6CFC6EAA-8325-4486-8D16-3BE392A7BDB4}"/>
              </a:ext>
            </a:extLst>
          </p:cNvPr>
          <p:cNvSpPr txBox="1">
            <a:spLocks/>
          </p:cNvSpPr>
          <p:nvPr/>
        </p:nvSpPr>
        <p:spPr>
          <a:xfrm>
            <a:off x="6398522" y="1716269"/>
            <a:ext cx="5327661" cy="15722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AutoNum type="arabicPeriod" startAt="3"/>
            </a:pPr>
            <a:r>
              <a:rPr lang="ko-KR" altLang="en-US" sz="2000" b="1" u="sng" dirty="0" err="1">
                <a:solidFill>
                  <a:schemeClr val="bg1"/>
                </a:solidFill>
                <a:latin typeface="+mj-lt"/>
              </a:rPr>
              <a:t>빅데이터분석</a:t>
            </a: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 데이터 탐색 기획 </a:t>
            </a:r>
            <a:r>
              <a:rPr lang="en-US" altLang="ko-KR" sz="2000" b="1" u="sng" dirty="0">
                <a:solidFill>
                  <a:schemeClr val="bg1"/>
                </a:solidFill>
                <a:latin typeface="+mj-lt"/>
              </a:rPr>
              <a:t>-</a:t>
            </a:r>
            <a:endParaRPr lang="en-US" altLang="ko-KR" sz="1600" b="1" u="sng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데이터 분석 기획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(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회귀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/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분류 중 하나 선택하기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!)</a:t>
            </a: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D7B18B17-BE04-4BE0-B812-06966B97BD73}"/>
              </a:ext>
            </a:extLst>
          </p:cNvPr>
          <p:cNvSpPr txBox="1">
            <a:spLocks/>
          </p:cNvSpPr>
          <p:nvPr/>
        </p:nvSpPr>
        <p:spPr>
          <a:xfrm>
            <a:off x="463404" y="4157238"/>
            <a:ext cx="5327661" cy="2304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AutoNum type="arabicPeriod" startAt="2"/>
            </a:pPr>
            <a:r>
              <a:rPr lang="ko-KR" altLang="en-US" sz="2000" b="1" u="sng" dirty="0" err="1">
                <a:solidFill>
                  <a:schemeClr val="bg1"/>
                </a:solidFill>
                <a:latin typeface="+mj-lt"/>
              </a:rPr>
              <a:t>빅데이터분석</a:t>
            </a: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 데이터 확보 기획 </a:t>
            </a:r>
            <a:r>
              <a:rPr lang="en-US" altLang="ko-KR" sz="1600" b="1" u="sng" dirty="0">
                <a:solidFill>
                  <a:schemeClr val="bg1"/>
                </a:solidFill>
                <a:latin typeface="+mj-lt"/>
              </a:rPr>
              <a:t>-</a:t>
            </a:r>
            <a:r>
              <a:rPr lang="ko-KR" altLang="en-US" sz="1600" b="1" u="sng" dirty="0">
                <a:solidFill>
                  <a:schemeClr val="bg1"/>
                </a:solidFill>
                <a:latin typeface="+mj-lt"/>
              </a:rPr>
              <a:t> </a:t>
            </a:r>
            <a:endParaRPr lang="en-US" altLang="ko-KR" sz="1600" b="1" u="sng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개념적 설계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(Conceptual) - </a:t>
            </a:r>
            <a:r>
              <a:rPr lang="ko-KR" altLang="en-US" sz="1500" dirty="0" err="1">
                <a:solidFill>
                  <a:schemeClr val="bg1"/>
                </a:solidFill>
                <a:latin typeface="+mj-lt"/>
              </a:rPr>
              <a:t>엔터티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/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관계 요약</a:t>
            </a:r>
            <a:br>
              <a:rPr lang="en-US" altLang="ko-KR" sz="1500" dirty="0">
                <a:solidFill>
                  <a:schemeClr val="bg1"/>
                </a:solidFill>
                <a:latin typeface="+mj-lt"/>
              </a:rPr>
            </a:b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논리적 설계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(Logical)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테이블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/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키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/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인덱스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(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자료형 포함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)</a:t>
            </a:r>
            <a:br>
              <a:rPr lang="en-US" altLang="ko-KR" sz="1500" dirty="0">
                <a:solidFill>
                  <a:schemeClr val="bg1"/>
                </a:solidFill>
                <a:latin typeface="+mj-lt"/>
              </a:rPr>
            </a:b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외부 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Open API</a:t>
            </a:r>
            <a:br>
              <a:rPr lang="en-US" altLang="ko-KR" sz="1500" dirty="0">
                <a:solidFill>
                  <a:schemeClr val="bg1"/>
                </a:solidFill>
                <a:latin typeface="+mj-lt"/>
              </a:rPr>
            </a:b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       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내부 수집 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API</a:t>
            </a:r>
            <a:br>
              <a:rPr lang="en-US" altLang="ko-KR" sz="1500" dirty="0">
                <a:solidFill>
                  <a:schemeClr val="bg1"/>
                </a:solidFill>
                <a:latin typeface="+mj-lt"/>
              </a:rPr>
            </a:br>
            <a:r>
              <a:rPr lang="en-US" altLang="ko-KR" sz="1400" dirty="0">
                <a:solidFill>
                  <a:schemeClr val="bg1"/>
                </a:solidFill>
                <a:latin typeface="+mj-lt"/>
              </a:rPr>
              <a:t>     </a:t>
            </a: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17CA8DE4-6BE9-4BE6-AC91-FFD8E1E3EC2D}"/>
              </a:ext>
            </a:extLst>
          </p:cNvPr>
          <p:cNvSpPr txBox="1">
            <a:spLocks/>
          </p:cNvSpPr>
          <p:nvPr/>
        </p:nvSpPr>
        <p:spPr>
          <a:xfrm>
            <a:off x="6398521" y="3492649"/>
            <a:ext cx="5614514" cy="9683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AutoNum type="arabicPeriod" startAt="4"/>
            </a:pPr>
            <a:r>
              <a:rPr lang="ko-KR" altLang="en-US" sz="2000" b="1" u="sng" dirty="0" err="1">
                <a:solidFill>
                  <a:schemeClr val="bg1"/>
                </a:solidFill>
                <a:latin typeface="+mj-lt"/>
              </a:rPr>
              <a:t>빅데이터분석</a:t>
            </a: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 모델링 기획 </a:t>
            </a:r>
            <a:r>
              <a:rPr lang="en-US" altLang="ko-KR" sz="2000" b="1" u="sng" dirty="0">
                <a:solidFill>
                  <a:schemeClr val="bg1"/>
                </a:solidFill>
                <a:latin typeface="+mj-lt"/>
              </a:rPr>
              <a:t>-</a:t>
            </a:r>
            <a:endParaRPr lang="en-US" altLang="ko-KR" sz="1600" b="1" u="sng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600" b="1" dirty="0">
                <a:solidFill>
                  <a:schemeClr val="bg1"/>
                </a:solidFill>
                <a:latin typeface="+mj-lt"/>
              </a:rPr>
              <a:t>      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-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빅데이터 분석 모델링 기획</a:t>
            </a:r>
            <a:r>
              <a:rPr lang="en-US" altLang="ko-KR" sz="1400" dirty="0">
                <a:solidFill>
                  <a:schemeClr val="bg1"/>
                </a:solidFill>
                <a:latin typeface="+mj-lt"/>
              </a:rPr>
              <a:t>(</a:t>
            </a:r>
            <a:r>
              <a:rPr lang="ko-KR" altLang="en-US" sz="1400" dirty="0">
                <a:solidFill>
                  <a:schemeClr val="bg1"/>
                </a:solidFill>
                <a:latin typeface="+mj-lt"/>
              </a:rPr>
              <a:t>회귀</a:t>
            </a:r>
            <a:r>
              <a:rPr lang="en-US" altLang="ko-KR" sz="1400" dirty="0">
                <a:solidFill>
                  <a:schemeClr val="bg1"/>
                </a:solidFill>
                <a:latin typeface="+mj-lt"/>
              </a:rPr>
              <a:t>/</a:t>
            </a:r>
            <a:r>
              <a:rPr lang="ko-KR" altLang="en-US" sz="1400" dirty="0">
                <a:solidFill>
                  <a:schemeClr val="bg1"/>
                </a:solidFill>
                <a:latin typeface="+mj-lt"/>
              </a:rPr>
              <a:t>분류 중 하나 선택하기</a:t>
            </a:r>
            <a:r>
              <a:rPr lang="en-US" altLang="ko-KR" sz="1400" dirty="0">
                <a:solidFill>
                  <a:schemeClr val="bg1"/>
                </a:solidFill>
                <a:latin typeface="+mj-lt"/>
              </a:rPr>
              <a:t>!)</a:t>
            </a:r>
            <a:br>
              <a:rPr lang="en-US" altLang="ko-KR" sz="1400" dirty="0">
                <a:solidFill>
                  <a:schemeClr val="bg1"/>
                </a:solidFill>
                <a:latin typeface="+mj-lt"/>
              </a:rPr>
            </a:br>
            <a:endParaRPr lang="en-US" altLang="ko-KR" sz="1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41BCE937-8E3D-496A-8190-F3C3CE40A191}"/>
              </a:ext>
            </a:extLst>
          </p:cNvPr>
          <p:cNvSpPr txBox="1">
            <a:spLocks/>
          </p:cNvSpPr>
          <p:nvPr/>
        </p:nvSpPr>
        <p:spPr>
          <a:xfrm>
            <a:off x="6398521" y="4978879"/>
            <a:ext cx="5614514" cy="9683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2000" b="1" dirty="0">
                <a:solidFill>
                  <a:schemeClr val="bg1"/>
                </a:solidFill>
                <a:latin typeface="+mj-lt"/>
              </a:rPr>
              <a:t>5.   </a:t>
            </a:r>
            <a:r>
              <a:rPr lang="ko-KR" altLang="en-US" sz="2000" b="1" u="sng" dirty="0" err="1">
                <a:solidFill>
                  <a:schemeClr val="bg1"/>
                </a:solidFill>
                <a:latin typeface="+mj-lt"/>
              </a:rPr>
              <a:t>빅데이터분석</a:t>
            </a:r>
            <a:r>
              <a:rPr lang="ko-KR" altLang="en-US" sz="2000" b="1" u="sng" dirty="0">
                <a:solidFill>
                  <a:schemeClr val="bg1"/>
                </a:solidFill>
                <a:latin typeface="+mj-lt"/>
              </a:rPr>
              <a:t> 결과 적용 계획 </a:t>
            </a:r>
            <a:r>
              <a:rPr lang="en-US" altLang="ko-KR" sz="2000" b="1" u="sng" dirty="0">
                <a:solidFill>
                  <a:schemeClr val="bg1"/>
                </a:solidFill>
                <a:latin typeface="+mj-lt"/>
              </a:rPr>
              <a:t>-</a:t>
            </a:r>
            <a:endParaRPr lang="en-US" altLang="ko-KR" sz="1600" b="1" u="sng" dirty="0">
              <a:solidFill>
                <a:schemeClr val="bg1"/>
              </a:solidFill>
              <a:latin typeface="+mj-lt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600" b="1" dirty="0">
                <a:solidFill>
                  <a:schemeClr val="bg1"/>
                </a:solidFill>
                <a:latin typeface="+mj-lt"/>
              </a:rPr>
              <a:t>      </a:t>
            </a:r>
            <a:r>
              <a:rPr lang="en-US" altLang="ko-KR" sz="1500" dirty="0">
                <a:solidFill>
                  <a:schemeClr val="bg1"/>
                </a:solidFill>
                <a:latin typeface="+mj-lt"/>
              </a:rPr>
              <a:t>- NCS </a:t>
            </a:r>
            <a:r>
              <a:rPr lang="ko-KR" altLang="en-US" sz="1500" dirty="0">
                <a:solidFill>
                  <a:schemeClr val="bg1"/>
                </a:solidFill>
                <a:latin typeface="+mj-lt"/>
              </a:rPr>
              <a:t>빅데이터 분석 기획 보고서</a:t>
            </a:r>
            <a:br>
              <a:rPr lang="en-US" altLang="ko-KR" sz="1400" dirty="0">
                <a:solidFill>
                  <a:schemeClr val="bg1"/>
                </a:solidFill>
                <a:latin typeface="+mj-lt"/>
              </a:rPr>
            </a:br>
            <a:endParaRPr lang="en-US" altLang="ko-KR" sz="14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84274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1. </a:t>
            </a:r>
            <a:r>
              <a:rPr kumimoji="0" lang="ko-KR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맑은 고딕" panose="020B0503020000020004" pitchFamily="50" charset="-127"/>
                <a:cs typeface="+mj-cs"/>
              </a:rPr>
              <a:t>기존 요구사항 </a:t>
            </a:r>
            <a:r>
              <a:rPr lang="ko-KR" altLang="en-US" dirty="0">
                <a:solidFill>
                  <a:prstClr val="black"/>
                </a:solidFill>
                <a:ea typeface="맑은 고딕" panose="020B0503020000020004" pitchFamily="50" charset="-127"/>
              </a:rPr>
              <a:t>확인</a:t>
            </a:r>
            <a:endParaRPr kumimoji="0" lang="ko-KR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4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CA27A644-DEE2-4622-A8A0-58E81BD447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3693967"/>
              </p:ext>
            </p:extLst>
          </p:nvPr>
        </p:nvGraphicFramePr>
        <p:xfrm>
          <a:off x="991184" y="1601637"/>
          <a:ext cx="10209630" cy="5092771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412453">
                  <a:extLst>
                    <a:ext uri="{9D8B030D-6E8A-4147-A177-3AD203B41FA5}">
                      <a16:colId xmlns:a16="http://schemas.microsoft.com/office/drawing/2014/main" val="1257472940"/>
                    </a:ext>
                  </a:extLst>
                </a:gridCol>
                <a:gridCol w="1512162">
                  <a:extLst>
                    <a:ext uri="{9D8B030D-6E8A-4147-A177-3AD203B41FA5}">
                      <a16:colId xmlns:a16="http://schemas.microsoft.com/office/drawing/2014/main" val="2155757754"/>
                    </a:ext>
                  </a:extLst>
                </a:gridCol>
                <a:gridCol w="5369086">
                  <a:extLst>
                    <a:ext uri="{9D8B030D-6E8A-4147-A177-3AD203B41FA5}">
                      <a16:colId xmlns:a16="http://schemas.microsoft.com/office/drawing/2014/main" val="635701269"/>
                    </a:ext>
                  </a:extLst>
                </a:gridCol>
                <a:gridCol w="1915929">
                  <a:extLst>
                    <a:ext uri="{9D8B030D-6E8A-4147-A177-3AD203B41FA5}">
                      <a16:colId xmlns:a16="http://schemas.microsoft.com/office/drawing/2014/main" val="4193443379"/>
                    </a:ext>
                  </a:extLst>
                </a:gridCol>
              </a:tblGrid>
              <a:tr h="2967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요구</a:t>
                      </a:r>
                      <a:r>
                        <a:rPr lang="en-US" altLang="ko-KR" sz="1400" dirty="0"/>
                        <a:t>ID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유형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요구내용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요청자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8239233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R-001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위치 기반 장례식장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납골당 검색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4497427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R-002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보안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사용자의 위치 및 검색 데이터 암호화 저장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개인정보위원회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7342817"/>
                  </a:ext>
                </a:extLst>
              </a:tr>
              <a:tr h="33661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R-003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반려동물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날짜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시간 정보 입력을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포함한 장례 예약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6920423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R-004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장례 비용 확인 및 웹 결제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802924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R-005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장례 예약 후 조회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수정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취소 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조건부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0335855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R-006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성능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예약 조회 시 </a:t>
                      </a:r>
                      <a:r>
                        <a:rPr lang="en-US" altLang="ko-KR" sz="1200" dirty="0"/>
                        <a:t>2</a:t>
                      </a:r>
                      <a:r>
                        <a:rPr lang="ko-KR" altLang="en-US" sz="1200" dirty="0"/>
                        <a:t>초 내 응답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서비스 운영팀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1215436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R-007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상담사 리스트 조회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464408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R-008</a:t>
                      </a:r>
                      <a:endParaRPr lang="ko-KR" altLang="en-US" sz="1200" b="1" dirty="0"/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추천 알고리즘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 리뷰 데이터 기반 맞춤형 상담사 추천 알고리즘 활용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서비스 운영팀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711879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R-009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상담형태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날짜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시간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심리상태 정보를</a:t>
                      </a:r>
                      <a:r>
                        <a:rPr lang="en-US" altLang="ko-KR" sz="1200" dirty="0"/>
                        <a:t> </a:t>
                      </a:r>
                      <a:r>
                        <a:rPr lang="ko-KR" altLang="en-US" sz="1200" dirty="0"/>
                        <a:t>포함한 상담 예약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8287075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R-010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상담 비용 확인 및 웹 결제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1669890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R-011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상담 예약 후 조회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수정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취소 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조건부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453992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R-012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추천 알고리즘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실시간 판매 데이터 분석을 통한 인기 굿즈 트렌드 제공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서비스 운영팀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9941419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R-013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굿즈 제작 요청 접수 시 업체에 자동 전달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굿즈 제작 업체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6947432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R-014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분석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통계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예약 통계 리포트 생성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서비스 운영팀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1369163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/>
                        <a:t>R-015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커뮤니티 작성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조회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수정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삭제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사용자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8793557"/>
                  </a:ext>
                </a:extLst>
              </a:tr>
              <a:tr h="296757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/>
                        <a:t>R-016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커뮤니티 및 리뷰 신고</a:t>
                      </a:r>
                      <a:r>
                        <a:rPr lang="en-US" altLang="ko-KR" sz="1200" dirty="0"/>
                        <a:t>/</a:t>
                      </a:r>
                      <a:r>
                        <a:rPr lang="ko-KR" altLang="en-US" sz="1200" dirty="0"/>
                        <a:t>악성 게시글 관리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관리자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7480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6063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3. </a:t>
            </a:r>
            <a:r>
              <a:rPr kumimoji="0" lang="ko-KR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빅데이터 분석 데이터 탐색 기획하기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4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6" name="표 6">
            <a:extLst>
              <a:ext uri="{FF2B5EF4-FFF2-40B4-BE49-F238E27FC236}">
                <a16:creationId xmlns:a16="http://schemas.microsoft.com/office/drawing/2014/main" id="{1D6B86E2-A1AA-42D9-AFFB-9EE84C516D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0479110"/>
              </p:ext>
            </p:extLst>
          </p:nvPr>
        </p:nvGraphicFramePr>
        <p:xfrm>
          <a:off x="2031999" y="2223822"/>
          <a:ext cx="8128000" cy="371574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1644613078"/>
                    </a:ext>
                  </a:extLst>
                </a:gridCol>
              </a:tblGrid>
              <a:tr h="5562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주제 </a:t>
                      </a:r>
                      <a:r>
                        <a:rPr lang="en-US" altLang="ko-KR" dirty="0"/>
                        <a:t>: </a:t>
                      </a:r>
                      <a:r>
                        <a:rPr lang="ko-KR" altLang="en-US" dirty="0"/>
                        <a:t>사용자 리뷰 데이터 기반 맞춤형 상담사 추천 알고리즘 활용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1700829"/>
                  </a:ext>
                </a:extLst>
              </a:tr>
              <a:tr h="3159493">
                <a:tc>
                  <a:txBody>
                    <a:bodyPr/>
                    <a:lstStyle/>
                    <a:p>
                      <a:pPr marL="342900" indent="-342900" algn="l" latinLnBrk="1">
                        <a:lnSpc>
                          <a:spcPct val="150000"/>
                        </a:lnSpc>
                        <a:buAutoNum type="arabicPeriod"/>
                      </a:pPr>
                      <a:r>
                        <a:rPr lang="ko-KR" altLang="en-US" sz="1600" dirty="0"/>
                        <a:t>분석 목적 및 범위</a:t>
                      </a:r>
                      <a:endParaRPr lang="en-US" altLang="ko-KR" sz="1600" dirty="0"/>
                    </a:p>
                    <a:p>
                      <a:pPr marL="342900" indent="-342900" algn="l" latinLnBrk="1">
                        <a:lnSpc>
                          <a:spcPct val="150000"/>
                        </a:lnSpc>
                        <a:buAutoNum type="arabicPeriod"/>
                      </a:pPr>
                      <a:r>
                        <a:rPr lang="ko-KR" altLang="en-US" sz="1600" dirty="0"/>
                        <a:t>회귀 분석 기법 선정</a:t>
                      </a:r>
                      <a:endParaRPr lang="en-US" altLang="ko-KR" sz="1600" dirty="0"/>
                    </a:p>
                    <a:p>
                      <a:pPr marL="342900" indent="-342900" algn="l" latinLnBrk="1">
                        <a:lnSpc>
                          <a:spcPct val="150000"/>
                        </a:lnSpc>
                        <a:buAutoNum type="arabicPeriod"/>
                      </a:pPr>
                      <a:r>
                        <a:rPr lang="ko-KR" altLang="en-US" sz="1600" dirty="0"/>
                        <a:t>분석 절차 및 프로세스</a:t>
                      </a:r>
                      <a:endParaRPr lang="en-US" altLang="ko-KR" sz="1600" dirty="0"/>
                    </a:p>
                    <a:p>
                      <a:pPr marL="342900" indent="-342900" algn="l" latinLnBrk="1">
                        <a:lnSpc>
                          <a:spcPct val="150000"/>
                        </a:lnSpc>
                        <a:buAutoNum type="arabicPeriod"/>
                      </a:pPr>
                      <a:r>
                        <a:rPr lang="ko-KR" altLang="en-US" sz="1600" dirty="0"/>
                        <a:t>분석 도구 및 환경</a:t>
                      </a:r>
                      <a:endParaRPr lang="en-US" altLang="ko-KR" sz="1600" dirty="0"/>
                    </a:p>
                    <a:p>
                      <a:pPr marL="342900" indent="-342900" algn="l" latinLnBrk="1">
                        <a:lnSpc>
                          <a:spcPct val="150000"/>
                        </a:lnSpc>
                        <a:buAutoNum type="arabicPeriod"/>
                      </a:pPr>
                      <a:r>
                        <a:rPr lang="ko-KR" altLang="en-US" sz="1600" dirty="0"/>
                        <a:t>성능 평가 지표</a:t>
                      </a:r>
                      <a:endParaRPr lang="en-US" altLang="ko-KR" sz="1600" dirty="0"/>
                    </a:p>
                    <a:p>
                      <a:pPr marL="342900" indent="-342900" algn="l" latinLnBrk="1">
                        <a:lnSpc>
                          <a:spcPct val="150000"/>
                        </a:lnSpc>
                        <a:buAutoNum type="arabicPeriod"/>
                      </a:pPr>
                      <a:r>
                        <a:rPr lang="ko-KR" altLang="en-US" sz="1600" dirty="0"/>
                        <a:t>기대 효과</a:t>
                      </a:r>
                      <a:endParaRPr lang="en-US" altLang="ko-KR" sz="1600" dirty="0"/>
                    </a:p>
                    <a:p>
                      <a:pPr marL="342900" indent="-342900" algn="l" latinLnBrk="1">
                        <a:lnSpc>
                          <a:spcPct val="150000"/>
                        </a:lnSpc>
                        <a:buAutoNum type="arabicPeriod"/>
                      </a:pPr>
                      <a:r>
                        <a:rPr lang="ko-KR" altLang="en-US" sz="1600" dirty="0"/>
                        <a:t>결론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42417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293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3. </a:t>
            </a:r>
            <a:r>
              <a:rPr kumimoji="0" lang="ko-KR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빅데이터 분석 데이터 탐색 기획하기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4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170686C7-1663-46CE-9C2C-6D4A0BE320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4578464"/>
              </p:ext>
            </p:extLst>
          </p:nvPr>
        </p:nvGraphicFramePr>
        <p:xfrm>
          <a:off x="1007390" y="1635286"/>
          <a:ext cx="10506429" cy="484120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900953">
                  <a:extLst>
                    <a:ext uri="{9D8B030D-6E8A-4147-A177-3AD203B41FA5}">
                      <a16:colId xmlns:a16="http://schemas.microsoft.com/office/drawing/2014/main" val="2384602235"/>
                    </a:ext>
                  </a:extLst>
                </a:gridCol>
                <a:gridCol w="8605476">
                  <a:extLst>
                    <a:ext uri="{9D8B030D-6E8A-4147-A177-3AD203B41FA5}">
                      <a16:colId xmlns:a16="http://schemas.microsoft.com/office/drawing/2014/main" val="3315929628"/>
                    </a:ext>
                  </a:extLst>
                </a:gridCol>
              </a:tblGrid>
              <a:tr h="3687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내용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9644202"/>
                  </a:ext>
                </a:extLst>
              </a:tr>
              <a:tr h="7740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1. </a:t>
                      </a:r>
                      <a:r>
                        <a:rPr lang="ko-KR" altLang="en-US" sz="1400" b="1" dirty="0"/>
                        <a:t>분석 목적 및 범위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400" dirty="0"/>
                        <a:t>- </a:t>
                      </a:r>
                      <a:r>
                        <a:rPr lang="ko-KR" altLang="en-US" sz="1400" b="1" dirty="0"/>
                        <a:t>목적</a:t>
                      </a:r>
                      <a:r>
                        <a:rPr lang="en-US" altLang="ko-KR" sz="1400" dirty="0"/>
                        <a:t>: </a:t>
                      </a:r>
                      <a:r>
                        <a:rPr lang="ko-KR" altLang="en-US" sz="1400" dirty="0"/>
                        <a:t>사용자 리뷰와 특성을 활용하여 감정 상태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분노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불안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우울 등</a:t>
                      </a:r>
                      <a:r>
                        <a:rPr lang="en-US" altLang="ko-KR" sz="1400" dirty="0"/>
                        <a:t>)</a:t>
                      </a:r>
                      <a:r>
                        <a:rPr lang="ko-KR" altLang="en-US" sz="1400" dirty="0"/>
                        <a:t>를 분류하고 맞춤형 상담사를 추천</a:t>
                      </a:r>
                      <a:br>
                        <a:rPr lang="ko-KR" altLang="en-US" sz="1400" dirty="0"/>
                      </a:br>
                      <a:r>
                        <a:rPr lang="en-US" altLang="ko-KR" sz="1400" dirty="0"/>
                        <a:t>- </a:t>
                      </a:r>
                      <a:r>
                        <a:rPr lang="ko-KR" altLang="en-US" sz="1400" b="1" dirty="0"/>
                        <a:t>범위</a:t>
                      </a:r>
                      <a:r>
                        <a:rPr lang="en-US" altLang="ko-KR" sz="1400" dirty="0"/>
                        <a:t>: </a:t>
                      </a:r>
                      <a:r>
                        <a:rPr lang="ko-KR" altLang="en-US" sz="1400" dirty="0"/>
                        <a:t>연령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성별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상황 키워드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신체질환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리뷰 문장 텍스트 등을 입력 변수로 활용</a:t>
                      </a:r>
                      <a:endParaRPr lang="ko-KR" altLang="en-US" sz="1400" b="0" dirty="0">
                        <a:latin typeface="+mj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216867"/>
                  </a:ext>
                </a:extLst>
              </a:tr>
              <a:tr h="7740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2. </a:t>
                      </a:r>
                      <a:r>
                        <a:rPr lang="ko-KR" altLang="en-US" sz="1400" b="1" dirty="0"/>
                        <a:t>회귀 분석 기법 선정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 latinLnBrk="1">
                        <a:buFontTx/>
                        <a:buChar char="-"/>
                      </a:pPr>
                      <a:r>
                        <a:rPr lang="ko-KR" altLang="en-US" sz="1400" b="0" dirty="0"/>
                        <a:t>기본 모델</a:t>
                      </a:r>
                      <a:r>
                        <a:rPr lang="en-US" altLang="ko-KR" sz="1400" b="0" dirty="0"/>
                        <a:t> </a:t>
                      </a:r>
                      <a:r>
                        <a:rPr lang="ko-KR" altLang="en-US" sz="1400" b="0" dirty="0"/>
                        <a:t>선형 회귀</a:t>
                      </a:r>
                      <a:r>
                        <a:rPr lang="en-US" altLang="ko-KR" sz="1400" b="0" dirty="0"/>
                        <a:t>(Linear Regression)</a:t>
                      </a:r>
                    </a:p>
                    <a:p>
                      <a:pPr marL="285750" indent="-285750" algn="l" latinLnBrk="1">
                        <a:buFontTx/>
                        <a:buChar char="-"/>
                      </a:pPr>
                      <a:r>
                        <a:rPr lang="ko-KR" altLang="en-US" sz="1400" b="0" dirty="0"/>
                        <a:t>고급 모델 </a:t>
                      </a:r>
                      <a:r>
                        <a:rPr lang="en-US" altLang="ko-KR" sz="1400" b="0" dirty="0"/>
                        <a:t>: </a:t>
                      </a:r>
                      <a:r>
                        <a:rPr lang="en-US" altLang="ko-KR" sz="1400" b="0" dirty="0" err="1"/>
                        <a:t>XGBoost</a:t>
                      </a:r>
                      <a:r>
                        <a:rPr lang="en-US" altLang="ko-KR" sz="1400" b="0" dirty="0"/>
                        <a:t>, </a:t>
                      </a:r>
                      <a:r>
                        <a:rPr lang="en-US" altLang="ko-KR" sz="1400" b="0" dirty="0" err="1"/>
                        <a:t>LightGBM</a:t>
                      </a:r>
                      <a:r>
                        <a:rPr lang="en-US" altLang="ko-KR" sz="1400" b="0" dirty="0"/>
                        <a:t>, Random Forest </a:t>
                      </a:r>
                    </a:p>
                    <a:p>
                      <a:pPr marL="285750" indent="-285750" algn="l" latinLnBrk="1">
                        <a:buFontTx/>
                        <a:buChar char="-"/>
                      </a:pPr>
                      <a:r>
                        <a:rPr lang="ko-KR" altLang="en-US" sz="1400" b="0" dirty="0"/>
                        <a:t>활용 방식 </a:t>
                      </a:r>
                      <a:r>
                        <a:rPr lang="en-US" altLang="ko-KR" sz="1400" b="0" dirty="0"/>
                        <a:t>: </a:t>
                      </a:r>
                      <a:r>
                        <a:rPr lang="ko-KR" altLang="en-US" sz="1400" b="0" dirty="0"/>
                        <a:t>예시</a:t>
                      </a:r>
                      <a:r>
                        <a:rPr lang="en-US" altLang="ko-KR" sz="1400" b="0" dirty="0"/>
                        <a:t>) </a:t>
                      </a:r>
                      <a:r>
                        <a:rPr lang="ko-KR" altLang="en-US" sz="1400" b="0" dirty="0" err="1"/>
                        <a:t>상황키워드</a:t>
                      </a:r>
                      <a:r>
                        <a:rPr lang="ko-KR" altLang="en-US" sz="1400" b="0" dirty="0"/>
                        <a:t> </a:t>
                      </a:r>
                      <a:r>
                        <a:rPr lang="en-US" altLang="ko-KR" sz="1400" b="0" dirty="0"/>
                        <a:t>+ </a:t>
                      </a:r>
                      <a:r>
                        <a:rPr lang="ko-KR" altLang="en-US" sz="1400" b="0" dirty="0"/>
                        <a:t>신체질환 </a:t>
                      </a:r>
                      <a:r>
                        <a:rPr lang="en-US" altLang="ko-KR" sz="1400" b="0" dirty="0"/>
                        <a:t>+ </a:t>
                      </a:r>
                      <a:r>
                        <a:rPr lang="ko-KR" altLang="en-US" sz="1400" b="0" dirty="0"/>
                        <a:t>감정 상태 → 상담사 매칭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7265552"/>
                  </a:ext>
                </a:extLst>
              </a:tr>
              <a:tr h="21502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3. </a:t>
                      </a:r>
                      <a:r>
                        <a:rPr lang="ko-KR" altLang="en-US" sz="1400" b="1" dirty="0"/>
                        <a:t>분석 절차 및 프로세스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1)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문제 정의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(Problem Definition)</a:t>
                      </a:r>
                      <a:b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2)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데이터 수집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(Data Collection)</a:t>
                      </a:r>
                      <a:b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3)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데이터 </a:t>
                      </a:r>
                      <a:r>
                        <a:rPr lang="ko-KR" altLang="en-US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전처리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(Data Preprocessing)</a:t>
                      </a:r>
                      <a:b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4)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탐색적 데이터 분석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(EDA)</a:t>
                      </a:r>
                      <a:b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5)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데이터 분할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(Train/Test Split)</a:t>
                      </a:r>
                      <a:b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6)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모델 선택 및 학습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(Model Training)</a:t>
                      </a:r>
                      <a:b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7)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모델 평가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(Model Evaluation)</a:t>
                      </a:r>
                      <a:b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8)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모델 개선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(Model Optimization)</a:t>
                      </a:r>
                      <a:b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9)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모델 배포 및 활용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(Deployment)</a:t>
                      </a:r>
                      <a:endParaRPr lang="ko-KR" altLang="en-US" sz="14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8073282"/>
                  </a:ext>
                </a:extLst>
              </a:tr>
              <a:tr h="7740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4. </a:t>
                      </a:r>
                      <a:r>
                        <a:rPr lang="ko-KR" altLang="en-US" sz="1400" b="1" dirty="0"/>
                        <a:t>분석 도구 및 환경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 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언어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라이브러리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Python (scikit-learn, </a:t>
                      </a:r>
                      <a:r>
                        <a:rPr lang="en-US" altLang="ko-KR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XGBoost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LightGBM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br>
                        <a:rPr lang="en-US" altLang="ko-KR" sz="1400" b="0" dirty="0"/>
                      </a:b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 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환경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altLang="ko-KR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Jupyter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Notebook, </a:t>
                      </a:r>
                      <a:r>
                        <a:rPr lang="en-US" altLang="ko-KR" sz="14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Colab</a:t>
                      </a:r>
                      <a:br>
                        <a:rPr lang="en-US" altLang="ko-KR" sz="1400" b="0" dirty="0"/>
                      </a:b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 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시각화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matplotlib, seaborn</a:t>
                      </a:r>
                      <a:endParaRPr lang="ko-KR" altLang="en-US" sz="14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36897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4286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3. </a:t>
            </a:r>
            <a:r>
              <a:rPr kumimoji="0" lang="ko-KR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빅데이터 분석 데이터 탐색 기획하기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4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C98DAED-CD4A-46A2-8B69-6743B67D7B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6727659"/>
              </p:ext>
            </p:extLst>
          </p:nvPr>
        </p:nvGraphicFramePr>
        <p:xfrm>
          <a:off x="842784" y="2269958"/>
          <a:ext cx="10671035" cy="374359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930736">
                  <a:extLst>
                    <a:ext uri="{9D8B030D-6E8A-4147-A177-3AD203B41FA5}">
                      <a16:colId xmlns:a16="http://schemas.microsoft.com/office/drawing/2014/main" val="821002484"/>
                    </a:ext>
                  </a:extLst>
                </a:gridCol>
                <a:gridCol w="8740299">
                  <a:extLst>
                    <a:ext uri="{9D8B030D-6E8A-4147-A177-3AD203B41FA5}">
                      <a16:colId xmlns:a16="http://schemas.microsoft.com/office/drawing/2014/main" val="512782864"/>
                    </a:ext>
                  </a:extLst>
                </a:gridCol>
              </a:tblGrid>
              <a:tr h="13827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5. 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성능 평가 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- Accuracy 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정확도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br>
                        <a:rPr lang="en-US" altLang="ko-KR" sz="14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- Precision / Recall / F1-score (macro/weighted,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감정 불균형 고려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br>
                        <a:rPr lang="en-US" altLang="ko-KR" sz="14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- ROC-AUC 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다중 클래스 감정 분류 성능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br>
                        <a:rPr lang="en-US" altLang="ko-KR" sz="14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- Confusion Matrix 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클래스별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오분류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현황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altLang="ko-KR" sz="14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3191752551"/>
                  </a:ext>
                </a:extLst>
              </a:tr>
              <a:tr h="11804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6. 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기대 효과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상담 전 사용자의 감정 상태를 신속</a:t>
                      </a:r>
                      <a:r>
                        <a:rPr lang="en-US" altLang="ko-KR" sz="1400" dirty="0"/>
                        <a:t>·</a:t>
                      </a:r>
                      <a:r>
                        <a:rPr lang="ko-KR" altLang="en-US" sz="1400" dirty="0"/>
                        <a:t>정확히 파악하여 상담 품질 향상</a:t>
                      </a:r>
                      <a:br>
                        <a:rPr lang="ko-KR" altLang="en-US" sz="1400" dirty="0"/>
                      </a:br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부정적 감정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분노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불안 등</a:t>
                      </a:r>
                      <a:r>
                        <a:rPr lang="en-US" altLang="ko-KR" sz="1400" dirty="0"/>
                        <a:t>) </a:t>
                      </a:r>
                      <a:r>
                        <a:rPr lang="ko-KR" altLang="en-US" sz="1400" dirty="0"/>
                        <a:t>예측 시 즉각적 맞춤형 상담사 연결 가능</a:t>
                      </a:r>
                      <a:br>
                        <a:rPr lang="ko-KR" altLang="en-US" sz="1400" dirty="0"/>
                      </a:br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연령</a:t>
                      </a:r>
                      <a:r>
                        <a:rPr lang="en-US" altLang="ko-KR" sz="1400" dirty="0"/>
                        <a:t>·</a:t>
                      </a:r>
                      <a:r>
                        <a:rPr lang="ko-KR" altLang="en-US" sz="1400" dirty="0"/>
                        <a:t>성별</a:t>
                      </a:r>
                      <a:r>
                        <a:rPr lang="en-US" altLang="ko-KR" sz="1400" dirty="0"/>
                        <a:t>·</a:t>
                      </a:r>
                      <a:r>
                        <a:rPr lang="ko-KR" altLang="en-US" sz="1400" dirty="0"/>
                        <a:t>질환을 고려한 상담사 배치 → 개인 맞춤 상담 경험 제공</a:t>
                      </a:r>
                      <a:br>
                        <a:rPr lang="ko-KR" altLang="en-US" sz="1400" dirty="0"/>
                      </a:br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상담 센터 운영 효율성 증대 및 서비스 신뢰도 강화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3156464"/>
                  </a:ext>
                </a:extLst>
              </a:tr>
              <a:tr h="118041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7. 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결론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1" dirty="0"/>
                        <a:t>분류 기반 모델</a:t>
                      </a:r>
                      <a:r>
                        <a:rPr lang="ko-KR" altLang="en-US" sz="1400" dirty="0"/>
                        <a:t>을 통해 사용자 리뷰와 특성을 분석하여 감정 상태를 예측하고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이를 토대로 맞춤형 상담사를 추천하는 기획을 제시하였다</a:t>
                      </a:r>
                      <a:r>
                        <a:rPr lang="en-US" altLang="ko-KR" sz="1400" dirty="0"/>
                        <a:t>. </a:t>
                      </a:r>
                      <a:r>
                        <a:rPr lang="ko-KR" altLang="en-US" sz="1400" dirty="0"/>
                        <a:t>운영 단계에서는 </a:t>
                      </a:r>
                      <a:r>
                        <a:rPr lang="ko-KR" altLang="en-US" sz="1400" b="1" dirty="0"/>
                        <a:t>불균형 데이터 처리</a:t>
                      </a:r>
                      <a:r>
                        <a:rPr lang="en-US" altLang="ko-KR" sz="1400" b="1" dirty="0"/>
                        <a:t>(SMOTE </a:t>
                      </a:r>
                      <a:r>
                        <a:rPr lang="ko-KR" altLang="en-US" sz="1400" b="1" dirty="0"/>
                        <a:t>등</a:t>
                      </a:r>
                      <a:r>
                        <a:rPr lang="en-US" altLang="ko-KR" sz="1400" b="1" dirty="0"/>
                        <a:t>)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b="1" dirty="0"/>
                        <a:t>모델 설명 가능성</a:t>
                      </a:r>
                      <a:r>
                        <a:rPr lang="en-US" altLang="ko-KR" sz="1400" b="1" dirty="0"/>
                        <a:t>(SHAP/LIME)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b="1" dirty="0"/>
                        <a:t>성능 모니터링 및 재학습</a:t>
                      </a:r>
                      <a:r>
                        <a:rPr lang="ko-KR" altLang="en-US" sz="1400" dirty="0"/>
                        <a:t>을 포함하여 지속적으로 관리할 것을 제안한다</a:t>
                      </a:r>
                      <a:r>
                        <a:rPr lang="en-US" altLang="ko-KR" sz="1400" dirty="0"/>
                        <a:t>.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97026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9965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altLang="ko-KR" dirty="0">
                <a:solidFill>
                  <a:prstClr val="black"/>
                </a:solidFill>
                <a:ea typeface="맑은 고딕" panose="020B0503020000020004" pitchFamily="50" charset="-127"/>
              </a:rPr>
              <a:t>4. </a:t>
            </a:r>
            <a:r>
              <a:rPr lang="ko-KR" altLang="en-US" i="0" dirty="0">
                <a:solidFill>
                  <a:srgbClr val="000000"/>
                </a:solidFill>
                <a:effectLst/>
              </a:rPr>
              <a:t>빅데이터 분석 모델링 기획하기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4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88F0DEC-04F5-4D36-B967-C36694A8A7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3868134"/>
              </p:ext>
            </p:extLst>
          </p:nvPr>
        </p:nvGraphicFramePr>
        <p:xfrm>
          <a:off x="1007390" y="1950280"/>
          <a:ext cx="10506429" cy="443932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900953">
                  <a:extLst>
                    <a:ext uri="{9D8B030D-6E8A-4147-A177-3AD203B41FA5}">
                      <a16:colId xmlns:a16="http://schemas.microsoft.com/office/drawing/2014/main" val="2384602235"/>
                    </a:ext>
                  </a:extLst>
                </a:gridCol>
                <a:gridCol w="8605476">
                  <a:extLst>
                    <a:ext uri="{9D8B030D-6E8A-4147-A177-3AD203B41FA5}">
                      <a16:colId xmlns:a16="http://schemas.microsoft.com/office/drawing/2014/main" val="3315929628"/>
                    </a:ext>
                  </a:extLst>
                </a:gridCol>
              </a:tblGrid>
              <a:tr h="49708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내용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9644202"/>
                  </a:ext>
                </a:extLst>
              </a:tr>
              <a:tr h="6155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1. </a:t>
                      </a:r>
                      <a:r>
                        <a:rPr lang="ko-KR" altLang="en-US" sz="1400" b="1" dirty="0"/>
                        <a:t>모델링 목적 및 접근 방법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사용자 리뷰와 특성을 활용하여 상담자의 감정 상태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분노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불안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우울 등</a:t>
                      </a:r>
                      <a:r>
                        <a:rPr lang="en-US" altLang="ko-KR" sz="1400" dirty="0"/>
                        <a:t>)</a:t>
                      </a:r>
                      <a:r>
                        <a:rPr lang="ko-KR" altLang="en-US" sz="1400" dirty="0"/>
                        <a:t>를 분류</a:t>
                      </a:r>
                      <a:br>
                        <a:rPr lang="ko-KR" altLang="en-US" sz="1400" dirty="0"/>
                      </a:br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지도학습 기반 감정 분류 모델을 설계하고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이를 토대로 맞춤형 상담사 추천 알고리즘 개발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216867"/>
                  </a:ext>
                </a:extLst>
              </a:tr>
              <a:tr h="11338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2. </a:t>
                      </a:r>
                      <a:r>
                        <a:rPr lang="ko-KR" altLang="en-US" sz="1400" b="1" dirty="0"/>
                        <a:t>후보 기법 및 선정 근거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400" dirty="0"/>
                        <a:t>- </a:t>
                      </a:r>
                      <a:r>
                        <a:rPr lang="ko-KR" altLang="en-US" sz="1400" b="1" dirty="0"/>
                        <a:t>로지스틱 회귀</a:t>
                      </a:r>
                      <a:r>
                        <a:rPr lang="en-US" altLang="ko-KR" sz="1400" b="1" dirty="0"/>
                        <a:t>(Logistic Regression)</a:t>
                      </a:r>
                      <a:r>
                        <a:rPr lang="en-US" altLang="ko-KR" sz="1400" dirty="0"/>
                        <a:t>: </a:t>
                      </a:r>
                      <a:r>
                        <a:rPr lang="ko-KR" altLang="en-US" sz="1400" dirty="0"/>
                        <a:t>기본적인 감정 분류 및 해석 용이</a:t>
                      </a:r>
                      <a:br>
                        <a:rPr lang="ko-KR" altLang="en-US" sz="1400" dirty="0"/>
                      </a:br>
                      <a:r>
                        <a:rPr lang="en-US" altLang="ko-KR" sz="1400" dirty="0"/>
                        <a:t>- </a:t>
                      </a:r>
                      <a:r>
                        <a:rPr lang="ko-KR" altLang="en-US" sz="1400" b="1" dirty="0"/>
                        <a:t>랜덤 포레스트</a:t>
                      </a:r>
                      <a:r>
                        <a:rPr lang="en-US" altLang="ko-KR" sz="1400" b="1" dirty="0"/>
                        <a:t>(Random Forest)</a:t>
                      </a:r>
                      <a:r>
                        <a:rPr lang="en-US" altLang="ko-KR" sz="1400" dirty="0"/>
                        <a:t>: </a:t>
                      </a:r>
                      <a:r>
                        <a:rPr lang="ko-KR" altLang="en-US" sz="1400" dirty="0"/>
                        <a:t>비선형 관계 학습과 변수 중요도 분석에 강점</a:t>
                      </a:r>
                      <a:br>
                        <a:rPr lang="ko-KR" altLang="en-US" sz="1400" dirty="0"/>
                      </a:br>
                      <a:r>
                        <a:rPr lang="en-US" altLang="ko-KR" sz="1400" dirty="0"/>
                        <a:t>- </a:t>
                      </a:r>
                      <a:r>
                        <a:rPr lang="en-US" altLang="ko-KR" sz="1400" b="1" dirty="0" err="1"/>
                        <a:t>XGBoost</a:t>
                      </a:r>
                      <a:r>
                        <a:rPr lang="en-US" altLang="ko-KR" sz="1400" b="1" dirty="0"/>
                        <a:t>/</a:t>
                      </a:r>
                      <a:r>
                        <a:rPr lang="en-US" altLang="ko-KR" sz="1400" b="1" dirty="0" err="1"/>
                        <a:t>LightGBM</a:t>
                      </a:r>
                      <a:r>
                        <a:rPr lang="en-US" altLang="ko-KR" sz="1400" dirty="0"/>
                        <a:t>: </a:t>
                      </a:r>
                      <a:r>
                        <a:rPr lang="ko-KR" altLang="en-US" sz="1400" dirty="0"/>
                        <a:t>대규모 데이터와 복잡한 패턴 학습에 강점</a:t>
                      </a:r>
                      <a:br>
                        <a:rPr lang="ko-KR" altLang="en-US" sz="1400" dirty="0"/>
                      </a:br>
                      <a:r>
                        <a:rPr lang="ko-KR" altLang="en-US" sz="1400" dirty="0"/>
                        <a:t>→ </a:t>
                      </a:r>
                      <a:r>
                        <a:rPr lang="ko-KR" altLang="en-US" sz="1400" b="1" dirty="0"/>
                        <a:t>최종적으로 </a:t>
                      </a:r>
                      <a:r>
                        <a:rPr lang="en-US" altLang="ko-KR" sz="1400" b="1" dirty="0"/>
                        <a:t>Random Forest</a:t>
                      </a:r>
                      <a:r>
                        <a:rPr lang="ko-KR" altLang="en-US" sz="1400" dirty="0"/>
                        <a:t> 선정 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정확도와 </a:t>
                      </a:r>
                      <a:r>
                        <a:rPr lang="ko-KR" altLang="en-US" sz="1400" dirty="0" err="1"/>
                        <a:t>해석력</a:t>
                      </a:r>
                      <a:r>
                        <a:rPr lang="ko-KR" altLang="en-US" sz="1400" dirty="0"/>
                        <a:t> 균형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7265552"/>
                  </a:ext>
                </a:extLst>
              </a:tr>
              <a:tr h="13181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3. </a:t>
                      </a:r>
                      <a:r>
                        <a:rPr lang="ko-KR" altLang="en-US" sz="1400" b="1" dirty="0"/>
                        <a:t>데이터 </a:t>
                      </a:r>
                      <a:r>
                        <a:rPr lang="ko-KR" altLang="en-US" sz="1400" b="1" dirty="0" err="1"/>
                        <a:t>전처리</a:t>
                      </a:r>
                      <a:r>
                        <a:rPr lang="ko-KR" altLang="en-US" sz="1400" b="1" dirty="0"/>
                        <a:t> 및 특징 엔지니어링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- </a:t>
                      </a:r>
                      <a:r>
                        <a:rPr lang="ko-KR" altLang="en-US" sz="1400" b="1" dirty="0" err="1"/>
                        <a:t>전처리</a:t>
                      </a:r>
                      <a:r>
                        <a:rPr lang="en-US" altLang="ko-KR" sz="1400" dirty="0"/>
                        <a:t>: </a:t>
                      </a:r>
                      <a:r>
                        <a:rPr lang="ko-KR" altLang="en-US" sz="1400" dirty="0"/>
                        <a:t>이상치 제거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 err="1"/>
                        <a:t>결측치</a:t>
                      </a:r>
                      <a:r>
                        <a:rPr lang="ko-KR" altLang="en-US" sz="1400" dirty="0"/>
                        <a:t> 대체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범주형 변수 인코딩</a:t>
                      </a:r>
                      <a:br>
                        <a:rPr lang="ko-KR" altLang="en-US" sz="1400" dirty="0"/>
                      </a:br>
                      <a:r>
                        <a:rPr lang="en-US" altLang="ko-KR" sz="1400" dirty="0"/>
                        <a:t>- </a:t>
                      </a:r>
                      <a:r>
                        <a:rPr lang="ko-KR" altLang="en-US" sz="1400" b="1" dirty="0"/>
                        <a:t>특징 생성</a:t>
                      </a:r>
                      <a:r>
                        <a:rPr lang="en-US" altLang="ko-KR" sz="1400" dirty="0"/>
                        <a:t>: </a:t>
                      </a:r>
                      <a:r>
                        <a:rPr lang="ko-KR" altLang="en-US" sz="1400" dirty="0"/>
                        <a:t>연령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성별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상황 키워드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신체질환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리뷰 텍스트 </a:t>
                      </a:r>
                      <a:r>
                        <a:rPr lang="ko-KR" altLang="en-US" sz="1400" dirty="0" err="1"/>
                        <a:t>임베딩</a:t>
                      </a:r>
                      <a:br>
                        <a:rPr lang="ko-KR" altLang="en-US" sz="1400" dirty="0"/>
                      </a:br>
                      <a:r>
                        <a:rPr lang="en-US" altLang="ko-KR" sz="1400" dirty="0"/>
                        <a:t>- </a:t>
                      </a:r>
                      <a:r>
                        <a:rPr lang="ko-KR" altLang="en-US" sz="1400" b="1" dirty="0"/>
                        <a:t>차원 축소</a:t>
                      </a:r>
                      <a:r>
                        <a:rPr lang="en-US" altLang="ko-KR" sz="1400" dirty="0"/>
                        <a:t>: TF-IDF / Word2Vec </a:t>
                      </a:r>
                      <a:r>
                        <a:rPr lang="ko-KR" altLang="en-US" sz="1400" dirty="0"/>
                        <a:t>기반 텍스트 벡터 차원 축소</a:t>
                      </a:r>
                      <a:endParaRPr lang="ko-KR" altLang="en-US" sz="14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8073282"/>
                  </a:ext>
                </a:extLst>
              </a:tr>
              <a:tr h="8746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4. </a:t>
                      </a:r>
                      <a:r>
                        <a:rPr lang="ko-KR" altLang="en-US" sz="1400" b="1" dirty="0"/>
                        <a:t>모델 관리 및 운영 계획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dirty="0"/>
                        <a:t>- </a:t>
                      </a:r>
                      <a:r>
                        <a:rPr lang="ko-KR" altLang="en-US" sz="1400" b="1" dirty="0"/>
                        <a:t>모델 관리 체계</a:t>
                      </a:r>
                      <a:r>
                        <a:rPr lang="en-US" altLang="ko-KR" sz="1400" dirty="0"/>
                        <a:t>: </a:t>
                      </a:r>
                      <a:r>
                        <a:rPr lang="ko-KR" altLang="en-US" sz="1400" dirty="0"/>
                        <a:t>모델 </a:t>
                      </a:r>
                      <a:r>
                        <a:rPr lang="ko-KR" altLang="en-US" sz="1400" dirty="0" err="1"/>
                        <a:t>버전별</a:t>
                      </a:r>
                      <a:r>
                        <a:rPr lang="ko-KR" altLang="en-US" sz="1400" dirty="0"/>
                        <a:t> 성능 기록 및 비교</a:t>
                      </a:r>
                      <a:br>
                        <a:rPr lang="ko-KR" altLang="en-US" sz="1400" dirty="0"/>
                      </a:br>
                      <a:r>
                        <a:rPr lang="en-US" altLang="ko-KR" sz="1400" dirty="0"/>
                        <a:t>- </a:t>
                      </a:r>
                      <a:r>
                        <a:rPr lang="ko-KR" altLang="en-US" sz="1400" b="1" dirty="0"/>
                        <a:t>운영 환경</a:t>
                      </a:r>
                      <a:r>
                        <a:rPr lang="en-US" altLang="ko-KR" sz="1400" dirty="0"/>
                        <a:t>: API </a:t>
                      </a:r>
                      <a:r>
                        <a:rPr lang="ko-KR" altLang="en-US" sz="1400" dirty="0"/>
                        <a:t>기반 감정 분석</a:t>
                      </a:r>
                      <a:r>
                        <a:rPr lang="en-US" altLang="ko-KR" sz="1400" dirty="0"/>
                        <a:t>·</a:t>
                      </a:r>
                      <a:r>
                        <a:rPr lang="ko-KR" altLang="en-US" sz="1400" dirty="0"/>
                        <a:t>추천 서비스 제공</a:t>
                      </a:r>
                      <a:br>
                        <a:rPr lang="ko-KR" altLang="en-US" sz="1400" dirty="0"/>
                      </a:br>
                      <a:r>
                        <a:rPr lang="en-US" altLang="ko-KR" sz="1400" dirty="0"/>
                        <a:t>- </a:t>
                      </a:r>
                      <a:r>
                        <a:rPr lang="ko-KR" altLang="en-US" sz="1400" b="1" dirty="0"/>
                        <a:t>모니터링</a:t>
                      </a:r>
                      <a:r>
                        <a:rPr lang="en-US" altLang="ko-KR" sz="1400" dirty="0"/>
                        <a:t>: Accuracy/F1-score </a:t>
                      </a:r>
                      <a:r>
                        <a:rPr lang="ko-KR" altLang="en-US" sz="1400" dirty="0"/>
                        <a:t>추적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주기적 모델 </a:t>
                      </a:r>
                      <a:r>
                        <a:rPr lang="ko-KR" altLang="en-US" sz="1400" dirty="0" err="1"/>
                        <a:t>재학습</a:t>
                      </a:r>
                      <a:endParaRPr lang="ko-KR" altLang="en-US" sz="14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36897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3784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n-US" altLang="ko-KR" dirty="0">
                <a:solidFill>
                  <a:prstClr val="black"/>
                </a:solidFill>
                <a:ea typeface="맑은 고딕" panose="020B0503020000020004" pitchFamily="50" charset="-127"/>
              </a:rPr>
              <a:t>4. </a:t>
            </a:r>
            <a:r>
              <a:rPr lang="ko-KR" altLang="en-US" i="0" dirty="0">
                <a:solidFill>
                  <a:srgbClr val="000000"/>
                </a:solidFill>
                <a:effectLst/>
              </a:rPr>
              <a:t>빅데이터 분석 모델링 기획하기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4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C98DAED-CD4A-46A2-8B69-6743B67D7B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8018876"/>
              </p:ext>
            </p:extLst>
          </p:nvPr>
        </p:nvGraphicFramePr>
        <p:xfrm>
          <a:off x="842784" y="2089810"/>
          <a:ext cx="10671035" cy="4299799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930736">
                  <a:extLst>
                    <a:ext uri="{9D8B030D-6E8A-4147-A177-3AD203B41FA5}">
                      <a16:colId xmlns:a16="http://schemas.microsoft.com/office/drawing/2014/main" val="821002484"/>
                    </a:ext>
                  </a:extLst>
                </a:gridCol>
                <a:gridCol w="8740299">
                  <a:extLst>
                    <a:ext uri="{9D8B030D-6E8A-4147-A177-3AD203B41FA5}">
                      <a16:colId xmlns:a16="http://schemas.microsoft.com/office/drawing/2014/main" val="512782864"/>
                    </a:ext>
                  </a:extLst>
                </a:gridCol>
              </a:tblGrid>
              <a:tr h="13125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5. 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성능 평가 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- Accuracy (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정확도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)</a:t>
                      </a:r>
                      <a:br>
                        <a:rPr lang="en-US" altLang="ko-KR" sz="14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- Precision / Recall / F1-score (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감정 분류 품질 평가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)</a:t>
                      </a:r>
                      <a:br>
                        <a:rPr lang="en-US" altLang="ko-KR" sz="14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- ROC-AUC (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감정 분류 성능 종합 지표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altLang="ko-KR" sz="14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76200" marR="76200" marT="76200" marB="76200" anchor="ctr"/>
                </a:tc>
                <a:extLst>
                  <a:ext uri="{0D108BD9-81ED-4DB2-BD59-A6C34878D82A}">
                    <a16:rowId xmlns:a16="http://schemas.microsoft.com/office/drawing/2014/main" val="3191752551"/>
                  </a:ext>
                </a:extLst>
              </a:tr>
              <a:tr h="17651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6. 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기대 효과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사용자 감정 상태를 정확히 예측하여 상담 만족도 제고</a:t>
                      </a:r>
                      <a:br>
                        <a:rPr lang="ko-KR" altLang="en-US" sz="14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연령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성별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신체질환을 고려한 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맞춤형 상담사 매칭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 가능</a:t>
                      </a:r>
                      <a:br>
                        <a:rPr lang="ko-KR" altLang="en-US" sz="14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상담 센터의 상담사 배치 효율화 및 서비스 품질 향상</a:t>
                      </a:r>
                      <a:br>
                        <a:rPr lang="ko-KR" altLang="en-US" sz="140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-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데이터 기반 상담 서비스 운영 및 정책 수립 근거 제공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3156464"/>
                  </a:ext>
                </a:extLst>
              </a:tr>
              <a:tr h="12220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7. 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결론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>분류 모델 기반 분석 모델링 기획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을 통해 사용자 리뷰와 특성을 분석하여 감정 상태를 예측하고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이를 상담사 추천 서비스에 적용함으로써 개인 맞춤형 상담 경험을 강화할 수 있음을 제시하였다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97026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7935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i="0" dirty="0">
                <a:solidFill>
                  <a:srgbClr val="000000"/>
                </a:solidFill>
                <a:effectLst/>
                <a:latin typeface="-apple-system"/>
              </a:rPr>
              <a:t> </a:t>
            </a:r>
            <a:r>
              <a:rPr lang="en-US" altLang="ko-KR" i="0" dirty="0">
                <a:solidFill>
                  <a:srgbClr val="000000"/>
                </a:solidFill>
                <a:effectLst/>
              </a:rPr>
              <a:t>5. </a:t>
            </a:r>
            <a:r>
              <a:rPr lang="ko-KR" altLang="en-US" i="0" dirty="0">
                <a:solidFill>
                  <a:srgbClr val="000000"/>
                </a:solidFill>
                <a:effectLst/>
                <a:latin typeface="-apple-system"/>
              </a:rPr>
              <a:t>빅데이터 분석 결과 적용 계획하기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5E0C4AB9-2DF5-838A-7831-101C28958028}"/>
              </a:ext>
            </a:extLst>
          </p:cNvPr>
          <p:cNvSpPr txBox="1"/>
          <p:nvPr/>
        </p:nvSpPr>
        <p:spPr>
          <a:xfrm>
            <a:off x="582388" y="925402"/>
            <a:ext cx="11027428" cy="5856476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14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10" name="Table 2">
            <a:extLst>
              <a:ext uri="{FF2B5EF4-FFF2-40B4-BE49-F238E27FC236}">
                <a16:creationId xmlns:a16="http://schemas.microsoft.com/office/drawing/2014/main" id="{14322DBF-105F-440F-B39C-A506593D14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6748909"/>
              </p:ext>
            </p:extLst>
          </p:nvPr>
        </p:nvGraphicFramePr>
        <p:xfrm>
          <a:off x="1049536" y="1667487"/>
          <a:ext cx="10092925" cy="472212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242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00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2813">
                <a:tc>
                  <a:txBody>
                    <a:bodyPr/>
                    <a:lstStyle/>
                    <a:p>
                      <a:pPr algn="ctr"/>
                      <a:r>
                        <a:rPr sz="1100" dirty="0" err="1"/>
                        <a:t>구분</a:t>
                      </a:r>
                      <a:endParaRPr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dirty="0" err="1"/>
                        <a:t>내용</a:t>
                      </a:r>
                      <a:endParaRPr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038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분석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결과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시각화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방안</a:t>
                      </a:r>
                      <a:endParaRPr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dirty="0"/>
                        <a:t>- </a:t>
                      </a:r>
                      <a:r>
                        <a:rPr sz="1100" dirty="0" err="1"/>
                        <a:t>대시보드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구성</a:t>
                      </a:r>
                      <a:r>
                        <a:rPr sz="1100" dirty="0"/>
                        <a:t>: </a:t>
                      </a:r>
                      <a:r>
                        <a:rPr sz="1100" dirty="0" err="1"/>
                        <a:t>연령·성별·신체질환별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감정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분류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현황</a:t>
                      </a:r>
                      <a:r>
                        <a:rPr sz="1100" dirty="0"/>
                        <a:t>, </a:t>
                      </a:r>
                      <a:r>
                        <a:rPr sz="1100" dirty="0" err="1"/>
                        <a:t>주요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감정</a:t>
                      </a:r>
                      <a:r>
                        <a:rPr sz="1100" dirty="0"/>
                        <a:t> TOP 5, </a:t>
                      </a:r>
                      <a:r>
                        <a:rPr sz="1100" dirty="0" err="1"/>
                        <a:t>상담사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매칭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추천률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시각화</a:t>
                      </a:r>
                      <a:endParaRPr sz="1100" dirty="0"/>
                    </a:p>
                    <a:p>
                      <a:pPr algn="l"/>
                      <a:r>
                        <a:rPr sz="1100" dirty="0"/>
                        <a:t>- </a:t>
                      </a:r>
                      <a:r>
                        <a:rPr sz="1100" dirty="0" err="1"/>
                        <a:t>시각화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도구</a:t>
                      </a:r>
                      <a:r>
                        <a:rPr sz="1100" dirty="0"/>
                        <a:t>: Tableau, Power BI, Python(Matplotlib/Seaborn)</a:t>
                      </a:r>
                    </a:p>
                    <a:p>
                      <a:pPr algn="l"/>
                      <a:r>
                        <a:rPr sz="1100" dirty="0"/>
                        <a:t>- </a:t>
                      </a:r>
                      <a:r>
                        <a:rPr sz="1100" dirty="0" err="1"/>
                        <a:t>예시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차트</a:t>
                      </a:r>
                      <a:r>
                        <a:rPr sz="1100" dirty="0"/>
                        <a:t>: </a:t>
                      </a:r>
                      <a:r>
                        <a:rPr sz="1100" dirty="0" err="1"/>
                        <a:t>감정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분포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히트맵</a:t>
                      </a:r>
                      <a:r>
                        <a:rPr sz="1100" dirty="0"/>
                        <a:t>, </a:t>
                      </a:r>
                      <a:r>
                        <a:rPr sz="1100" dirty="0" err="1"/>
                        <a:t>워드클라우드</a:t>
                      </a:r>
                      <a:r>
                        <a:rPr sz="1100" dirty="0"/>
                        <a:t>, </a:t>
                      </a:r>
                      <a:r>
                        <a:rPr sz="1100" dirty="0" err="1"/>
                        <a:t>감정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추세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라인차트</a:t>
                      </a:r>
                      <a:endParaRPr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046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협업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및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실행</a:t>
                      </a:r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계획</a:t>
                      </a:r>
                      <a:endParaRPr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dirty="0"/>
                        <a:t>- </a:t>
                      </a:r>
                      <a:r>
                        <a:rPr sz="1100" dirty="0" err="1"/>
                        <a:t>참여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주체</a:t>
                      </a:r>
                      <a:r>
                        <a:rPr sz="1100" dirty="0"/>
                        <a:t>: </a:t>
                      </a:r>
                      <a:r>
                        <a:rPr sz="1100" dirty="0" err="1"/>
                        <a:t>상담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센터</a:t>
                      </a:r>
                      <a:r>
                        <a:rPr sz="1100" dirty="0"/>
                        <a:t>, </a:t>
                      </a:r>
                      <a:r>
                        <a:rPr sz="1100" dirty="0" err="1"/>
                        <a:t>보건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기관</a:t>
                      </a:r>
                      <a:r>
                        <a:rPr sz="1100" dirty="0"/>
                        <a:t>, </a:t>
                      </a:r>
                      <a:r>
                        <a:rPr sz="1100" dirty="0" err="1"/>
                        <a:t>데이터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분석팀</a:t>
                      </a:r>
                      <a:r>
                        <a:rPr sz="1100" dirty="0"/>
                        <a:t>, </a:t>
                      </a:r>
                      <a:r>
                        <a:rPr sz="1100" dirty="0" err="1"/>
                        <a:t>플랫폼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기업</a:t>
                      </a:r>
                      <a:endParaRPr sz="1100" dirty="0"/>
                    </a:p>
                    <a:p>
                      <a:pPr algn="l"/>
                      <a:r>
                        <a:rPr sz="1100" dirty="0"/>
                        <a:t>- </a:t>
                      </a:r>
                      <a:r>
                        <a:rPr sz="1100" dirty="0" err="1"/>
                        <a:t>역할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분담</a:t>
                      </a:r>
                      <a:r>
                        <a:rPr sz="1100" dirty="0"/>
                        <a:t>: </a:t>
                      </a:r>
                      <a:r>
                        <a:rPr sz="1100" dirty="0" err="1"/>
                        <a:t>데이터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제공</a:t>
                      </a:r>
                      <a:r>
                        <a:rPr sz="1100" dirty="0"/>
                        <a:t>(), </a:t>
                      </a:r>
                      <a:r>
                        <a:rPr sz="1100" dirty="0" err="1"/>
                        <a:t>모델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구축</a:t>
                      </a:r>
                      <a:r>
                        <a:rPr sz="1100" dirty="0"/>
                        <a:t>(</a:t>
                      </a:r>
                      <a:r>
                        <a:rPr sz="1100" dirty="0" err="1"/>
                        <a:t>분석팀</a:t>
                      </a:r>
                      <a:r>
                        <a:rPr sz="1100" dirty="0"/>
                        <a:t>), </a:t>
                      </a:r>
                      <a:r>
                        <a:rPr sz="1100" dirty="0" err="1"/>
                        <a:t>서비스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운영</a:t>
                      </a:r>
                      <a:r>
                        <a:rPr sz="1100" dirty="0"/>
                        <a:t>(</a:t>
                      </a:r>
                      <a:r>
                        <a:rPr sz="1100" dirty="0" err="1"/>
                        <a:t>플랫폼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기업</a:t>
                      </a:r>
                      <a:r>
                        <a:rPr sz="1100" dirty="0"/>
                        <a:t>)</a:t>
                      </a:r>
                    </a:p>
                    <a:p>
                      <a:pPr algn="l"/>
                      <a:r>
                        <a:rPr sz="1100" dirty="0"/>
                        <a:t>- </a:t>
                      </a:r>
                      <a:r>
                        <a:rPr sz="1100" dirty="0" err="1"/>
                        <a:t>협업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방식</a:t>
                      </a:r>
                      <a:r>
                        <a:rPr sz="1100" dirty="0"/>
                        <a:t>: </a:t>
                      </a:r>
                      <a:r>
                        <a:rPr sz="1100" dirty="0" err="1"/>
                        <a:t>정기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회의</a:t>
                      </a:r>
                      <a:r>
                        <a:rPr sz="1100" dirty="0"/>
                        <a:t>, </a:t>
                      </a:r>
                      <a:r>
                        <a:rPr sz="1100" dirty="0" err="1"/>
                        <a:t>공유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대시보드</a:t>
                      </a:r>
                      <a:r>
                        <a:rPr sz="1100" dirty="0"/>
                        <a:t>, API </a:t>
                      </a:r>
                      <a:r>
                        <a:rPr sz="1100" dirty="0" err="1"/>
                        <a:t>기반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통합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관리</a:t>
                      </a:r>
                      <a:endParaRPr sz="1100" dirty="0"/>
                    </a:p>
                    <a:p>
                      <a:pPr algn="l"/>
                      <a:r>
                        <a:rPr sz="1100" dirty="0"/>
                        <a:t>- </a:t>
                      </a:r>
                      <a:r>
                        <a:rPr sz="1100" dirty="0" err="1"/>
                        <a:t>보고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체계</a:t>
                      </a:r>
                      <a:r>
                        <a:rPr sz="1100" dirty="0"/>
                        <a:t>: </a:t>
                      </a:r>
                      <a:r>
                        <a:rPr sz="1100" dirty="0" err="1"/>
                        <a:t>월간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상담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성과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보고</a:t>
                      </a:r>
                      <a:r>
                        <a:rPr sz="1100" dirty="0"/>
                        <a:t> 및 </a:t>
                      </a:r>
                      <a:r>
                        <a:rPr sz="1100" dirty="0" err="1"/>
                        <a:t>분기별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모델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개선안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제시</a:t>
                      </a:r>
                      <a:endParaRPr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04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tx1"/>
                          </a:solidFill>
                        </a:rPr>
                        <a:t>3. 비즈니스 적용 전략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dirty="0"/>
                        <a:t>- </a:t>
                      </a:r>
                      <a:r>
                        <a:rPr sz="1100" dirty="0" err="1"/>
                        <a:t>서비스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단계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적용</a:t>
                      </a:r>
                      <a:r>
                        <a:rPr sz="1100" dirty="0"/>
                        <a:t>:</a:t>
                      </a:r>
                    </a:p>
                    <a:p>
                      <a:pPr algn="l"/>
                      <a:r>
                        <a:rPr sz="1100" dirty="0"/>
                        <a:t>① </a:t>
                      </a:r>
                      <a:r>
                        <a:rPr sz="1100" dirty="0" err="1"/>
                        <a:t>시범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운영</a:t>
                      </a:r>
                      <a:r>
                        <a:rPr sz="1100" dirty="0"/>
                        <a:t>: </a:t>
                      </a:r>
                      <a:r>
                        <a:rPr sz="1100" dirty="0" err="1"/>
                        <a:t>특정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대상군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중심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서비스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제공</a:t>
                      </a:r>
                      <a:endParaRPr sz="1100" dirty="0"/>
                    </a:p>
                    <a:p>
                      <a:pPr algn="l"/>
                      <a:r>
                        <a:rPr sz="1100" dirty="0"/>
                        <a:t>② </a:t>
                      </a:r>
                      <a:r>
                        <a:rPr sz="1100" dirty="0" err="1"/>
                        <a:t>데이터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확대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적용</a:t>
                      </a:r>
                      <a:r>
                        <a:rPr sz="1100" dirty="0"/>
                        <a:t>: </a:t>
                      </a:r>
                      <a:r>
                        <a:rPr sz="1100" dirty="0" err="1"/>
                        <a:t>상담</a:t>
                      </a:r>
                      <a:r>
                        <a:rPr sz="1100" dirty="0"/>
                        <a:t> + </a:t>
                      </a:r>
                      <a:r>
                        <a:rPr sz="1100" dirty="0" err="1"/>
                        <a:t>건강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데이터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연계</a:t>
                      </a:r>
                      <a:endParaRPr sz="1100" dirty="0"/>
                    </a:p>
                    <a:p>
                      <a:pPr algn="l"/>
                      <a:r>
                        <a:rPr sz="1100" dirty="0"/>
                        <a:t>③ </a:t>
                      </a:r>
                      <a:r>
                        <a:rPr sz="1100" dirty="0" err="1"/>
                        <a:t>전국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서비스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확장</a:t>
                      </a:r>
                      <a:r>
                        <a:rPr sz="1100" dirty="0"/>
                        <a:t>: </a:t>
                      </a:r>
                      <a:r>
                        <a:rPr sz="1100" dirty="0" err="1"/>
                        <a:t>주요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센터에서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전국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단위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확대</a:t>
                      </a:r>
                      <a:endParaRPr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03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tx1"/>
                          </a:solidFill>
                        </a:rPr>
                        <a:t>4. 응용 프로그램 연계 방안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dirty="0"/>
                        <a:t>- 웹 </a:t>
                      </a:r>
                      <a:r>
                        <a:rPr sz="1100" dirty="0" err="1"/>
                        <a:t>플랫폼</a:t>
                      </a:r>
                      <a:r>
                        <a:rPr sz="1100" dirty="0"/>
                        <a:t>: </a:t>
                      </a:r>
                      <a:r>
                        <a:rPr sz="1100" dirty="0" err="1"/>
                        <a:t>상담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관리자</a:t>
                      </a:r>
                      <a:r>
                        <a:rPr sz="1100" dirty="0"/>
                        <a:t>/</a:t>
                      </a:r>
                      <a:r>
                        <a:rPr sz="1100" dirty="0" err="1"/>
                        <a:t>상담사가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현황</a:t>
                      </a:r>
                      <a:r>
                        <a:rPr sz="1100" dirty="0"/>
                        <a:t> 및 </a:t>
                      </a:r>
                      <a:r>
                        <a:rPr sz="1100" dirty="0" err="1"/>
                        <a:t>결과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확인</a:t>
                      </a:r>
                      <a:endParaRPr sz="1100" dirty="0"/>
                    </a:p>
                    <a:p>
                      <a:pPr algn="l"/>
                      <a:r>
                        <a:rPr sz="1100" dirty="0"/>
                        <a:t>- </a:t>
                      </a:r>
                      <a:r>
                        <a:rPr sz="1100" dirty="0" err="1"/>
                        <a:t>외부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서비스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연계</a:t>
                      </a:r>
                      <a:r>
                        <a:rPr sz="1100" dirty="0"/>
                        <a:t>: </a:t>
                      </a:r>
                      <a:r>
                        <a:rPr sz="1100" dirty="0" err="1"/>
                        <a:t>의료기관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예약</a:t>
                      </a:r>
                      <a:r>
                        <a:rPr sz="1100" dirty="0"/>
                        <a:t>/</a:t>
                      </a:r>
                      <a:r>
                        <a:rPr sz="1100" dirty="0" err="1"/>
                        <a:t>보건</a:t>
                      </a:r>
                      <a:r>
                        <a:rPr sz="1100" dirty="0"/>
                        <a:t> API/</a:t>
                      </a:r>
                      <a:r>
                        <a:rPr sz="1100" dirty="0" err="1"/>
                        <a:t>정신건강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서비스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연동</a:t>
                      </a:r>
                      <a:endParaRPr sz="1100" dirty="0"/>
                    </a:p>
                    <a:p>
                      <a:pPr algn="l"/>
                      <a:r>
                        <a:rPr sz="1100" dirty="0"/>
                        <a:t>- </a:t>
                      </a:r>
                      <a:r>
                        <a:rPr sz="1100" dirty="0" err="1"/>
                        <a:t>실시간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업데이트</a:t>
                      </a:r>
                      <a:r>
                        <a:rPr sz="1100" dirty="0"/>
                        <a:t>: </a:t>
                      </a:r>
                      <a:r>
                        <a:rPr sz="1100" dirty="0" err="1"/>
                        <a:t>스트리밍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데이터로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즉시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반영</a:t>
                      </a:r>
                      <a:endParaRPr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04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chemeClr val="tx1"/>
                          </a:solidFill>
                        </a:rPr>
                        <a:t>5. 기대 효과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dirty="0"/>
                        <a:t>- </a:t>
                      </a:r>
                      <a:r>
                        <a:rPr sz="1100" dirty="0" err="1"/>
                        <a:t>상담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만족도</a:t>
                      </a:r>
                      <a:r>
                        <a:rPr sz="1100" dirty="0"/>
                        <a:t> 및 </a:t>
                      </a:r>
                      <a:r>
                        <a:rPr sz="1100" dirty="0" err="1"/>
                        <a:t>편의성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향상</a:t>
                      </a:r>
                      <a:endParaRPr sz="1100" dirty="0"/>
                    </a:p>
                    <a:p>
                      <a:pPr algn="l"/>
                      <a:r>
                        <a:rPr sz="1100" dirty="0"/>
                        <a:t>- </a:t>
                      </a:r>
                      <a:r>
                        <a:rPr sz="1100" dirty="0" err="1"/>
                        <a:t>위기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사용자</a:t>
                      </a:r>
                      <a:r>
                        <a:rPr sz="1100" dirty="0"/>
                        <a:t>(</a:t>
                      </a:r>
                      <a:r>
                        <a:rPr sz="1100" dirty="0" err="1"/>
                        <a:t>분노·우울</a:t>
                      </a:r>
                      <a:r>
                        <a:rPr sz="1100" dirty="0"/>
                        <a:t> 등) </a:t>
                      </a:r>
                      <a:r>
                        <a:rPr sz="1100" dirty="0" err="1"/>
                        <a:t>조기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파악</a:t>
                      </a:r>
                      <a:r>
                        <a:rPr sz="1100" dirty="0"/>
                        <a:t> 및 </a:t>
                      </a:r>
                      <a:r>
                        <a:rPr sz="1100" dirty="0" err="1"/>
                        <a:t>맞춤형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상담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제공</a:t>
                      </a:r>
                      <a:endParaRPr sz="1100" dirty="0"/>
                    </a:p>
                    <a:p>
                      <a:pPr algn="l"/>
                      <a:r>
                        <a:rPr sz="1100" dirty="0"/>
                        <a:t>- </a:t>
                      </a:r>
                      <a:r>
                        <a:rPr sz="1100" dirty="0" err="1"/>
                        <a:t>상담사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배치</a:t>
                      </a:r>
                      <a:r>
                        <a:rPr sz="1100" dirty="0"/>
                        <a:t> 및 </a:t>
                      </a:r>
                      <a:r>
                        <a:rPr sz="1100" dirty="0" err="1"/>
                        <a:t>인력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관리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효율화</a:t>
                      </a:r>
                      <a:endParaRPr sz="1100" dirty="0"/>
                    </a:p>
                    <a:p>
                      <a:pPr algn="l"/>
                      <a:r>
                        <a:rPr sz="1100" dirty="0"/>
                        <a:t>- </a:t>
                      </a:r>
                      <a:r>
                        <a:rPr sz="1100" dirty="0" err="1"/>
                        <a:t>데이터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기반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정신건강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관리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혁신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촉진</a:t>
                      </a:r>
                      <a:endParaRPr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6096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tx1"/>
                          </a:solidFill>
                        </a:rPr>
                        <a:t>6. </a:t>
                      </a:r>
                      <a:r>
                        <a:rPr sz="1100" b="1" dirty="0" err="1">
                          <a:solidFill>
                            <a:schemeClr val="tx1"/>
                          </a:solidFill>
                        </a:rPr>
                        <a:t>결론</a:t>
                      </a:r>
                      <a:endParaRPr sz="11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dirty="0" err="1"/>
                        <a:t>분석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결과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적용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전략을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통해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상담사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추천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알고리즘을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서비스에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적용하는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로드맵을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제시하였다</a:t>
                      </a:r>
                      <a:r>
                        <a:rPr sz="1100" dirty="0"/>
                        <a:t>. </a:t>
                      </a:r>
                      <a:r>
                        <a:rPr sz="1100" dirty="0" err="1"/>
                        <a:t>시각화</a:t>
                      </a:r>
                      <a:r>
                        <a:rPr sz="1100" dirty="0"/>
                        <a:t>, </a:t>
                      </a:r>
                      <a:r>
                        <a:rPr sz="1100" dirty="0" err="1"/>
                        <a:t>협업</a:t>
                      </a:r>
                      <a:r>
                        <a:rPr sz="1100" dirty="0"/>
                        <a:t>, </a:t>
                      </a:r>
                      <a:r>
                        <a:rPr sz="1100" dirty="0" err="1"/>
                        <a:t>단계적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확장</a:t>
                      </a:r>
                      <a:r>
                        <a:rPr sz="1100" dirty="0"/>
                        <a:t>, </a:t>
                      </a:r>
                      <a:r>
                        <a:rPr sz="1100" dirty="0" err="1"/>
                        <a:t>응용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프로그램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연계를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포함하여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지속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가능한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상담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지원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체계를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마련할</a:t>
                      </a:r>
                      <a:r>
                        <a:rPr sz="1100" dirty="0"/>
                        <a:t> 수 </a:t>
                      </a:r>
                      <a:r>
                        <a:rPr sz="1100" dirty="0" err="1"/>
                        <a:t>있으며</a:t>
                      </a:r>
                      <a:r>
                        <a:rPr sz="1100" dirty="0"/>
                        <a:t>, </a:t>
                      </a:r>
                      <a:r>
                        <a:rPr sz="1100" dirty="0" err="1"/>
                        <a:t>사용자와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상담사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모두에게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유의미한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가치를</a:t>
                      </a:r>
                      <a:r>
                        <a:rPr sz="1100" dirty="0"/>
                        <a:t> </a:t>
                      </a:r>
                      <a:r>
                        <a:rPr sz="1100" dirty="0" err="1"/>
                        <a:t>제공할</a:t>
                      </a:r>
                      <a:r>
                        <a:rPr sz="1100" dirty="0"/>
                        <a:t> 수 </a:t>
                      </a:r>
                      <a:r>
                        <a:rPr sz="1100" dirty="0" err="1"/>
                        <a:t>있다</a:t>
                      </a:r>
                      <a:r>
                        <a:rPr sz="1100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30959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2. </a:t>
            </a:r>
            <a:r>
              <a:rPr kumimoji="0" lang="ko-KR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요구사항 명세화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4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1640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9EDF5F-EEC7-7330-11DA-82489AF65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FB105F9C-5F0F-C98D-C444-7E79C05C12A2}"/>
              </a:ext>
            </a:extLst>
          </p:cNvPr>
          <p:cNvSpPr txBox="1">
            <a:spLocks/>
          </p:cNvSpPr>
          <p:nvPr/>
        </p:nvSpPr>
        <p:spPr>
          <a:xfrm>
            <a:off x="982980" y="3100841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감사합니다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254065CC-BAF2-2646-6DC9-CCA2AC58DAD8}"/>
              </a:ext>
            </a:extLst>
          </p:cNvPr>
          <p:cNvSpPr txBox="1">
            <a:spLocks/>
          </p:cNvSpPr>
          <p:nvPr/>
        </p:nvSpPr>
        <p:spPr>
          <a:xfrm>
            <a:off x="838200" y="2051483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5400" dirty="0" err="1">
                <a:solidFill>
                  <a:srgbClr val="2C3930"/>
                </a:solidFill>
              </a:rPr>
              <a:t>astpage</a:t>
            </a:r>
            <a:r>
              <a:rPr lang="en-US" altLang="ko-KR" sz="5400" dirty="0" err="1">
                <a:solidFill>
                  <a:schemeClr val="bg1"/>
                </a:solidFill>
              </a:rPr>
              <a:t>Lastpage</a:t>
            </a:r>
            <a:r>
              <a:rPr lang="en-US" altLang="ko-KR" sz="5400" dirty="0">
                <a:solidFill>
                  <a:schemeClr val="bg1"/>
                </a:solidFill>
              </a:rPr>
              <a:t> Project</a:t>
            </a:r>
            <a:r>
              <a:rPr lang="en-US" altLang="ko-KR" sz="5400" dirty="0">
                <a:solidFill>
                  <a:srgbClr val="2C3930"/>
                </a:solidFill>
              </a:rPr>
              <a:t> </a:t>
            </a:r>
            <a:r>
              <a:rPr lang="en-US" altLang="ko-KR" sz="4800" dirty="0">
                <a:solidFill>
                  <a:srgbClr val="2C3930"/>
                </a:solidFill>
              </a:rPr>
              <a:t>Project</a:t>
            </a:r>
            <a:endParaRPr lang="ko-KR" altLang="en-US" sz="4800" dirty="0">
              <a:solidFill>
                <a:srgbClr val="2C3930"/>
              </a:solidFill>
            </a:endParaRPr>
          </a:p>
        </p:txBody>
      </p:sp>
      <p:pic>
        <p:nvPicPr>
          <p:cNvPr id="9" name="그림 8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31E723E-4DFB-CCF9-FB66-49713820EF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221163"/>
            <a:ext cx="807629" cy="8076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A8FCE66-B67E-3DCC-EDC0-BF93D04DBEEA}"/>
              </a:ext>
            </a:extLst>
          </p:cNvPr>
          <p:cNvSpPr txBox="1"/>
          <p:nvPr/>
        </p:nvSpPr>
        <p:spPr>
          <a:xfrm>
            <a:off x="-129540" y="4450080"/>
            <a:ext cx="12420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188F3796-C2DD-4B3B-A779-04A4DEF6B8AF}"/>
              </a:ext>
            </a:extLst>
          </p:cNvPr>
          <p:cNvSpPr txBox="1">
            <a:spLocks/>
          </p:cNvSpPr>
          <p:nvPr/>
        </p:nvSpPr>
        <p:spPr>
          <a:xfrm>
            <a:off x="9707134" y="5409213"/>
            <a:ext cx="2247122" cy="12615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빅데이터</a:t>
            </a:r>
            <a:r>
              <a:rPr lang="en-US" altLang="ko-KR" sz="1400" b="1">
                <a:solidFill>
                  <a:schemeClr val="bg1"/>
                </a:solidFill>
                <a:latin typeface="+mn-ea"/>
              </a:rPr>
              <a:t>UI</a:t>
            </a: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양성과정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손보금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박준형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심예진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5548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2097</TotalTime>
  <Words>1400</Words>
  <Application>Microsoft Office PowerPoint</Application>
  <PresentationFormat>와이드스크린</PresentationFormat>
  <Paragraphs>180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-apple-system</vt:lpstr>
      <vt:lpstr>맑은 고딕</vt:lpstr>
      <vt:lpstr>Arial</vt:lpstr>
      <vt:lpstr>Calibri</vt:lpstr>
      <vt:lpstr>Office 테마</vt:lpstr>
      <vt:lpstr>PowerPoint 프레젠테이션</vt:lpstr>
      <vt:lpstr>INDEX 및 CONTENTS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Cisco 문제 1번 2. Cisco 문제 2번 3. Jdk설치 + 설정 4. Tomcat 설치 + 설정 5. Eclipse 설치 + 설정</dc:title>
  <dc:creator>FullName</dc:creator>
  <cp:lastModifiedBy>FullName</cp:lastModifiedBy>
  <cp:revision>112</cp:revision>
  <dcterms:created xsi:type="dcterms:W3CDTF">2025-08-05T00:27:28Z</dcterms:created>
  <dcterms:modified xsi:type="dcterms:W3CDTF">2025-09-30T07:38:04Z</dcterms:modified>
</cp:coreProperties>
</file>