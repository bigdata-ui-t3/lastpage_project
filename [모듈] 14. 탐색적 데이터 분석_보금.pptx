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7" r:id="rId3"/>
    <p:sldId id="344" r:id="rId4"/>
    <p:sldId id="345" r:id="rId5"/>
    <p:sldId id="347" r:id="rId6"/>
    <p:sldId id="346" r:id="rId7"/>
    <p:sldId id="348" r:id="rId8"/>
    <p:sldId id="286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탐색적 데이터 분석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75542" y="2103098"/>
            <a:ext cx="11256675" cy="37602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데이터 불러오기 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2p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데이터 구조 확인하기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3p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–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4p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자료형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/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메모리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/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결측치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확인하기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5p – 6p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수치형 통계 요약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평균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표준편차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최대값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최소값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사분위수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) 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</a:t>
            </a:r>
            <a:endParaRPr lang="en-US" altLang="ko-KR" sz="15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범주형 통계 요약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총개수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최빈값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등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) 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</a:t>
            </a:r>
            <a:endParaRPr lang="en-US" altLang="ko-KR" sz="15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컬럼별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결측 여부 확인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</a:t>
            </a:r>
            <a:endParaRPr lang="en-US" altLang="ko-KR" sz="15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 err="1">
                <a:solidFill>
                  <a:schemeClr val="bg1"/>
                </a:solidFill>
                <a:latin typeface="+mj-lt"/>
              </a:rPr>
              <a:t>Item_Type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– </a:t>
            </a:r>
            <a:r>
              <a:rPr lang="en-US" altLang="ko-KR" sz="1500" b="1" dirty="0" err="1">
                <a:solidFill>
                  <a:schemeClr val="bg1"/>
                </a:solidFill>
                <a:latin typeface="+mj-lt"/>
              </a:rPr>
              <a:t>Item_Outlet_Sales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값 간의 회귀분석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(OLS) 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</a:t>
            </a:r>
            <a:endParaRPr lang="en-US" altLang="ko-KR" sz="1500" b="1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그래프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</a:t>
            </a:r>
            <a:endParaRPr lang="en-US" altLang="ko-KR" sz="1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라이브러리 및 데이터 불러오기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83BC3C-70BE-4D5B-8223-2C3152406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832" y="2902728"/>
            <a:ext cx="7916380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1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구조 확인하기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D5942C5-C58B-470D-8DC2-22CF76CE8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88" y="2332965"/>
            <a:ext cx="9132446" cy="21687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C902566-B5B0-4912-A163-63ED88F3E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69" y="4540533"/>
            <a:ext cx="9121465" cy="216870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A5782EB-ECE3-493E-B60F-F2157DF081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3873" y="2255884"/>
            <a:ext cx="1762371" cy="800212"/>
          </a:xfrm>
          <a:prstGeom prst="rect">
            <a:avLst/>
          </a:prstGeom>
          <a:ln w="19050">
            <a:solidFill>
              <a:schemeClr val="accent4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867DF6-F42C-4856-9821-2FE094ABBD90}"/>
              </a:ext>
            </a:extLst>
          </p:cNvPr>
          <p:cNvSpPr txBox="1"/>
          <p:nvPr/>
        </p:nvSpPr>
        <p:spPr>
          <a:xfrm>
            <a:off x="661832" y="1597475"/>
            <a:ext cx="9049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train</a:t>
            </a:r>
            <a:r>
              <a:rPr lang="ko-KR" altLang="en-US" sz="1200" dirty="0">
                <a:solidFill>
                  <a:schemeClr val="bg1"/>
                </a:solidFill>
              </a:rPr>
              <a:t>과 </a:t>
            </a:r>
            <a:r>
              <a:rPr lang="en-US" altLang="ko-KR" sz="1200" dirty="0">
                <a:solidFill>
                  <a:schemeClr val="bg1"/>
                </a:solidFill>
              </a:rPr>
              <a:t>test </a:t>
            </a:r>
            <a:r>
              <a:rPr lang="ko-KR" altLang="en-US" sz="1200" dirty="0">
                <a:solidFill>
                  <a:schemeClr val="bg1"/>
                </a:solidFill>
              </a:rPr>
              <a:t>데이터 전체 구조를 확인해봅니다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200" b="1" dirty="0">
                <a:solidFill>
                  <a:schemeClr val="bg1"/>
                </a:solidFill>
              </a:rPr>
              <a:t>Train</a:t>
            </a:r>
            <a:r>
              <a:rPr lang="ko-KR" altLang="en-US" sz="1200" b="1" dirty="0">
                <a:solidFill>
                  <a:schemeClr val="bg1"/>
                </a:solidFill>
              </a:rPr>
              <a:t>은 </a:t>
            </a:r>
            <a:r>
              <a:rPr lang="en-US" altLang="ko-KR" sz="1200" b="1" dirty="0">
                <a:solidFill>
                  <a:schemeClr val="bg1"/>
                </a:solidFill>
              </a:rPr>
              <a:t>12</a:t>
            </a:r>
            <a:r>
              <a:rPr lang="ko-KR" altLang="en-US" sz="1200" b="1" dirty="0">
                <a:solidFill>
                  <a:schemeClr val="bg1"/>
                </a:solidFill>
              </a:rPr>
              <a:t>개의 컬럼과 </a:t>
            </a:r>
            <a:r>
              <a:rPr lang="en-US" altLang="ko-KR" sz="1200" b="1" dirty="0">
                <a:solidFill>
                  <a:schemeClr val="bg1"/>
                </a:solidFill>
              </a:rPr>
              <a:t>6818</a:t>
            </a:r>
            <a:r>
              <a:rPr lang="ko-KR" altLang="en-US" sz="1200" b="1" dirty="0">
                <a:solidFill>
                  <a:schemeClr val="bg1"/>
                </a:solidFill>
              </a:rPr>
              <a:t>개의 행으로 구성되어 있고</a:t>
            </a:r>
            <a:r>
              <a:rPr lang="en-US" altLang="ko-KR" sz="1200" b="1" dirty="0">
                <a:solidFill>
                  <a:schemeClr val="bg1"/>
                </a:solidFill>
              </a:rPr>
              <a:t>, test</a:t>
            </a:r>
            <a:r>
              <a:rPr lang="ko-KR" altLang="en-US" sz="1200" b="1" dirty="0">
                <a:solidFill>
                  <a:schemeClr val="bg1"/>
                </a:solidFill>
              </a:rPr>
              <a:t>는 </a:t>
            </a:r>
            <a:r>
              <a:rPr lang="en-US" altLang="ko-KR" sz="1200" b="1" dirty="0">
                <a:solidFill>
                  <a:schemeClr val="bg1"/>
                </a:solidFill>
              </a:rPr>
              <a:t>11</a:t>
            </a:r>
            <a:r>
              <a:rPr lang="ko-KR" altLang="en-US" sz="1200" b="1" dirty="0">
                <a:solidFill>
                  <a:schemeClr val="bg1"/>
                </a:solidFill>
              </a:rPr>
              <a:t>개의 컬럼과 </a:t>
            </a:r>
            <a:r>
              <a:rPr lang="en-US" altLang="ko-KR" sz="1200" b="1" dirty="0">
                <a:solidFill>
                  <a:schemeClr val="bg1"/>
                </a:solidFill>
              </a:rPr>
              <a:t>1705</a:t>
            </a:r>
            <a:r>
              <a:rPr lang="ko-KR" altLang="en-US" sz="1200" b="1" dirty="0">
                <a:solidFill>
                  <a:schemeClr val="bg1"/>
                </a:solidFill>
              </a:rPr>
              <a:t>개의 행</a:t>
            </a:r>
            <a:r>
              <a:rPr lang="ko-KR" altLang="en-US" sz="1200" dirty="0">
                <a:solidFill>
                  <a:schemeClr val="bg1"/>
                </a:solidFill>
              </a:rPr>
              <a:t>으로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구성되어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200" b="1" dirty="0">
                <a:solidFill>
                  <a:schemeClr val="bg1"/>
                </a:solidFill>
              </a:rPr>
              <a:t>Target</a:t>
            </a:r>
            <a:r>
              <a:rPr lang="ko-KR" altLang="en-US" sz="1200" b="1" dirty="0">
                <a:solidFill>
                  <a:schemeClr val="bg1"/>
                </a:solidFill>
              </a:rPr>
              <a:t>값은 </a:t>
            </a:r>
            <a:r>
              <a:rPr lang="en-US" altLang="ko-KR" sz="1200" b="1" dirty="0">
                <a:solidFill>
                  <a:schemeClr val="bg1"/>
                </a:solidFill>
              </a:rPr>
              <a:t>‘</a:t>
            </a:r>
            <a:r>
              <a:rPr lang="en-US" altLang="ko-KR" sz="1200" b="1" dirty="0" err="1">
                <a:solidFill>
                  <a:schemeClr val="bg1"/>
                </a:solidFill>
              </a:rPr>
              <a:t>Item_Outlet_Sales</a:t>
            </a:r>
            <a:r>
              <a:rPr lang="en-US" altLang="ko-KR" sz="1200" dirty="0">
                <a:solidFill>
                  <a:schemeClr val="bg1"/>
                </a:solidFill>
              </a:rPr>
              <a:t>’ </a:t>
            </a:r>
            <a:r>
              <a:rPr lang="ko-KR" altLang="en-US" sz="1200" dirty="0">
                <a:solidFill>
                  <a:schemeClr val="bg1"/>
                </a:solidFill>
              </a:rPr>
              <a:t>로 잡으면 될 것 같습니다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sz="1200" dirty="0">
              <a:solidFill>
                <a:schemeClr val="bg1"/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96F9484-739E-48CC-9FDA-4D516D0E35F2}"/>
              </a:ext>
            </a:extLst>
          </p:cNvPr>
          <p:cNvCxnSpPr>
            <a:cxnSpLocks/>
          </p:cNvCxnSpPr>
          <p:nvPr/>
        </p:nvCxnSpPr>
        <p:spPr>
          <a:xfrm>
            <a:off x="625669" y="2247251"/>
            <a:ext cx="908530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5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구조 확인하기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상위 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77B1DF-0E5A-4C24-8C63-8BB03C896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42" y="2511613"/>
            <a:ext cx="10631837" cy="16858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C77A50B-19E9-4607-903C-E6094F981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42" y="4422734"/>
            <a:ext cx="10631837" cy="19397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C537255-C0C8-4EC9-B260-1CFCB653E428}"/>
              </a:ext>
            </a:extLst>
          </p:cNvPr>
          <p:cNvSpPr txBox="1"/>
          <p:nvPr/>
        </p:nvSpPr>
        <p:spPr>
          <a:xfrm>
            <a:off x="522350" y="1829947"/>
            <a:ext cx="9049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대표로 상위 </a:t>
            </a:r>
            <a:r>
              <a:rPr lang="en-US" altLang="ko-KR" sz="1200" dirty="0">
                <a:solidFill>
                  <a:schemeClr val="bg1"/>
                </a:solidFill>
              </a:rPr>
              <a:t>5</a:t>
            </a:r>
            <a:r>
              <a:rPr lang="ko-KR" altLang="en-US" sz="1200" dirty="0">
                <a:solidFill>
                  <a:schemeClr val="bg1"/>
                </a:solidFill>
              </a:rPr>
              <a:t>개의 행을 뽑아서 확인해 봅시다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1028C1C-233C-4FEE-9BCD-BCC62F939EC6}"/>
              </a:ext>
            </a:extLst>
          </p:cNvPr>
          <p:cNvCxnSpPr>
            <a:cxnSpLocks/>
          </p:cNvCxnSpPr>
          <p:nvPr/>
        </p:nvCxnSpPr>
        <p:spPr>
          <a:xfrm>
            <a:off x="526942" y="2262749"/>
            <a:ext cx="1063183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189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자료형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28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결측치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확인하기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DEBFFC-8892-4671-9AEB-080861061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07" y="2932608"/>
            <a:ext cx="4001058" cy="34294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95E4932-B908-4126-B997-43E0AEF30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539" y="2932609"/>
            <a:ext cx="4020111" cy="34402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333A51-2F8F-4307-ABFE-0527E9BDA6FC}"/>
              </a:ext>
            </a:extLst>
          </p:cNvPr>
          <p:cNvSpPr txBox="1"/>
          <p:nvPr/>
        </p:nvSpPr>
        <p:spPr>
          <a:xfrm>
            <a:off x="522349" y="2062420"/>
            <a:ext cx="10631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자료형을 확인해 보자면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b="1" dirty="0">
                <a:solidFill>
                  <a:schemeClr val="bg1"/>
                </a:solidFill>
              </a:rPr>
              <a:t>7</a:t>
            </a:r>
            <a:r>
              <a:rPr lang="ko-KR" altLang="en-US" sz="1200" b="1" dirty="0">
                <a:solidFill>
                  <a:schemeClr val="bg1"/>
                </a:solidFill>
              </a:rPr>
              <a:t>개의 </a:t>
            </a:r>
            <a:r>
              <a:rPr lang="en-US" altLang="ko-KR" sz="1200" b="1" dirty="0">
                <a:solidFill>
                  <a:schemeClr val="bg1"/>
                </a:solidFill>
              </a:rPr>
              <a:t>object</a:t>
            </a:r>
            <a:r>
              <a:rPr lang="ko-KR" altLang="en-US" sz="1200" b="1" dirty="0">
                <a:solidFill>
                  <a:schemeClr val="bg1"/>
                </a:solidFill>
              </a:rPr>
              <a:t>형 타입의 컬럼이 있어 나중에 인코딩이 필요할 것 같습니다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메모리는 타입별로 다른데 </a:t>
            </a:r>
            <a:r>
              <a:rPr lang="ko-KR" altLang="en-US" sz="1200" b="1" dirty="0">
                <a:solidFill>
                  <a:schemeClr val="bg1"/>
                </a:solidFill>
              </a:rPr>
              <a:t>기본 </a:t>
            </a:r>
            <a:r>
              <a:rPr lang="en-US" altLang="ko-KR" sz="1200" b="1" dirty="0">
                <a:solidFill>
                  <a:schemeClr val="bg1"/>
                </a:solidFill>
              </a:rPr>
              <a:t>8</a:t>
            </a:r>
            <a:r>
              <a:rPr lang="ko-KR" altLang="en-US" sz="1200" b="1" dirty="0">
                <a:solidFill>
                  <a:schemeClr val="bg1"/>
                </a:solidFill>
              </a:rPr>
              <a:t>바이트인 </a:t>
            </a:r>
            <a:r>
              <a:rPr lang="en-US" altLang="ko-KR" sz="1200" b="1" dirty="0">
                <a:solidFill>
                  <a:schemeClr val="bg1"/>
                </a:solidFill>
              </a:rPr>
              <a:t>int</a:t>
            </a:r>
            <a:r>
              <a:rPr lang="ko-KR" altLang="en-US" sz="1200" b="1" dirty="0">
                <a:solidFill>
                  <a:schemeClr val="bg1"/>
                </a:solidFill>
              </a:rPr>
              <a:t>형</a:t>
            </a:r>
            <a:r>
              <a:rPr lang="en-US" altLang="ko-KR" sz="1200" b="1" dirty="0">
                <a:solidFill>
                  <a:schemeClr val="bg1"/>
                </a:solidFill>
              </a:rPr>
              <a:t>, float</a:t>
            </a:r>
            <a:r>
              <a:rPr lang="ko-KR" altLang="en-US" sz="1200" b="1" dirty="0">
                <a:solidFill>
                  <a:schemeClr val="bg1"/>
                </a:solidFill>
              </a:rPr>
              <a:t>형</a:t>
            </a:r>
            <a:r>
              <a:rPr lang="ko-KR" altLang="en-US" sz="1200" dirty="0">
                <a:solidFill>
                  <a:schemeClr val="bg1"/>
                </a:solidFill>
              </a:rPr>
              <a:t>과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달리 </a:t>
            </a:r>
            <a:r>
              <a:rPr lang="en-US" altLang="ko-KR" sz="1200" b="1" dirty="0">
                <a:solidFill>
                  <a:schemeClr val="bg1"/>
                </a:solidFill>
              </a:rPr>
              <a:t>object</a:t>
            </a:r>
            <a:r>
              <a:rPr lang="ko-KR" altLang="en-US" sz="1200" b="1" dirty="0">
                <a:solidFill>
                  <a:schemeClr val="bg1"/>
                </a:solidFill>
              </a:rPr>
              <a:t>형은 데이터의 크기가 가변</a:t>
            </a:r>
            <a:r>
              <a:rPr lang="ko-KR" altLang="en-US" sz="1200" dirty="0">
                <a:solidFill>
                  <a:schemeClr val="bg1"/>
                </a:solidFill>
              </a:rPr>
              <a:t>하기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때문에 메모리를 많이 잡아먹을 수도 있어 인코딩이 꼭 필요하다고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25368D4-88C4-4BA1-B197-859E72D329AA}"/>
              </a:ext>
            </a:extLst>
          </p:cNvPr>
          <p:cNvCxnSpPr>
            <a:cxnSpLocks/>
          </p:cNvCxnSpPr>
          <p:nvPr/>
        </p:nvCxnSpPr>
        <p:spPr>
          <a:xfrm>
            <a:off x="526942" y="2820679"/>
            <a:ext cx="1063183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588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자료형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28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결측치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확인하기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AE6E16-00F1-46B4-9ECB-39F4B7257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59" y="2862273"/>
            <a:ext cx="2467319" cy="255305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AFF46B9-CA5F-4E7E-8586-AE098E0AD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60" y="5415329"/>
            <a:ext cx="2467318" cy="9335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DF245C-A52A-406F-AE47-61B83143BE4B}"/>
              </a:ext>
            </a:extLst>
          </p:cNvPr>
          <p:cNvSpPr txBox="1"/>
          <p:nvPr/>
        </p:nvSpPr>
        <p:spPr>
          <a:xfrm>
            <a:off x="720134" y="2093416"/>
            <a:ext cx="8851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200" dirty="0" err="1">
                <a:solidFill>
                  <a:schemeClr val="bg1"/>
                </a:solidFill>
              </a:rPr>
              <a:t>결측치를</a:t>
            </a:r>
            <a:r>
              <a:rPr lang="ko-KR" altLang="en-US" sz="1200" dirty="0">
                <a:solidFill>
                  <a:schemeClr val="bg1"/>
                </a:solidFill>
              </a:rPr>
              <a:t> 보자면 </a:t>
            </a:r>
            <a:r>
              <a:rPr lang="en-US" altLang="ko-KR" sz="1200" b="1" dirty="0">
                <a:solidFill>
                  <a:schemeClr val="bg1"/>
                </a:solidFill>
              </a:rPr>
              <a:t>‘</a:t>
            </a:r>
            <a:r>
              <a:rPr lang="en-US" altLang="ko-KR" sz="1200" b="1" dirty="0" err="1">
                <a:solidFill>
                  <a:schemeClr val="bg1"/>
                </a:solidFill>
              </a:rPr>
              <a:t>Item_Weight</a:t>
            </a:r>
            <a:r>
              <a:rPr lang="en-US" altLang="ko-KR" sz="1200" b="1" dirty="0">
                <a:solidFill>
                  <a:schemeClr val="bg1"/>
                </a:solidFill>
              </a:rPr>
              <a:t>’ </a:t>
            </a:r>
            <a:r>
              <a:rPr lang="ko-KR" altLang="en-US" sz="1200" b="1" dirty="0">
                <a:solidFill>
                  <a:schemeClr val="bg1"/>
                </a:solidFill>
              </a:rPr>
              <a:t>와 </a:t>
            </a:r>
            <a:r>
              <a:rPr lang="en-US" altLang="ko-KR" sz="1200" b="1" dirty="0">
                <a:solidFill>
                  <a:schemeClr val="bg1"/>
                </a:solidFill>
              </a:rPr>
              <a:t>‘</a:t>
            </a:r>
            <a:r>
              <a:rPr lang="en-US" altLang="ko-KR" sz="1200" b="1" dirty="0" err="1">
                <a:solidFill>
                  <a:schemeClr val="bg1"/>
                </a:solidFill>
              </a:rPr>
              <a:t>Outlet_Size</a:t>
            </a:r>
            <a:r>
              <a:rPr lang="en-US" altLang="ko-KR" sz="1200" b="1" dirty="0">
                <a:solidFill>
                  <a:schemeClr val="bg1"/>
                </a:solidFill>
              </a:rPr>
              <a:t>’</a:t>
            </a:r>
            <a:r>
              <a:rPr lang="ko-KR" altLang="en-US" sz="1200" b="1" dirty="0">
                <a:solidFill>
                  <a:schemeClr val="bg1"/>
                </a:solidFill>
              </a:rPr>
              <a:t>에서 </a:t>
            </a:r>
            <a:r>
              <a:rPr lang="en-US" altLang="ko-KR" sz="1200" b="1" dirty="0">
                <a:solidFill>
                  <a:schemeClr val="bg1"/>
                </a:solidFill>
              </a:rPr>
              <a:t>train</a:t>
            </a:r>
            <a:r>
              <a:rPr lang="ko-KR" altLang="en-US" sz="1200" b="1" dirty="0">
                <a:solidFill>
                  <a:schemeClr val="bg1"/>
                </a:solidFill>
              </a:rPr>
              <a:t>은 총 </a:t>
            </a:r>
            <a:r>
              <a:rPr lang="en-US" altLang="ko-KR" sz="1200" b="1" dirty="0">
                <a:solidFill>
                  <a:schemeClr val="bg1"/>
                </a:solidFill>
              </a:rPr>
              <a:t>3102</a:t>
            </a:r>
            <a:r>
              <a:rPr lang="ko-KR" altLang="en-US" sz="1200" b="1" dirty="0">
                <a:solidFill>
                  <a:schemeClr val="bg1"/>
                </a:solidFill>
              </a:rPr>
              <a:t>개의 </a:t>
            </a:r>
            <a:r>
              <a:rPr lang="ko-KR" altLang="en-US" sz="1200" b="1" dirty="0" err="1">
                <a:solidFill>
                  <a:schemeClr val="bg1"/>
                </a:solidFill>
              </a:rPr>
              <a:t>결측치가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en-US" altLang="ko-KR" sz="1200" b="1" dirty="0">
                <a:solidFill>
                  <a:schemeClr val="bg1"/>
                </a:solidFill>
              </a:rPr>
              <a:t>test</a:t>
            </a:r>
            <a:r>
              <a:rPr lang="ko-KR" altLang="en-US" sz="1200" b="1" dirty="0">
                <a:solidFill>
                  <a:schemeClr val="bg1"/>
                </a:solidFill>
              </a:rPr>
              <a:t>는 </a:t>
            </a:r>
            <a:r>
              <a:rPr lang="en-US" altLang="ko-KR" sz="1200" b="1" dirty="0">
                <a:solidFill>
                  <a:schemeClr val="bg1"/>
                </a:solidFill>
              </a:rPr>
              <a:t>771</a:t>
            </a:r>
            <a:r>
              <a:rPr lang="ko-KR" altLang="en-US" sz="1200" b="1" dirty="0">
                <a:solidFill>
                  <a:schemeClr val="bg1"/>
                </a:solidFill>
              </a:rPr>
              <a:t>개의 </a:t>
            </a:r>
            <a:r>
              <a:rPr lang="ko-KR" altLang="en-US" sz="1200" b="1" dirty="0" err="1">
                <a:solidFill>
                  <a:schemeClr val="bg1"/>
                </a:solidFill>
              </a:rPr>
              <a:t>결측치가</a:t>
            </a:r>
            <a:r>
              <a:rPr lang="ko-KR" altLang="en-US" sz="1200" b="1" dirty="0">
                <a:solidFill>
                  <a:schemeClr val="bg1"/>
                </a:solidFill>
              </a:rPr>
              <a:t> 확인</a:t>
            </a:r>
            <a:r>
              <a:rPr lang="ko-KR" altLang="en-US" sz="1200" dirty="0">
                <a:solidFill>
                  <a:schemeClr val="bg1"/>
                </a:solidFill>
              </a:rPr>
              <a:t>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나중에 </a:t>
            </a:r>
            <a:r>
              <a:rPr lang="ko-KR" altLang="en-US" sz="1200" b="1" dirty="0" err="1">
                <a:solidFill>
                  <a:schemeClr val="bg1"/>
                </a:solidFill>
              </a:rPr>
              <a:t>결측치를</a:t>
            </a:r>
            <a:r>
              <a:rPr lang="ko-KR" altLang="en-US" sz="1200" b="1" dirty="0">
                <a:solidFill>
                  <a:schemeClr val="bg1"/>
                </a:solidFill>
              </a:rPr>
              <a:t> 제거를 위해 평균값</a:t>
            </a:r>
            <a:r>
              <a:rPr lang="en-US" altLang="ko-KR" sz="1200" b="1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 err="1">
                <a:solidFill>
                  <a:schemeClr val="bg1"/>
                </a:solidFill>
              </a:rPr>
              <a:t>최빈값</a:t>
            </a:r>
            <a:r>
              <a:rPr lang="ko-KR" altLang="en-US" sz="1200" b="1" dirty="0">
                <a:solidFill>
                  <a:schemeClr val="bg1"/>
                </a:solidFill>
              </a:rPr>
              <a:t> 등으로 대체</a:t>
            </a:r>
            <a:r>
              <a:rPr lang="ko-KR" altLang="en-US" sz="1200" dirty="0">
                <a:solidFill>
                  <a:schemeClr val="bg1"/>
                </a:solidFill>
              </a:rPr>
              <a:t>해야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1515908-053A-4DDE-BB31-66A136CA64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866" y="2862274"/>
            <a:ext cx="2362530" cy="255305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7068124-BCFB-43D3-AAD4-98E9C16719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6866" y="5415329"/>
            <a:ext cx="2362530" cy="933580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8968E41-72BC-4F62-B737-72711BA50F77}"/>
              </a:ext>
            </a:extLst>
          </p:cNvPr>
          <p:cNvCxnSpPr>
            <a:cxnSpLocks/>
          </p:cNvCxnSpPr>
          <p:nvPr/>
        </p:nvCxnSpPr>
        <p:spPr>
          <a:xfrm>
            <a:off x="720135" y="2665698"/>
            <a:ext cx="885135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168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3001</TotalTime>
  <Words>287</Words>
  <Application>Microsoft Office PowerPoint</Application>
  <PresentationFormat>와이드스크린</PresentationFormat>
  <Paragraphs>40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189</cp:revision>
  <dcterms:created xsi:type="dcterms:W3CDTF">2025-08-05T00:27:28Z</dcterms:created>
  <dcterms:modified xsi:type="dcterms:W3CDTF">2025-10-29T05:37:59Z</dcterms:modified>
</cp:coreProperties>
</file>