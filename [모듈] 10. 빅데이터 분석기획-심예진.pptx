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302" r:id="rId4"/>
    <p:sldId id="318" r:id="rId5"/>
    <p:sldId id="319" r:id="rId6"/>
    <p:sldId id="321" r:id="rId7"/>
    <p:sldId id="320" r:id="rId8"/>
    <p:sldId id="299" r:id="rId9"/>
    <p:sldId id="28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2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빅데이터 환경분석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altLang="ko-KR" dirty="0"/>
              <a:t>INDEX </a:t>
            </a:r>
            <a:r>
              <a:rPr lang="ko-KR" altLang="en-US" dirty="0"/>
              <a:t>및 </a:t>
            </a:r>
            <a:r>
              <a:rPr lang="en-US" altLang="ko-KR" dirty="0"/>
              <a:t>CONTENTS</a:t>
            </a:r>
            <a:endParaRPr lang="ko-KR" altLang="en-US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63405" y="1716269"/>
            <a:ext cx="5327661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요건 정의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기존 요구사항 확인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요구사항 명세화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TRIP_SMART Use Case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명세서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TRIP_SMART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요구사항 검증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: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검토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(Review)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CFC6EAA-8325-4486-8D16-3BE392A7BDB4}"/>
              </a:ext>
            </a:extLst>
          </p:cNvPr>
          <p:cNvSpPr txBox="1">
            <a:spLocks/>
          </p:cNvSpPr>
          <p:nvPr/>
        </p:nvSpPr>
        <p:spPr>
          <a:xfrm>
            <a:off x="6398522" y="1716269"/>
            <a:ext cx="5327661" cy="1572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데이터 탐색 기획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데이터 분석 기획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회귀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분류 중 하나 선택하기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!)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D7B18B17-BE04-4BE0-B812-06966B97BD73}"/>
              </a:ext>
            </a:extLst>
          </p:cNvPr>
          <p:cNvSpPr txBox="1">
            <a:spLocks/>
          </p:cNvSpPr>
          <p:nvPr/>
        </p:nvSpPr>
        <p:spPr>
          <a:xfrm>
            <a:off x="463404" y="4157238"/>
            <a:ext cx="5327661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데이터 확보 기획 </a:t>
            </a:r>
            <a:r>
              <a:rPr lang="en-US" altLang="ko-KR" sz="1600" b="1" u="sng" dirty="0">
                <a:solidFill>
                  <a:schemeClr val="bg1"/>
                </a:solidFill>
                <a:latin typeface="+mj-lt"/>
              </a:rPr>
              <a:t>-</a:t>
            </a:r>
            <a:r>
              <a:rPr lang="ko-KR" altLang="en-US" sz="1600" b="1" u="sng" dirty="0">
                <a:solidFill>
                  <a:schemeClr val="bg1"/>
                </a:solidFill>
                <a:latin typeface="+mj-lt"/>
              </a:rPr>
              <a:t> 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개념적 설계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(Conceptual) - </a:t>
            </a:r>
            <a:r>
              <a:rPr lang="ko-KR" altLang="en-US" sz="1500" dirty="0" err="1">
                <a:solidFill>
                  <a:schemeClr val="bg1"/>
                </a:solidFill>
                <a:latin typeface="+mj-lt"/>
              </a:rPr>
              <a:t>엔터티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관계 요약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논리적 설계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(Logical)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테이블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키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인덱스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자료형 포함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)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외부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Open API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내부 수집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API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     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7CA8DE4-6BE9-4BE6-AC91-FFD8E1E3EC2D}"/>
              </a:ext>
            </a:extLst>
          </p:cNvPr>
          <p:cNvSpPr txBox="1">
            <a:spLocks/>
          </p:cNvSpPr>
          <p:nvPr/>
        </p:nvSpPr>
        <p:spPr>
          <a:xfrm>
            <a:off x="6398521" y="3492649"/>
            <a:ext cx="5614514" cy="968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4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모델링 기획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    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빅데이터 분석 모델링 기획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회귀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분류 중 하나 선택하기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!)</a:t>
            </a:r>
            <a:br>
              <a:rPr lang="en-US" altLang="ko-KR" sz="1400" dirty="0">
                <a:solidFill>
                  <a:schemeClr val="bg1"/>
                </a:solidFill>
                <a:latin typeface="+mj-lt"/>
              </a:rPr>
            </a:br>
            <a:endParaRPr lang="en-US" altLang="ko-KR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1BCE937-8E3D-496A-8190-F3C3CE40A191}"/>
              </a:ext>
            </a:extLst>
          </p:cNvPr>
          <p:cNvSpPr txBox="1">
            <a:spLocks/>
          </p:cNvSpPr>
          <p:nvPr/>
        </p:nvSpPr>
        <p:spPr>
          <a:xfrm>
            <a:off x="6398521" y="4978879"/>
            <a:ext cx="5614514" cy="968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5.   </a:t>
            </a: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결과 적용 계획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    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- NCS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빅데이터 분석 기획 보고서</a:t>
            </a:r>
            <a:br>
              <a:rPr lang="en-US" altLang="ko-KR" sz="1400" dirty="0">
                <a:solidFill>
                  <a:schemeClr val="bg1"/>
                </a:solidFill>
                <a:latin typeface="+mj-lt"/>
              </a:rPr>
            </a:br>
            <a:endParaRPr lang="en-US" altLang="ko-KR" sz="1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1-1.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기존 요구사항 </a:t>
            </a:r>
            <a:r>
              <a:rPr lang="ko-KR" altLang="en-US" dirty="0">
                <a:solidFill>
                  <a:prstClr val="black"/>
                </a:solidFill>
                <a:ea typeface="맑은 고딕" panose="020B0503020000020004" pitchFamily="50" charset="-127"/>
              </a:rPr>
              <a:t>확인</a:t>
            </a: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CA27A644-DEE2-4622-A8A0-58E81BD44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773572"/>
              </p:ext>
            </p:extLst>
          </p:nvPr>
        </p:nvGraphicFramePr>
        <p:xfrm>
          <a:off x="991184" y="1601637"/>
          <a:ext cx="10209630" cy="509277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12453">
                  <a:extLst>
                    <a:ext uri="{9D8B030D-6E8A-4147-A177-3AD203B41FA5}">
                      <a16:colId xmlns:a16="http://schemas.microsoft.com/office/drawing/2014/main" val="1257472940"/>
                    </a:ext>
                  </a:extLst>
                </a:gridCol>
                <a:gridCol w="1512162">
                  <a:extLst>
                    <a:ext uri="{9D8B030D-6E8A-4147-A177-3AD203B41FA5}">
                      <a16:colId xmlns:a16="http://schemas.microsoft.com/office/drawing/2014/main" val="2155757754"/>
                    </a:ext>
                  </a:extLst>
                </a:gridCol>
                <a:gridCol w="5369086">
                  <a:extLst>
                    <a:ext uri="{9D8B030D-6E8A-4147-A177-3AD203B41FA5}">
                      <a16:colId xmlns:a16="http://schemas.microsoft.com/office/drawing/2014/main" val="635701269"/>
                    </a:ext>
                  </a:extLst>
                </a:gridCol>
                <a:gridCol w="1915929">
                  <a:extLst>
                    <a:ext uri="{9D8B030D-6E8A-4147-A177-3AD203B41FA5}">
                      <a16:colId xmlns:a16="http://schemas.microsoft.com/office/drawing/2014/main" val="4193443379"/>
                    </a:ext>
                  </a:extLst>
                </a:gridCol>
              </a:tblGrid>
              <a:tr h="2967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요구</a:t>
                      </a:r>
                      <a:r>
                        <a:rPr lang="en-US" altLang="ko-KR" sz="1400" dirty="0"/>
                        <a:t>ID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유형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요구내용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요청자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8239233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R-001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위치 기반 장례식장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납골당 추천 및 검색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497427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보안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사용자의 위치 및 검색 데이터 암호화 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개인정보위원회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342817"/>
                  </a:ext>
                </a:extLst>
              </a:tr>
              <a:tr h="3366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R-003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반려동물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날짜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시간 정보 입력을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포함한 장례 예약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6920423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 비용 확인 및 웹 결제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02924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R-005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 예약 후 조회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취소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조건부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0335855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성능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 조회 시 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초 내 응답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215436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R-007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상담사 리스트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64408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R-008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추천 알고리즘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리뷰 데이터 기반 맞춤형 상담사 추천 알고리즘 활용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711879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R-009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상담형태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날짜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시간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심리상태 정보를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포함한 상담 예약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8287075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R-010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비용 확인 및 웹 결제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669890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예약 후 조회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취소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조건부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53992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추천 알고리즘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실시간 판매 데이터 분석을 통한 인기 굿즈 트렌드 제공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9941419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R-013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굿즈 제작 요청 접수 시 업체에 자동 전달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굿즈 제작 업체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947432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분석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통계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 통계 리포트 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1369163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R-015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커뮤니티 작성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조회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793557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R-016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커뮤니티 및 리뷰 신고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악성 게시글 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480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063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ea typeface="맑은 고딕" panose="020B0503020000020004" pitchFamily="50" charset="-127"/>
              </a:rPr>
              <a:t>1-2</a:t>
            </a: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요구사항 명세화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B02A3B28-6344-4B05-B0FB-ADBA0E22D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022719"/>
              </p:ext>
            </p:extLst>
          </p:nvPr>
        </p:nvGraphicFramePr>
        <p:xfrm>
          <a:off x="580282" y="2984600"/>
          <a:ext cx="11031436" cy="205718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23847">
                  <a:extLst>
                    <a:ext uri="{9D8B030D-6E8A-4147-A177-3AD203B41FA5}">
                      <a16:colId xmlns:a16="http://schemas.microsoft.com/office/drawing/2014/main" val="3822811726"/>
                    </a:ext>
                  </a:extLst>
                </a:gridCol>
                <a:gridCol w="3328469">
                  <a:extLst>
                    <a:ext uri="{9D8B030D-6E8A-4147-A177-3AD203B41FA5}">
                      <a16:colId xmlns:a16="http://schemas.microsoft.com/office/drawing/2014/main" val="1040827934"/>
                    </a:ext>
                  </a:extLst>
                </a:gridCol>
                <a:gridCol w="1445978">
                  <a:extLst>
                    <a:ext uri="{9D8B030D-6E8A-4147-A177-3AD203B41FA5}">
                      <a16:colId xmlns:a16="http://schemas.microsoft.com/office/drawing/2014/main" val="1360107011"/>
                    </a:ext>
                  </a:extLst>
                </a:gridCol>
                <a:gridCol w="2326855">
                  <a:extLst>
                    <a:ext uri="{9D8B030D-6E8A-4147-A177-3AD203B41FA5}">
                      <a16:colId xmlns:a16="http://schemas.microsoft.com/office/drawing/2014/main" val="1885686380"/>
                    </a:ext>
                  </a:extLst>
                </a:gridCol>
                <a:gridCol w="2206287">
                  <a:extLst>
                    <a:ext uri="{9D8B030D-6E8A-4147-A177-3AD203B41FA5}">
                      <a16:colId xmlns:a16="http://schemas.microsoft.com/office/drawing/2014/main" val="446095888"/>
                    </a:ext>
                  </a:extLst>
                </a:gridCol>
              </a:tblGrid>
              <a:tr h="4707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요구사항 </a:t>
                      </a:r>
                      <a:r>
                        <a:rPr lang="en-US" altLang="ko-KR" sz="1400" dirty="0"/>
                        <a:t>ID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요구사항 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우선순위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입력데이터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출력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8444576"/>
                  </a:ext>
                </a:extLst>
              </a:tr>
              <a:tr h="9286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RQ-01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사용자의 현재 위치 기반 가까운 거리의 장례식장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납골당 추천 및 검색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GPS</a:t>
                      </a:r>
                      <a:r>
                        <a:rPr lang="ko-KR" altLang="en-US" sz="1400" dirty="0"/>
                        <a:t>위치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전국 반려동물 장례식장 위치 및 통계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반려동물 장례업체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리스트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 err="1"/>
                        <a:t>거리순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7793964"/>
                  </a:ext>
                </a:extLst>
              </a:tr>
              <a:tr h="657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RQ-02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리뷰 데이터 기반 사용자의 심리상태에 알맞은 상담사 추천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사용자 심리상태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맞춤형 상담사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 err="1"/>
                        <a:t>별점순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835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286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1-3. TRIP_SMART Use Case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명세서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546C5-F6EF-461B-A27C-F585FF8C5CB7}"/>
              </a:ext>
            </a:extLst>
          </p:cNvPr>
          <p:cNvSpPr txBox="1"/>
          <p:nvPr/>
        </p:nvSpPr>
        <p:spPr>
          <a:xfrm>
            <a:off x="783811" y="1773197"/>
            <a:ext cx="6564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Use Case 1 :  </a:t>
            </a:r>
            <a:r>
              <a:rPr lang="ko-KR" altLang="en-US" sz="1600" b="1" dirty="0">
                <a:solidFill>
                  <a:schemeClr val="bg1"/>
                </a:solidFill>
              </a:rPr>
              <a:t>위치 기반 장례식장</a:t>
            </a:r>
            <a:r>
              <a:rPr lang="en-US" altLang="ko-KR" sz="1600" b="1" dirty="0">
                <a:solidFill>
                  <a:schemeClr val="bg1"/>
                </a:solidFill>
              </a:rPr>
              <a:t>/</a:t>
            </a:r>
            <a:r>
              <a:rPr lang="ko-KR" altLang="en-US" sz="1600" b="1" dirty="0">
                <a:solidFill>
                  <a:schemeClr val="bg1"/>
                </a:solidFill>
              </a:rPr>
              <a:t>납골당 추천 및 검색</a:t>
            </a: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DED3C16D-0E32-46FA-A03B-B2EE84676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741651"/>
              </p:ext>
            </p:extLst>
          </p:nvPr>
        </p:nvGraphicFramePr>
        <p:xfrm>
          <a:off x="1702877" y="2364649"/>
          <a:ext cx="8786244" cy="42096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17664">
                  <a:extLst>
                    <a:ext uri="{9D8B030D-6E8A-4147-A177-3AD203B41FA5}">
                      <a16:colId xmlns:a16="http://schemas.microsoft.com/office/drawing/2014/main" val="629785218"/>
                    </a:ext>
                  </a:extLst>
                </a:gridCol>
                <a:gridCol w="6568580">
                  <a:extLst>
                    <a:ext uri="{9D8B030D-6E8A-4147-A177-3AD203B41FA5}">
                      <a16:colId xmlns:a16="http://schemas.microsoft.com/office/drawing/2014/main" val="2171669908"/>
                    </a:ext>
                  </a:extLst>
                </a:gridCol>
              </a:tblGrid>
              <a:tr h="3876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983645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/>
                        <a:t>Use Case </a:t>
                      </a:r>
                      <a:r>
                        <a:rPr lang="ko-KR" altLang="en-US" sz="1200" b="1" dirty="0"/>
                        <a:t>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위치 기반 장례식장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납골당 추천 및 검색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054954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개요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사용자의 현재 위치 기반 가까운 거리의 장례식장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납골당 추천 및 검색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148484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사전조건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- GPS </a:t>
                      </a:r>
                      <a:r>
                        <a:rPr lang="ko-KR" altLang="en-US" sz="1400" dirty="0"/>
                        <a:t>권한 허용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9875013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기본흐름</a:t>
                      </a:r>
                      <a:r>
                        <a:rPr lang="en-US" altLang="ko-KR" sz="1200" b="1" dirty="0"/>
                        <a:t>(Basic Flow)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사용자가 웹사이트 실행</a:t>
                      </a:r>
                      <a:endParaRPr lang="en-US" altLang="ko-KR" sz="1400" dirty="0"/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시스템이 </a:t>
                      </a:r>
                      <a:r>
                        <a:rPr lang="en-US" altLang="ko-KR" sz="1400" dirty="0"/>
                        <a:t>GPS</a:t>
                      </a:r>
                      <a:r>
                        <a:rPr lang="ko-KR" altLang="en-US" sz="1400" dirty="0"/>
                        <a:t>로 현재 위치 수집</a:t>
                      </a:r>
                      <a:endParaRPr lang="en-US" altLang="ko-KR" sz="1400" dirty="0"/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시스템이 분석 후 추천 리스트 생성</a:t>
                      </a:r>
                      <a:endParaRPr lang="en-US" altLang="ko-KR" sz="1400" dirty="0"/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시스템이 </a:t>
                      </a:r>
                      <a:r>
                        <a:rPr lang="ko-KR" altLang="en-US" sz="1400" dirty="0" err="1"/>
                        <a:t>거리순</a:t>
                      </a:r>
                      <a:r>
                        <a:rPr lang="ko-KR" altLang="en-US" sz="1400" dirty="0"/>
                        <a:t> 반려동물 장례식장 리스트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591806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대안흐름</a:t>
                      </a:r>
                      <a:r>
                        <a:rPr lang="en-US" altLang="ko-KR" sz="1200" b="1" dirty="0"/>
                        <a:t>(Alternative Flow)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- A1: </a:t>
                      </a:r>
                      <a:r>
                        <a:rPr lang="ko-KR" altLang="en-US" sz="1400" dirty="0"/>
                        <a:t>사용자가 직접 위치 입력 → 해당 위치 기반 추천 리스트 생성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847453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예외흐름</a:t>
                      </a:r>
                      <a:r>
                        <a:rPr lang="en-US" altLang="ko-KR" sz="1200" b="1" dirty="0"/>
                        <a:t>(Exception Flow)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- E1 : </a:t>
                      </a:r>
                      <a:r>
                        <a:rPr lang="ko-KR" altLang="en-US" sz="1400" dirty="0"/>
                        <a:t>사용자가 </a:t>
                      </a:r>
                      <a:r>
                        <a:rPr lang="en-US" altLang="ko-KR" sz="1400" dirty="0"/>
                        <a:t>GPS </a:t>
                      </a:r>
                      <a:r>
                        <a:rPr lang="ko-KR" altLang="en-US" sz="1400" dirty="0"/>
                        <a:t>권한 </a:t>
                      </a:r>
                      <a:r>
                        <a:rPr lang="ko-KR" altLang="en-US" sz="1400" dirty="0" err="1"/>
                        <a:t>비동의</a:t>
                      </a:r>
                      <a:r>
                        <a:rPr lang="ko-KR" altLang="en-US" sz="1400" dirty="0"/>
                        <a:t> → 수도권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서울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경기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 중심 기본 리스트 생성</a:t>
                      </a:r>
                    </a:p>
                    <a:p>
                      <a:pPr algn="l" latinLnBrk="1"/>
                      <a:r>
                        <a:rPr lang="en-US" altLang="ko-KR" sz="1400" dirty="0"/>
                        <a:t>- E2 : </a:t>
                      </a:r>
                      <a:r>
                        <a:rPr lang="ko-KR" altLang="en-US" sz="1400" dirty="0"/>
                        <a:t>네트워크 오류 → 오류 메시지 및 </a:t>
                      </a:r>
                      <a:r>
                        <a:rPr lang="ko-KR" altLang="en-US" sz="1400" dirty="0" err="1"/>
                        <a:t>새로고침</a:t>
                      </a:r>
                      <a:r>
                        <a:rPr lang="ko-KR" altLang="en-US" sz="1400" dirty="0"/>
                        <a:t> 권장 안내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031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4011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1-3. TRIP_SMART Use Case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명세서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546C5-F6EF-461B-A27C-F585FF8C5CB7}"/>
              </a:ext>
            </a:extLst>
          </p:cNvPr>
          <p:cNvSpPr txBox="1"/>
          <p:nvPr/>
        </p:nvSpPr>
        <p:spPr>
          <a:xfrm>
            <a:off x="783811" y="1773197"/>
            <a:ext cx="7368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Use Case 2 : </a:t>
            </a:r>
            <a:r>
              <a:rPr lang="ko-KR" altLang="en-US" sz="1600" b="1" dirty="0">
                <a:solidFill>
                  <a:schemeClr val="bg1"/>
                </a:solidFill>
              </a:rPr>
              <a:t>사용자 리뷰 데이터 기반 맞춤형 상담사 추천 알고리즘 활용</a:t>
            </a:r>
          </a:p>
          <a:p>
            <a:endParaRPr lang="ko-KR" alt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DED3C16D-0E32-46FA-A03B-B2EE84676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711986"/>
              </p:ext>
            </p:extLst>
          </p:nvPr>
        </p:nvGraphicFramePr>
        <p:xfrm>
          <a:off x="1183158" y="2357972"/>
          <a:ext cx="9825681" cy="42096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80019">
                  <a:extLst>
                    <a:ext uri="{9D8B030D-6E8A-4147-A177-3AD203B41FA5}">
                      <a16:colId xmlns:a16="http://schemas.microsoft.com/office/drawing/2014/main" val="629785218"/>
                    </a:ext>
                  </a:extLst>
                </a:gridCol>
                <a:gridCol w="7345662">
                  <a:extLst>
                    <a:ext uri="{9D8B030D-6E8A-4147-A177-3AD203B41FA5}">
                      <a16:colId xmlns:a16="http://schemas.microsoft.com/office/drawing/2014/main" val="2171669908"/>
                    </a:ext>
                  </a:extLst>
                </a:gridCol>
              </a:tblGrid>
              <a:tr h="3876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983645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/>
                        <a:t>Use Case </a:t>
                      </a:r>
                      <a:r>
                        <a:rPr lang="ko-KR" altLang="en-US" sz="1200" b="1" dirty="0"/>
                        <a:t>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사용자 리뷰 데이터 기반 맞춤형 상담사 추천 알고리즘 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054954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개요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사용자가 리뷰를 쓰면 데이터를 활용해 맞춤형 상담사를 추천해주는 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148484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사전조건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사용자는 앱에 로그인 상태여야 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9875013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기본흐름</a:t>
                      </a:r>
                      <a:r>
                        <a:rPr lang="en-US" altLang="ko-KR" sz="1200" b="1" dirty="0"/>
                        <a:t>(Basic Flow)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사용자가 자신의 상태를 남김</a:t>
                      </a:r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시스템이 키워드를 판단함</a:t>
                      </a:r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시스템이 맞춤 상담사를 판별</a:t>
                      </a:r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ko-KR" altLang="en-US" sz="1400" dirty="0"/>
                        <a:t>시스템이 최종 맞춤 상담사를 사용자에게 추천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591806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대안흐름</a:t>
                      </a:r>
                      <a:r>
                        <a:rPr lang="en-US" altLang="ko-KR" sz="1200" b="1" dirty="0"/>
                        <a:t>(Alternative Flow)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A1 : </a:t>
                      </a:r>
                      <a:r>
                        <a:rPr lang="ko-KR" altLang="en-US" sz="1400" dirty="0"/>
                        <a:t>사용자가 복수 키워드 기입 →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공통 상담사 우선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847453"/>
                  </a:ext>
                </a:extLst>
              </a:tr>
              <a:tr h="5754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예외흐름</a:t>
                      </a:r>
                      <a:r>
                        <a:rPr lang="en-US" altLang="ko-KR" sz="1200" b="1" dirty="0"/>
                        <a:t>(Exception Flow)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E1 : </a:t>
                      </a:r>
                      <a:r>
                        <a:rPr lang="ko-KR" altLang="en-US" sz="1400" dirty="0"/>
                        <a:t>어떤 상태인지 구분하는 키워드를 적지 않음 →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단어의 유사도를 판단해 상담사 추천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031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478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1-4. TRIP_SMART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요구사항 검증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61FE6-CE3E-4AAD-ADD4-A4EA90D6860B}"/>
              </a:ext>
            </a:extLst>
          </p:cNvPr>
          <p:cNvSpPr txBox="1"/>
          <p:nvPr/>
        </p:nvSpPr>
        <p:spPr>
          <a:xfrm>
            <a:off x="449450" y="1773197"/>
            <a:ext cx="281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검증 기법 </a:t>
            </a:r>
            <a:r>
              <a:rPr lang="en-US" altLang="ko-KR" b="1" dirty="0">
                <a:solidFill>
                  <a:schemeClr val="bg1"/>
                </a:solidFill>
              </a:rPr>
              <a:t>: </a:t>
            </a:r>
            <a:r>
              <a:rPr lang="ko-KR" altLang="en-US" b="1" dirty="0">
                <a:solidFill>
                  <a:schemeClr val="bg1"/>
                </a:solidFill>
              </a:rPr>
              <a:t>검토</a:t>
            </a:r>
            <a:r>
              <a:rPr lang="en-US" altLang="ko-KR" b="1" dirty="0">
                <a:solidFill>
                  <a:schemeClr val="bg1"/>
                </a:solidFill>
              </a:rPr>
              <a:t>(Review)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81CEE5-56F0-44A6-8DF5-F82ABC443930}"/>
              </a:ext>
            </a:extLst>
          </p:cNvPr>
          <p:cNvSpPr txBox="1"/>
          <p:nvPr/>
        </p:nvSpPr>
        <p:spPr>
          <a:xfrm>
            <a:off x="449450" y="2169456"/>
            <a:ext cx="9445214" cy="7833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목적 </a:t>
            </a:r>
            <a:r>
              <a:rPr lang="en-US" altLang="ko-KR" sz="1600" dirty="0">
                <a:solidFill>
                  <a:schemeClr val="bg1"/>
                </a:solidFill>
              </a:rPr>
              <a:t>: </a:t>
            </a:r>
            <a:r>
              <a:rPr lang="ko-KR" altLang="en-US" sz="1600" dirty="0">
                <a:solidFill>
                  <a:schemeClr val="bg1"/>
                </a:solidFill>
              </a:rPr>
              <a:t>도출된 요구사항이 이해관계자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장례업체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사용자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데이터 제공자 등</a:t>
            </a:r>
            <a:r>
              <a:rPr lang="en-US" altLang="ko-KR" sz="1600" dirty="0">
                <a:solidFill>
                  <a:schemeClr val="bg1"/>
                </a:solidFill>
              </a:rPr>
              <a:t>)</a:t>
            </a:r>
            <a:r>
              <a:rPr lang="ko-KR" altLang="en-US" sz="1600" dirty="0">
                <a:solidFill>
                  <a:schemeClr val="bg1"/>
                </a:solidFill>
              </a:rPr>
              <a:t>의 기대와 일치하는지 확인</a:t>
            </a:r>
            <a:r>
              <a:rPr lang="en-US" altLang="ko-KR" sz="16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bg1"/>
                </a:solidFill>
              </a:rPr>
              <a:t>        </a:t>
            </a:r>
            <a:r>
              <a:rPr lang="en-US" altLang="ko-KR" sz="1600" dirty="0">
                <a:solidFill>
                  <a:srgbClr val="2C3930"/>
                </a:solidFill>
              </a:rPr>
              <a:t>.</a:t>
            </a:r>
            <a:r>
              <a:rPr lang="ko-KR" altLang="en-US" sz="1600" dirty="0">
                <a:solidFill>
                  <a:schemeClr val="bg1"/>
                </a:solidFill>
              </a:rPr>
              <a:t>요구사항의 모호성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누락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충돌 여부를 사전에 점검</a:t>
            </a:r>
            <a:r>
              <a:rPr lang="en-US" altLang="ko-KR" sz="1600" dirty="0">
                <a:solidFill>
                  <a:schemeClr val="bg1"/>
                </a:solidFill>
              </a:rPr>
              <a:t>.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F73B8EAB-417E-471E-857C-C320ABEA8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698150"/>
              </p:ext>
            </p:extLst>
          </p:nvPr>
        </p:nvGraphicFramePr>
        <p:xfrm>
          <a:off x="533863" y="3578076"/>
          <a:ext cx="4166499" cy="29606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17797">
                  <a:extLst>
                    <a:ext uri="{9D8B030D-6E8A-4147-A177-3AD203B41FA5}">
                      <a16:colId xmlns:a16="http://schemas.microsoft.com/office/drawing/2014/main" val="1990919159"/>
                    </a:ext>
                  </a:extLst>
                </a:gridCol>
                <a:gridCol w="2648702">
                  <a:extLst>
                    <a:ext uri="{9D8B030D-6E8A-4147-A177-3AD203B41FA5}">
                      <a16:colId xmlns:a16="http://schemas.microsoft.com/office/drawing/2014/main" val="761099162"/>
                    </a:ext>
                  </a:extLst>
                </a:gridCol>
              </a:tblGrid>
              <a:tr h="4597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역할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참여자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4915089"/>
                  </a:ext>
                </a:extLst>
              </a:tr>
              <a:tr h="625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사용자 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반려인 </a:t>
                      </a:r>
                      <a:r>
                        <a:rPr lang="en-US" altLang="ko-KR" sz="1600" dirty="0"/>
                        <a:t>10</a:t>
                      </a:r>
                      <a:r>
                        <a:rPr lang="ko-KR" altLang="en-US" sz="1600" dirty="0"/>
                        <a:t>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442444"/>
                  </a:ext>
                </a:extLst>
              </a:tr>
              <a:tr h="625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서비스 제공자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반려동물 장례업체</a:t>
                      </a:r>
                      <a:r>
                        <a:rPr lang="en-US" altLang="ko-KR" sz="1600" dirty="0"/>
                        <a:t>,</a:t>
                      </a:r>
                    </a:p>
                    <a:p>
                      <a:pPr algn="l" latinLnBrk="1"/>
                      <a:r>
                        <a:rPr lang="ko-KR" altLang="en-US" sz="1600" dirty="0"/>
                        <a:t>심리상담업체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15864"/>
                  </a:ext>
                </a:extLst>
              </a:tr>
              <a:tr h="625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데이터 제공자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위치정보 </a:t>
                      </a:r>
                      <a:r>
                        <a:rPr lang="en-US" altLang="ko-KR" sz="1600" dirty="0"/>
                        <a:t>API </a:t>
                      </a:r>
                      <a:r>
                        <a:rPr lang="ko-KR" altLang="en-US" sz="1600" dirty="0"/>
                        <a:t>업체 담당자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심리상담 데이터셋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임시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99814"/>
                  </a:ext>
                </a:extLst>
              </a:tr>
              <a:tr h="625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개발팀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기획자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개발자</a:t>
                      </a:r>
                      <a:r>
                        <a:rPr lang="en-US" altLang="ko-KR" sz="1600" dirty="0"/>
                        <a:t>,</a:t>
                      </a:r>
                    </a:p>
                    <a:p>
                      <a:pPr algn="l" latinLnBrk="1"/>
                      <a:r>
                        <a:rPr lang="en-US" altLang="ko-KR" sz="1600" dirty="0"/>
                        <a:t>QA </a:t>
                      </a:r>
                      <a:r>
                        <a:rPr lang="ko-KR" altLang="en-US" sz="1600" dirty="0"/>
                        <a:t>담당자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594423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3E11948-3BA8-463E-BE89-B1E1DF900938}"/>
              </a:ext>
            </a:extLst>
          </p:cNvPr>
          <p:cNvSpPr txBox="1"/>
          <p:nvPr/>
        </p:nvSpPr>
        <p:spPr>
          <a:xfrm>
            <a:off x="430336" y="3177532"/>
            <a:ext cx="44069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u="sng" dirty="0">
                <a:solidFill>
                  <a:schemeClr val="bg1"/>
                </a:solidFill>
              </a:rPr>
              <a:t>참여자                                             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2C70A3-713C-48A1-A273-5D8D88C4ECA4}"/>
              </a:ext>
            </a:extLst>
          </p:cNvPr>
          <p:cNvSpPr txBox="1"/>
          <p:nvPr/>
        </p:nvSpPr>
        <p:spPr>
          <a:xfrm>
            <a:off x="6095999" y="2853651"/>
            <a:ext cx="56220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u="sng" dirty="0">
                <a:solidFill>
                  <a:schemeClr val="bg1"/>
                </a:solidFill>
              </a:rPr>
              <a:t>검토항목                                                                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668561E-CC5B-43B9-A673-B7FBA71B2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554754"/>
              </p:ext>
            </p:extLst>
          </p:nvPr>
        </p:nvGraphicFramePr>
        <p:xfrm>
          <a:off x="6183178" y="3240060"/>
          <a:ext cx="5330640" cy="32986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76880">
                  <a:extLst>
                    <a:ext uri="{9D8B030D-6E8A-4147-A177-3AD203B41FA5}">
                      <a16:colId xmlns:a16="http://schemas.microsoft.com/office/drawing/2014/main" val="3582384445"/>
                    </a:ext>
                  </a:extLst>
                </a:gridCol>
                <a:gridCol w="1776880">
                  <a:extLst>
                    <a:ext uri="{9D8B030D-6E8A-4147-A177-3AD203B41FA5}">
                      <a16:colId xmlns:a16="http://schemas.microsoft.com/office/drawing/2014/main" val="3559744197"/>
                    </a:ext>
                  </a:extLst>
                </a:gridCol>
                <a:gridCol w="1776880">
                  <a:extLst>
                    <a:ext uri="{9D8B030D-6E8A-4147-A177-3AD203B41FA5}">
                      <a16:colId xmlns:a16="http://schemas.microsoft.com/office/drawing/2014/main" val="3098319452"/>
                    </a:ext>
                  </a:extLst>
                </a:gridCol>
              </a:tblGrid>
              <a:tr h="54977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검토 질문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확인 여부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919869"/>
                  </a:ext>
                </a:extLst>
              </a:tr>
              <a:tr h="54977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025025"/>
                  </a:ext>
                </a:extLst>
              </a:tr>
              <a:tr h="54977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199032"/>
                  </a:ext>
                </a:extLst>
              </a:tr>
              <a:tr h="54977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341077"/>
                  </a:ext>
                </a:extLst>
              </a:tr>
              <a:tr h="54977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772932"/>
                  </a:ext>
                </a:extLst>
              </a:tr>
              <a:tr h="54977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408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255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3-1.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후보데이터 수집 방식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9" name="표 3">
            <a:extLst>
              <a:ext uri="{FF2B5EF4-FFF2-40B4-BE49-F238E27FC236}">
                <a16:creationId xmlns:a16="http://schemas.microsoft.com/office/drawing/2014/main" id="{E84066DC-8077-44E9-A546-FC0D8217CCD5}"/>
              </a:ext>
            </a:extLst>
          </p:cNvPr>
          <p:cNvGraphicFramePr>
            <a:graphicFrameLocks noGrp="1"/>
          </p:cNvGraphicFramePr>
          <p:nvPr/>
        </p:nvGraphicFramePr>
        <p:xfrm>
          <a:off x="997881" y="1843969"/>
          <a:ext cx="10196235" cy="447045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9247">
                  <a:extLst>
                    <a:ext uri="{9D8B030D-6E8A-4147-A177-3AD203B41FA5}">
                      <a16:colId xmlns:a16="http://schemas.microsoft.com/office/drawing/2014/main" val="1344673237"/>
                    </a:ext>
                  </a:extLst>
                </a:gridCol>
                <a:gridCol w="2039247">
                  <a:extLst>
                    <a:ext uri="{9D8B030D-6E8A-4147-A177-3AD203B41FA5}">
                      <a16:colId xmlns:a16="http://schemas.microsoft.com/office/drawing/2014/main" val="3313368287"/>
                    </a:ext>
                  </a:extLst>
                </a:gridCol>
                <a:gridCol w="2039247">
                  <a:extLst>
                    <a:ext uri="{9D8B030D-6E8A-4147-A177-3AD203B41FA5}">
                      <a16:colId xmlns:a16="http://schemas.microsoft.com/office/drawing/2014/main" val="749706230"/>
                    </a:ext>
                  </a:extLst>
                </a:gridCol>
                <a:gridCol w="2039247">
                  <a:extLst>
                    <a:ext uri="{9D8B030D-6E8A-4147-A177-3AD203B41FA5}">
                      <a16:colId xmlns:a16="http://schemas.microsoft.com/office/drawing/2014/main" val="3584374462"/>
                    </a:ext>
                  </a:extLst>
                </a:gridCol>
                <a:gridCol w="2039247">
                  <a:extLst>
                    <a:ext uri="{9D8B030D-6E8A-4147-A177-3AD203B41FA5}">
                      <a16:colId xmlns:a16="http://schemas.microsoft.com/office/drawing/2014/main" val="2594297005"/>
                    </a:ext>
                  </a:extLst>
                </a:gridCol>
              </a:tblGrid>
              <a:tr h="4338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후보 데이터 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수집 경로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수집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수집 주기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활용 목적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738384"/>
                  </a:ext>
                </a:extLst>
              </a:tr>
              <a:tr h="7801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커뮤니티 게시글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사용자가 앱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웹 내에서 직접 작성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텍스트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이미지 파일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업로드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게시글 작성 시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실시간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간 감정 공유 및 커뮤니티 활성화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611901"/>
                  </a:ext>
                </a:extLst>
              </a:tr>
              <a:tr h="5528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사용자 활동 로그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앱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웹 내 사용자 행동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클릭 스트림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페이지에 머문 시간 등 자동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행동 발생 시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실시간</a:t>
                      </a:r>
                      <a:r>
                        <a:rPr lang="en-US" altLang="ko-KR" sz="1200" dirty="0"/>
                        <a:t>) 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개인화 추천 알고리즘 학습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서비스 이용 행태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0780334"/>
                  </a:ext>
                </a:extLst>
              </a:tr>
              <a:tr h="7113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굿즈 선호도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사용자의 굿즈 조회</a:t>
                      </a:r>
                      <a:r>
                        <a:rPr lang="en-US" altLang="ko-KR" sz="1200" dirty="0"/>
                        <a:t>, ‘</a:t>
                      </a:r>
                      <a:r>
                        <a:rPr lang="ko-KR" altLang="en-US" sz="1200" dirty="0"/>
                        <a:t>좋아요</a:t>
                      </a:r>
                      <a:r>
                        <a:rPr lang="en-US" altLang="ko-KR" sz="1200" dirty="0"/>
                        <a:t>＇</a:t>
                      </a:r>
                      <a:r>
                        <a:rPr lang="ko-KR" altLang="en-US" sz="1200" dirty="0"/>
                        <a:t>클릭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로그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‘</a:t>
                      </a:r>
                      <a:r>
                        <a:rPr lang="ko-KR" altLang="en-US" sz="1200" dirty="0"/>
                        <a:t>좋아요</a:t>
                      </a:r>
                      <a:r>
                        <a:rPr lang="en-US" altLang="ko-KR" sz="1200" dirty="0"/>
                        <a:t>’ </a:t>
                      </a:r>
                      <a:r>
                        <a:rPr lang="ko-KR" altLang="en-US" sz="1200" dirty="0"/>
                        <a:t>발생 시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실시간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인기 굿즈 트렌드 분석 및 상품 추천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855080"/>
                  </a:ext>
                </a:extLst>
              </a:tr>
              <a:tr h="654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상담사 리뷰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평점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사용자가 상담 후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직접 입력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텍스트 입력 및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별점 선택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종료 후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비정기적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신뢰도 높은 상담사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추천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서비스 품질 개선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183419"/>
                  </a:ext>
                </a:extLst>
              </a:tr>
              <a:tr h="6627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회원 기본정보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사용자가 회원가입 시 직접 입력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폼</a:t>
                      </a:r>
                      <a:r>
                        <a:rPr lang="en-US" altLang="ko-KR" sz="1200" dirty="0"/>
                        <a:t>(Form) </a:t>
                      </a:r>
                      <a:r>
                        <a:rPr lang="ko-KR" altLang="en-US" sz="1200" dirty="0"/>
                        <a:t>입력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회원가입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이용자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통계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644808"/>
                  </a:ext>
                </a:extLst>
              </a:tr>
              <a:tr h="6750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동물장묘업체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농림축산검역본부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(e-animal.go.kr)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공공데이터 </a:t>
                      </a:r>
                      <a:r>
                        <a:rPr lang="en-US" altLang="ko-KR" sz="1200" dirty="0"/>
                        <a:t>API</a:t>
                      </a:r>
                      <a:r>
                        <a:rPr lang="ko-KR" altLang="en-US" sz="1200" dirty="0"/>
                        <a:t>호출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또는 주기적 크롤링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월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 서비스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6582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095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2098</TotalTime>
  <Words>914</Words>
  <Application>Microsoft Office PowerPoint</Application>
  <PresentationFormat>와이드스크린</PresentationFormat>
  <Paragraphs>226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114</cp:revision>
  <dcterms:created xsi:type="dcterms:W3CDTF">2025-08-05T00:27:28Z</dcterms:created>
  <dcterms:modified xsi:type="dcterms:W3CDTF">2025-09-30T07:39:20Z</dcterms:modified>
</cp:coreProperties>
</file>