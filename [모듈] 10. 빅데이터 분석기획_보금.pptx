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19" r:id="rId5"/>
    <p:sldId id="318" r:id="rId6"/>
    <p:sldId id="320" r:id="rId7"/>
    <p:sldId id="321" r:id="rId8"/>
    <p:sldId id="322" r:id="rId9"/>
    <p:sldId id="299" r:id="rId10"/>
    <p:sldId id="323" r:id="rId11"/>
    <p:sldId id="324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!)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자료형 포함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!)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기존 요구사항 </a:t>
            </a:r>
            <a:r>
              <a:rPr lang="ko-KR" altLang="en-US" dirty="0">
                <a:solidFill>
                  <a:prstClr val="black"/>
                </a:solidFill>
                <a:ea typeface="맑은 고딕" panose="020B0503020000020004" pitchFamily="50" charset="-127"/>
              </a:rPr>
              <a:t>확인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693967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검색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D6B86E2-A1AA-42D9-AFFB-9EE84C516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702353"/>
              </p:ext>
            </p:extLst>
          </p:nvPr>
        </p:nvGraphicFramePr>
        <p:xfrm>
          <a:off x="1291389" y="2561259"/>
          <a:ext cx="9889958" cy="29577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89958">
                  <a:extLst>
                    <a:ext uri="{9D8B030D-6E8A-4147-A177-3AD203B41FA5}">
                      <a16:colId xmlns:a16="http://schemas.microsoft.com/office/drawing/2014/main" val="1644613078"/>
                    </a:ext>
                  </a:extLst>
                </a:gridCol>
              </a:tblGrid>
              <a:tr h="442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주제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700829"/>
                  </a:ext>
                </a:extLst>
              </a:tr>
              <a:tr h="2514994"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목적 및 범위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회귀 분석 기법 선정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절차 및 프로세스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도구 및 환경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성능 평가 지표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기대 효과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결론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24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93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170686C7-1663-46CE-9C2C-6D4A0BE32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92628"/>
              </p:ext>
            </p:extLst>
          </p:nvPr>
        </p:nvGraphicFramePr>
        <p:xfrm>
          <a:off x="1007390" y="1635286"/>
          <a:ext cx="10506429" cy="4841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368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분석 목적 및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목적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 리뷰와 특성을 활용하여 감정 상태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우울 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를 분류하고 맞춤형 상담사를 추천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범위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상황 키워드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신체질환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리뷰 문장 텍스트 등을 입력 변수로 활용</a:t>
                      </a:r>
                      <a:endParaRPr lang="ko-KR" altLang="en-US" sz="12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회귀 분석 기법 선정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기본 모델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선형 회귀</a:t>
                      </a:r>
                      <a:r>
                        <a:rPr lang="en-US" altLang="ko-KR" sz="1200" b="0" dirty="0"/>
                        <a:t>(Linear Regression)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고급 모델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en-US" altLang="ko-KR" sz="1200" b="0" dirty="0" err="1"/>
                        <a:t>XGBoost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LightGBM</a:t>
                      </a:r>
                      <a:r>
                        <a:rPr lang="en-US" altLang="ko-KR" sz="1200" b="0" dirty="0"/>
                        <a:t>, Random Forest 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활용 방식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예시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 err="1"/>
                        <a:t>상황키워드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신체질환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감정 상태 → 상담사 매칭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2150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분석 절차 및 프로세스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정의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(Problem Definition)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수집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Collection)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Preprocessing)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탐색적 데이터 분석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(EDA)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분할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(Train/Test Split)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선택 및 학습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Training)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평가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Evaluation)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개선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Optimization)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배포 및 활용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(Deployment)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/>
                        <a:t>분석 도구 및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언어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라이브러리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Python (scikit-learn,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Notebook,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Colab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시각화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matplotlib, seaborn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33355"/>
              </p:ext>
            </p:extLst>
          </p:nvPr>
        </p:nvGraphicFramePr>
        <p:xfrm>
          <a:off x="842784" y="2269958"/>
          <a:ext cx="10671035" cy="37435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827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Precision / Recall / F1-score (macro/weighted,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감정 불균형 고려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다중 클래스 감정 분류 성능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Confusion Matrix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클래스별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오분류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상담 전 사용자의 감정 상태를 신속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정확히 파악하여 상담 품질 향상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부정적 감정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 등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예측 시 즉각적 맞춤형 상담사 연결 가능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질환을 고려한 상담사 배치 → 개인 맞춤 상담 경험 제공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상담 센터 운영 효율성 증대 및 서비스 신뢰도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분류 기반 모델</a:t>
                      </a:r>
                      <a:r>
                        <a:rPr lang="ko-KR" altLang="en-US" sz="1200" dirty="0"/>
                        <a:t>을 통해 사용자 리뷰와 특성을 분석하여 감정 상태를 예측하고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토대로 맞춤형 상담사를 추천하는 기획을 제시하였다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운영 단계에서는 </a:t>
                      </a:r>
                      <a:r>
                        <a:rPr lang="ko-KR" altLang="en-US" sz="1200" b="1" dirty="0"/>
                        <a:t>불균형 데이터 처리</a:t>
                      </a:r>
                      <a:r>
                        <a:rPr lang="en-US" altLang="ko-KR" sz="1200" b="1" dirty="0"/>
                        <a:t>(SMOTE </a:t>
                      </a:r>
                      <a:r>
                        <a:rPr lang="ko-KR" altLang="en-US" sz="1200" b="1" dirty="0"/>
                        <a:t>등</a:t>
                      </a:r>
                      <a:r>
                        <a:rPr lang="en-US" altLang="ko-KR" sz="1200" b="1" dirty="0"/>
                        <a:t>)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1" dirty="0"/>
                        <a:t>모델 설명 가능성</a:t>
                      </a:r>
                      <a:r>
                        <a:rPr lang="en-US" altLang="ko-KR" sz="1200" b="1" dirty="0"/>
                        <a:t>(SHAP/LIME)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1" dirty="0"/>
                        <a:t>성능 모니터링 및 재학습</a:t>
                      </a:r>
                      <a:r>
                        <a:rPr lang="ko-KR" altLang="en-US" sz="1200" dirty="0"/>
                        <a:t>을 포함하여 지속적으로 관리할 것을 제안한다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96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4. </a:t>
            </a:r>
            <a:r>
              <a:rPr lang="ko-KR" altLang="en-US" i="0" dirty="0">
                <a:solidFill>
                  <a:srgbClr val="000000"/>
                </a:solidFill>
                <a:effectLst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8F0DEC-04F5-4D36-B967-C36694A8A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95644"/>
              </p:ext>
            </p:extLst>
          </p:nvPr>
        </p:nvGraphicFramePr>
        <p:xfrm>
          <a:off x="1007390" y="1950280"/>
          <a:ext cx="10506429" cy="44393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49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615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모델링 목적 및 접근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사용자 리뷰와 특성을 활용하여 상담자의 감정 상태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우울 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를 분류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지도학습 기반 감정 분류 모델을 설계하고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토대로 맞춤형 상담사 추천 알고리즘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1133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후보 기법 및 선정 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로지스틱 회귀</a:t>
                      </a:r>
                      <a:r>
                        <a:rPr lang="en-US" altLang="ko-KR" sz="1200" b="1" dirty="0"/>
                        <a:t>(Logistic Regression)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기본적인 감정 분류 및 해석 용이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랜덤 포레스트</a:t>
                      </a:r>
                      <a:r>
                        <a:rPr lang="en-US" altLang="ko-KR" sz="1200" b="1" dirty="0"/>
                        <a:t>(Random Forest)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비선형 관계 학습과 변수 중요도 분석에 강점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en-US" altLang="ko-KR" sz="1200" b="1" dirty="0" err="1"/>
                        <a:t>XGBoost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en-US" altLang="ko-KR" sz="1200" b="1" dirty="0" err="1"/>
                        <a:t>LightGBM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대규모 데이터와 복잡한 패턴 학습에 강점</a:t>
                      </a:r>
                      <a:br>
                        <a:rPr lang="ko-KR" altLang="en-US" sz="1200" dirty="0"/>
                      </a:br>
                      <a:r>
                        <a:rPr lang="ko-KR" altLang="en-US" sz="1200" dirty="0"/>
                        <a:t>→ </a:t>
                      </a:r>
                      <a:r>
                        <a:rPr lang="ko-KR" altLang="en-US" sz="1200" b="1" dirty="0"/>
                        <a:t>최종적으로 </a:t>
                      </a:r>
                      <a:r>
                        <a:rPr lang="en-US" altLang="ko-KR" sz="1200" b="1" dirty="0"/>
                        <a:t>Random Forest</a:t>
                      </a:r>
                      <a:r>
                        <a:rPr lang="ko-KR" altLang="en-US" sz="1200" dirty="0"/>
                        <a:t> 선정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정확도와 </a:t>
                      </a:r>
                      <a:r>
                        <a:rPr lang="ko-KR" altLang="en-US" sz="1200" dirty="0" err="1"/>
                        <a:t>해석력</a:t>
                      </a:r>
                      <a:r>
                        <a:rPr lang="ko-KR" altLang="en-US" sz="1200" dirty="0"/>
                        <a:t> 균형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1318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데이터 </a:t>
                      </a:r>
                      <a:r>
                        <a:rPr lang="ko-KR" altLang="en-US" sz="1200" b="1" dirty="0" err="1"/>
                        <a:t>전처리</a:t>
                      </a:r>
                      <a:r>
                        <a:rPr lang="ko-KR" altLang="en-US" sz="1200" b="1" dirty="0"/>
                        <a:t> 및 특징 엔지니어링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 err="1"/>
                        <a:t>전처리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이상치 제거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결측치</a:t>
                      </a:r>
                      <a:r>
                        <a:rPr lang="ko-KR" altLang="en-US" sz="1200" dirty="0"/>
                        <a:t> 대체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범주형 변수 인코딩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특징 생성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상황 키워드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신체질환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리뷰 텍스트 </a:t>
                      </a:r>
                      <a:r>
                        <a:rPr lang="ko-KR" altLang="en-US" sz="1200" dirty="0" err="1"/>
                        <a:t>임베딩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차원 축소</a:t>
                      </a:r>
                      <a:r>
                        <a:rPr lang="en-US" altLang="ko-KR" sz="1200" dirty="0"/>
                        <a:t>: TF-IDF / Word2Vec </a:t>
                      </a:r>
                      <a:r>
                        <a:rPr lang="ko-KR" altLang="en-US" sz="1200" dirty="0"/>
                        <a:t>기반 텍스트 벡터 차원 축소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874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/>
                        <a:t>모델 관리 및 운영 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모델 관리 체계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모델 </a:t>
                      </a:r>
                      <a:r>
                        <a:rPr lang="ko-KR" altLang="en-US" sz="1200" dirty="0" err="1"/>
                        <a:t>버전별</a:t>
                      </a:r>
                      <a:r>
                        <a:rPr lang="ko-KR" altLang="en-US" sz="1200" dirty="0"/>
                        <a:t> 성능 기록 및 비교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운영 환경</a:t>
                      </a:r>
                      <a:r>
                        <a:rPr lang="en-US" altLang="ko-KR" sz="1200" dirty="0"/>
                        <a:t>: API </a:t>
                      </a:r>
                      <a:r>
                        <a:rPr lang="ko-KR" altLang="en-US" sz="1200" dirty="0"/>
                        <a:t>기반 감정 분석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추천 서비스 제공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모니터링</a:t>
                      </a:r>
                      <a:r>
                        <a:rPr lang="en-US" altLang="ko-KR" sz="1200" dirty="0"/>
                        <a:t>: Accuracy/F1-score </a:t>
                      </a:r>
                      <a:r>
                        <a:rPr lang="ko-KR" altLang="en-US" sz="1200" dirty="0"/>
                        <a:t>추적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주기적 모델 </a:t>
                      </a:r>
                      <a:r>
                        <a:rPr lang="ko-KR" altLang="en-US" sz="1200" dirty="0" err="1"/>
                        <a:t>재학습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78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4. </a:t>
            </a:r>
            <a:r>
              <a:rPr lang="ko-KR" altLang="en-US" i="0" dirty="0">
                <a:solidFill>
                  <a:srgbClr val="000000"/>
                </a:solidFill>
                <a:effectLst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36565"/>
              </p:ext>
            </p:extLst>
          </p:nvPr>
        </p:nvGraphicFramePr>
        <p:xfrm>
          <a:off x="842784" y="2089810"/>
          <a:ext cx="10671035" cy="42997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12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Precision / Recall / F1-score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감정 분류 품질 평가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감정 분류 성능 종합 지표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765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사용자 감정 상태를 정확히 예측하여 상담 만족도 제고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연령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성별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신체질환을 고려한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맞춤형 상담사 매칭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가능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상담 센터의 상담사 배치 효율화 및 서비스 품질 향상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데이터 기반 상담 서비스 운영 및 정책 수립 근거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22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분류 모델 기반 분석 모델링 기획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을 통해 사용자 리뷰와 특성을 분석하여 감정 상태를 예측하고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이를 상담사 추천 서비스에 적용함으로써 개인 맞춤형 상담 경험을 강화할 수 있음을 제시하였다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3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en-US" altLang="ko-KR" i="0" dirty="0">
                <a:solidFill>
                  <a:srgbClr val="000000"/>
                </a:solidFill>
                <a:effectLst/>
              </a:rPr>
              <a:t>5.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-apple-system"/>
              </a:rPr>
              <a:t>빅데이터 분석 결과 적용 계획하기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14322DBF-105F-440F-B39C-A506593D1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48909"/>
              </p:ext>
            </p:extLst>
          </p:nvPr>
        </p:nvGraphicFramePr>
        <p:xfrm>
          <a:off x="1049536" y="1667487"/>
          <a:ext cx="10092925" cy="47221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813"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구분</a:t>
                      </a:r>
                      <a:endParaRPr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내용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시각화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방안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구성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연령·성별·신체질환별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TOP 5,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매칭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시각화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도구</a:t>
                      </a:r>
                      <a:r>
                        <a:rPr sz="1100" dirty="0"/>
                        <a:t>: Tableau, Power BI, Python(Matplotlib/Seaborn)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예시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차트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히트맵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워드클라우드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라인차트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협업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실행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계획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참여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주체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역할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r>
                        <a:rPr sz="1100" dirty="0"/>
                        <a:t>(),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구축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),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r>
                        <a:rPr sz="1100" dirty="0"/>
                        <a:t>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방식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정기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회의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공유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, API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월간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성과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분기별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개선안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3. 비즈니스 적용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</a:t>
                      </a:r>
                    </a:p>
                    <a:p>
                      <a:pPr algn="l"/>
                      <a:r>
                        <a:rPr sz="1100" dirty="0"/>
                        <a:t>① </a:t>
                      </a:r>
                      <a:r>
                        <a:rPr sz="1100" dirty="0" err="1"/>
                        <a:t>시범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특정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대상군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중심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②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+ </a:t>
                      </a:r>
                      <a:r>
                        <a:rPr sz="1100" dirty="0" err="1"/>
                        <a:t>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③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센터에서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4. 응용 프로그램 연계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웹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관리자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상담사가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확인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외부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의료기관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예약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API/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연동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실시간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업데이트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스트리밍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즉시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반영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5. 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만족도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편의성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향상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위기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사용자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분노·우울</a:t>
                      </a:r>
                      <a:r>
                        <a:rPr sz="1100" dirty="0"/>
                        <a:t> 등) </a:t>
                      </a:r>
                      <a:r>
                        <a:rPr sz="1100" dirty="0" err="1"/>
                        <a:t>조기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파악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맞춤형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배치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인력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효율화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혁신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촉진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09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결론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 err="1"/>
                        <a:t>분석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알고리즘을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적용하는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로드맵을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제시하였다</a:t>
                      </a:r>
                      <a:r>
                        <a:rPr sz="1100" dirty="0"/>
                        <a:t>.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단계적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응용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프로그램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포함하여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가능한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마련할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있으며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사용자와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모두에게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유의미한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가치를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있다</a:t>
                      </a:r>
                      <a:r>
                        <a:rPr sz="11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외부 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Open API 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수집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0FD679BB-40CD-49A5-9E7F-EF206BE97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31224"/>
              </p:ext>
            </p:extLst>
          </p:nvPr>
        </p:nvGraphicFramePr>
        <p:xfrm>
          <a:off x="720135" y="1861918"/>
          <a:ext cx="10510242" cy="45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2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7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제공처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API/</a:t>
                      </a:r>
                      <a:r>
                        <a:rPr sz="1200" dirty="0" err="1"/>
                        <a:t>엔드포인트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메서드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Base URL · Endpoint(</a:t>
                      </a:r>
                      <a:r>
                        <a:rPr sz="1200" dirty="0" err="1"/>
                        <a:t>예시</a:t>
                      </a:r>
                      <a:r>
                        <a:rPr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비고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Google Cloud NLP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sentiment / 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language.googleapis.com/v1/documents:analyzeSentiment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리뷰 감정 분석, 키워드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Kakao</a:t>
                      </a:r>
                      <a:r>
                        <a:rPr sz="1200" b="1" dirty="0"/>
                        <a:t> NLP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morph / 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dapi.kakao.com/v2/</a:t>
                      </a:r>
                      <a:r>
                        <a:rPr sz="1200" dirty="0" err="1"/>
                        <a:t>nlp</a:t>
                      </a:r>
                      <a:r>
                        <a:rPr sz="1200" dirty="0"/>
                        <a:t>/morph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한국어 형태소 분석, 키워드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보건복지부·WHO</a:t>
                      </a:r>
                      <a:r>
                        <a:rPr sz="1200" b="1" dirty="0"/>
                        <a:t> Open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mentalHealthInfo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apis.data.go.kr/mental/...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정신건강 관련 질환·예방 가이드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Google Calendar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POST/GET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www.googleapis.com/calendar/v3/events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상담 일정 예약·알림 연동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Kakao</a:t>
                      </a:r>
                      <a:r>
                        <a:rPr sz="1200" b="1" dirty="0"/>
                        <a:t>/Naver Map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local search / geocode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dapi.kakao.com/v2/local/search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위치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상담사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추천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SNS/Streaming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twitter / firebase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GET/STREAM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api.twitter.com/2/tweets/search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실시간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감정·트렌드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40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내부 수집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API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2C13C44A-9EF0-47AA-A714-AEE8DF4D9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994203"/>
              </p:ext>
            </p:extLst>
          </p:nvPr>
        </p:nvGraphicFramePr>
        <p:xfrm>
          <a:off x="697832" y="1773197"/>
          <a:ext cx="10815986" cy="46676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1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9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4333"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시스템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API/</a:t>
                      </a:r>
                      <a:r>
                        <a:rPr sz="1000" dirty="0" err="1"/>
                        <a:t>엔드포인트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메서드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요청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파라미터</a:t>
                      </a:r>
                      <a:r>
                        <a:rPr sz="1000" dirty="0"/>
                        <a:t>/</a:t>
                      </a:r>
                      <a:r>
                        <a:rPr sz="1000" dirty="0" err="1"/>
                        <a:t>바디</a:t>
                      </a:r>
                      <a:r>
                        <a:rPr sz="1000" dirty="0"/>
                        <a:t>(</a:t>
                      </a:r>
                      <a:r>
                        <a:rPr sz="1000" dirty="0" err="1"/>
                        <a:t>타입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반환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자료형</a:t>
                      </a:r>
                      <a:r>
                        <a:rPr sz="1000" dirty="0"/>
                        <a:t>(</a:t>
                      </a:r>
                      <a:r>
                        <a:rPr sz="1000" dirty="0" err="1"/>
                        <a:t>타입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비고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/v1/users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Body(JSON)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user_token</a:t>
                      </a:r>
                      <a:r>
                        <a:rPr sz="1000" dirty="0"/>
                        <a:t> : string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age : int</a:t>
                      </a:r>
                    </a:p>
                    <a:p>
                      <a:r>
                        <a:rPr sz="1000" dirty="0"/>
                        <a:t>· gender : string</a:t>
                      </a:r>
                    </a:p>
                    <a:p>
                      <a:r>
                        <a:rPr sz="1000" dirty="0"/>
                        <a:t>· illness : string (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ts</a:t>
                      </a:r>
                      <a:r>
                        <a:rPr sz="1000" dirty="0"/>
                        <a:t> : string(ISO8601, 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HTTP 201 · application/json</a:t>
                      </a:r>
                    </a:p>
                    <a:p>
                      <a:r>
                        <a:rPr sz="1000"/>
                        <a:t>{"user_id": number, "status": "created", "received_at": "YYYY-MM-DDThh:mm:ss.sssZ"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사용자 기본 프로필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Body(JSON)</a:t>
                      </a:r>
                    </a:p>
                    <a:p>
                      <a:r>
                        <a:rPr sz="1000"/>
                        <a:t>· user_token : string (필수)</a:t>
                      </a:r>
                    </a:p>
                    <a:p>
                      <a:r>
                        <a:rPr sz="1000"/>
                        <a:t>· review_text : string (필수)</a:t>
                      </a:r>
                    </a:p>
                    <a:p>
                      <a:r>
                        <a:rPr sz="1000"/>
                        <a:t>· rating : int (1~5)</a:t>
                      </a:r>
                    </a:p>
                    <a:p>
                      <a:r>
                        <a:rPr sz="1000"/>
                        <a:t>· ts : string(ISO8601, 선택)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HTTP 200 · application/json</a:t>
                      </a:r>
                    </a:p>
                    <a:p>
                      <a:r>
                        <a:rPr sz="1000" dirty="0"/>
                        <a:t>{"</a:t>
                      </a:r>
                      <a:r>
                        <a:rPr sz="1000" dirty="0" err="1"/>
                        <a:t>review_id</a:t>
                      </a:r>
                      <a:r>
                        <a:rPr sz="1000" dirty="0"/>
                        <a:t>": number, "status": "ok", "</a:t>
                      </a:r>
                      <a:r>
                        <a:rPr sz="1000" dirty="0" err="1"/>
                        <a:t>created_at</a:t>
                      </a:r>
                      <a:r>
                        <a:rPr sz="1000" dirty="0"/>
                        <a:t>": "</a:t>
                      </a:r>
                      <a:r>
                        <a:rPr sz="1000" dirty="0" err="1"/>
                        <a:t>YYYY-MM-DDThh:mm:ss.sssZ</a:t>
                      </a:r>
                      <a:r>
                        <a:rPr sz="1000" dirty="0"/>
                        <a:t>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상담 후기/리뷰 데이터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/v1/sessions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Body(JSON)</a:t>
                      </a:r>
                    </a:p>
                    <a:p>
                      <a:r>
                        <a:rPr sz="1000"/>
                        <a:t>· user_token : string (필수)</a:t>
                      </a:r>
                    </a:p>
                    <a:p>
                      <a:r>
                        <a:rPr sz="1000"/>
                        <a:t>· counselor_id : int (필수)</a:t>
                      </a:r>
                    </a:p>
                    <a:p>
                      <a:r>
                        <a:rPr sz="1000"/>
                        <a:t>· duration : int (분)</a:t>
                      </a:r>
                    </a:p>
                    <a:p>
                      <a:r>
                        <a:rPr sz="1000"/>
                        <a:t>· transcript : string (선택)</a:t>
                      </a:r>
                    </a:p>
                    <a:p>
                      <a:r>
                        <a:rPr sz="1000"/>
                        <a:t>· ts : string(ISO8601, 선택)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HTTP 200 · application/json</a:t>
                      </a:r>
                    </a:p>
                    <a:p>
                      <a:r>
                        <a:rPr sz="1000"/>
                        <a:t>{"session_id": number, "status": "completed", "logged_at": "YYYY-MM-DDThh:mm:ss.sssZ"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상담 세션 기록 (대화 로그 포함)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/v1/feedbacks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Body(JSON)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user_token</a:t>
                      </a:r>
                      <a:r>
                        <a:rPr sz="1000" dirty="0"/>
                        <a:t> : string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counselor_id</a:t>
                      </a:r>
                      <a:r>
                        <a:rPr sz="1000" dirty="0"/>
                        <a:t> : int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satisfaction : int (1~5)</a:t>
                      </a:r>
                    </a:p>
                    <a:p>
                      <a:r>
                        <a:rPr sz="1000" dirty="0"/>
                        <a:t>· comment : string (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ts</a:t>
                      </a:r>
                      <a:r>
                        <a:rPr sz="1000" dirty="0"/>
                        <a:t> : string(ISO8601, 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HTTP 200 · application/json</a:t>
                      </a:r>
                    </a:p>
                    <a:p>
                      <a:r>
                        <a:rPr sz="1000" dirty="0"/>
                        <a:t>{"</a:t>
                      </a:r>
                      <a:r>
                        <a:rPr sz="1000" dirty="0" err="1"/>
                        <a:t>feedback_id</a:t>
                      </a:r>
                      <a:r>
                        <a:rPr sz="1000" dirty="0"/>
                        <a:t>": number, "status": "received", "</a:t>
                      </a:r>
                      <a:r>
                        <a:rPr sz="1000" dirty="0" err="1"/>
                        <a:t>updated_at</a:t>
                      </a:r>
                      <a:r>
                        <a:rPr sz="1000" dirty="0"/>
                        <a:t>": "</a:t>
                      </a:r>
                      <a:r>
                        <a:rPr sz="1000" dirty="0" err="1"/>
                        <a:t>YYYY-MM-DDThh:mm:ss.sssZ</a:t>
                      </a:r>
                      <a:r>
                        <a:rPr sz="1000" dirty="0"/>
                        <a:t>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/>
                        <a:t>상담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종료</a:t>
                      </a:r>
                      <a:r>
                        <a:rPr sz="1000" dirty="0"/>
                        <a:t> 후 </a:t>
                      </a:r>
                      <a:r>
                        <a:rPr sz="1000" dirty="0" err="1"/>
                        <a:t>만족도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피드백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3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</TotalTime>
  <Words>1942</Words>
  <Application>Microsoft Office PowerPoint</Application>
  <PresentationFormat>와이드스크린</PresentationFormat>
  <Paragraphs>270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115</cp:revision>
  <dcterms:created xsi:type="dcterms:W3CDTF">2025-08-05T00:27:28Z</dcterms:created>
  <dcterms:modified xsi:type="dcterms:W3CDTF">2025-09-30T08:11:54Z</dcterms:modified>
</cp:coreProperties>
</file>