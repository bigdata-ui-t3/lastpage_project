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302" r:id="rId4"/>
    <p:sldId id="318" r:id="rId5"/>
    <p:sldId id="319" r:id="rId6"/>
    <p:sldId id="321" r:id="rId7"/>
    <p:sldId id="320" r:id="rId8"/>
    <p:sldId id="322" r:id="rId9"/>
    <p:sldId id="323" r:id="rId10"/>
    <p:sldId id="324" r:id="rId11"/>
    <p:sldId id="325" r:id="rId12"/>
    <p:sldId id="326" r:id="rId13"/>
    <p:sldId id="299" r:id="rId14"/>
    <p:sldId id="327" r:id="rId15"/>
    <p:sldId id="328" r:id="rId16"/>
    <p:sldId id="329" r:id="rId17"/>
    <p:sldId id="330" r:id="rId18"/>
    <p:sldId id="331" r:id="rId19"/>
    <p:sldId id="332" r:id="rId20"/>
    <p:sldId id="286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빅데이터 환경분석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altLang="ko-KR" dirty="0"/>
              <a:t>INDEX </a:t>
            </a:r>
            <a:r>
              <a:rPr lang="ko-KR" altLang="en-US" dirty="0"/>
              <a:t>및 </a:t>
            </a:r>
            <a:r>
              <a:rPr lang="en-US" altLang="ko-KR" dirty="0"/>
              <a:t>CONTENTS</a:t>
            </a:r>
            <a:endParaRPr lang="ko-KR" altLang="en-US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63405" y="1716269"/>
            <a:ext cx="5327661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요건 정의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 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박준형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기존 요구사항 확인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요구사항 명세화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TRIP_SMART Use Case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명세서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TRIP_SMART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요구사항 검증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: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검토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(Review)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CFC6EAA-8325-4486-8D16-3BE392A7BDB4}"/>
              </a:ext>
            </a:extLst>
          </p:cNvPr>
          <p:cNvSpPr txBox="1">
            <a:spLocks/>
          </p:cNvSpPr>
          <p:nvPr/>
        </p:nvSpPr>
        <p:spPr>
          <a:xfrm>
            <a:off x="6398522" y="1716269"/>
            <a:ext cx="5327661" cy="1572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데이터 탐색 기획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 </a:t>
            </a: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손보금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데이터 분석 기획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분류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D7B18B17-BE04-4BE0-B812-06966B97BD73}"/>
              </a:ext>
            </a:extLst>
          </p:cNvPr>
          <p:cNvSpPr txBox="1">
            <a:spLocks/>
          </p:cNvSpPr>
          <p:nvPr/>
        </p:nvSpPr>
        <p:spPr>
          <a:xfrm>
            <a:off x="463404" y="4157238"/>
            <a:ext cx="5327661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데이터 확보 기획 </a:t>
            </a:r>
            <a:r>
              <a:rPr lang="en-US" altLang="ko-KR" sz="1600" b="1" u="sng" dirty="0">
                <a:solidFill>
                  <a:schemeClr val="bg1"/>
                </a:solidFill>
                <a:latin typeface="+mj-lt"/>
              </a:rPr>
              <a:t>- 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심예진</a:t>
            </a:r>
            <a:r>
              <a:rPr lang="ko-KR" altLang="en-US" sz="1600" b="1" u="sng" dirty="0">
                <a:solidFill>
                  <a:schemeClr val="bg1"/>
                </a:solidFill>
                <a:latin typeface="+mj-lt"/>
              </a:rPr>
              <a:t> 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개념적 설계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(Conceptual) - </a:t>
            </a:r>
            <a:r>
              <a:rPr lang="ko-KR" altLang="en-US" sz="1500" dirty="0" err="1">
                <a:solidFill>
                  <a:schemeClr val="bg1"/>
                </a:solidFill>
                <a:latin typeface="+mj-lt"/>
              </a:rPr>
              <a:t>엔터티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관계 요약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논리적 설계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(Logical)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테이블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키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인덱스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외부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Open API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내부 수집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API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     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7CA8DE4-6BE9-4BE6-AC91-FFD8E1E3EC2D}"/>
              </a:ext>
            </a:extLst>
          </p:cNvPr>
          <p:cNvSpPr txBox="1">
            <a:spLocks/>
          </p:cNvSpPr>
          <p:nvPr/>
        </p:nvSpPr>
        <p:spPr>
          <a:xfrm>
            <a:off x="6398521" y="3492649"/>
            <a:ext cx="5614514" cy="968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4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모델링 기획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 </a:t>
            </a: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손보금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    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빅데이터 분석 모델링 기획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분류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)</a:t>
            </a:r>
            <a:br>
              <a:rPr lang="en-US" altLang="ko-KR" sz="1400" dirty="0">
                <a:solidFill>
                  <a:schemeClr val="bg1"/>
                </a:solidFill>
                <a:latin typeface="+mj-lt"/>
              </a:rPr>
            </a:br>
            <a:endParaRPr lang="en-US" altLang="ko-KR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1BCE937-8E3D-496A-8190-F3C3CE40A191}"/>
              </a:ext>
            </a:extLst>
          </p:cNvPr>
          <p:cNvSpPr txBox="1">
            <a:spLocks/>
          </p:cNvSpPr>
          <p:nvPr/>
        </p:nvSpPr>
        <p:spPr>
          <a:xfrm>
            <a:off x="6398521" y="4978879"/>
            <a:ext cx="5614514" cy="968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bg1"/>
                </a:solidFill>
                <a:latin typeface="+mj-lt"/>
              </a:rPr>
              <a:t>5.   </a:t>
            </a: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결과 적용 계획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 </a:t>
            </a: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손보금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    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- NCS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빅데이터 분석 기획 보고서</a:t>
            </a:r>
            <a:br>
              <a:rPr lang="en-US" altLang="ko-KR" sz="1400" dirty="0">
                <a:solidFill>
                  <a:schemeClr val="bg1"/>
                </a:solidFill>
                <a:latin typeface="+mj-lt"/>
              </a:rPr>
            </a:br>
            <a:endParaRPr lang="en-US" altLang="ko-KR" sz="1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cs typeface="+mj-cs"/>
              </a:rPr>
              <a:t>1-1.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cs typeface="+mj-cs"/>
              </a:rPr>
              <a:t>기존 요구사항 </a:t>
            </a:r>
            <a:r>
              <a:rPr lang="ko-KR" altLang="en-US" sz="4000" dirty="0">
                <a:solidFill>
                  <a:prstClr val="black"/>
                </a:solidFill>
                <a:latin typeface="+mj-ea"/>
              </a:rPr>
              <a:t>확인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CA27A644-DEE2-4622-A8A0-58E81BD44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773572"/>
              </p:ext>
            </p:extLst>
          </p:nvPr>
        </p:nvGraphicFramePr>
        <p:xfrm>
          <a:off x="991184" y="1601637"/>
          <a:ext cx="10209630" cy="509277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12453">
                  <a:extLst>
                    <a:ext uri="{9D8B030D-6E8A-4147-A177-3AD203B41FA5}">
                      <a16:colId xmlns:a16="http://schemas.microsoft.com/office/drawing/2014/main" val="1257472940"/>
                    </a:ext>
                  </a:extLst>
                </a:gridCol>
                <a:gridCol w="1512162">
                  <a:extLst>
                    <a:ext uri="{9D8B030D-6E8A-4147-A177-3AD203B41FA5}">
                      <a16:colId xmlns:a16="http://schemas.microsoft.com/office/drawing/2014/main" val="2155757754"/>
                    </a:ext>
                  </a:extLst>
                </a:gridCol>
                <a:gridCol w="5369086">
                  <a:extLst>
                    <a:ext uri="{9D8B030D-6E8A-4147-A177-3AD203B41FA5}">
                      <a16:colId xmlns:a16="http://schemas.microsoft.com/office/drawing/2014/main" val="635701269"/>
                    </a:ext>
                  </a:extLst>
                </a:gridCol>
                <a:gridCol w="1915929">
                  <a:extLst>
                    <a:ext uri="{9D8B030D-6E8A-4147-A177-3AD203B41FA5}">
                      <a16:colId xmlns:a16="http://schemas.microsoft.com/office/drawing/2014/main" val="4193443379"/>
                    </a:ext>
                  </a:extLst>
                </a:gridCol>
              </a:tblGrid>
              <a:tr h="2967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요구</a:t>
                      </a:r>
                      <a:r>
                        <a:rPr lang="en-US" altLang="ko-KR" sz="1400" dirty="0"/>
                        <a:t>ID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유형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요구내용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요청자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8239233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R-001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위치 기반 장례식장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납골당 추천 및 검색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497427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보안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사용자의 위치 및 검색 데이터 암호화 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개인정보위원회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342817"/>
                  </a:ext>
                </a:extLst>
              </a:tr>
              <a:tr h="3366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R-003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반려동물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날짜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시간 정보 입력을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포함한 장례 예약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6920423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 비용 확인 및 웹 결제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02924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R-005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 예약 후 조회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취소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조건부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0335855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성능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예약 조회 시 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초 내 응답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215436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R-007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상담사 리스트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64408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R-008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추천 알고리즘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리뷰 데이터 기반 맞춤형 상담사 추천 알고리즘 활용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711879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R-009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상담형태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날짜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시간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심리상태 정보를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포함한 상담 예약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8287075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R-010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비용 확인 및 웹 결제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1669890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예약 후 조회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취소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조건부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53992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추천 알고리즘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실시간 판매 데이터 분석을 통한 인기 굿즈 트렌드 제공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9941419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R-013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굿즈 제작 요청 접수 시 업체에 자동 전달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굿즈 제작 업체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947432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분석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통계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예약 통계 리포트 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1369163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R-015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커뮤니티 작성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조회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8793557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R-016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커뮤니티 및 리뷰 신고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악성 게시글 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관리자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480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063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dirty="0">
                <a:solidFill>
                  <a:prstClr val="black"/>
                </a:solidFill>
                <a:ea typeface="맑은 고딕" panose="020B0503020000020004" pitchFamily="50" charset="-127"/>
              </a:rPr>
              <a:t>1-2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요구사항 명세화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B02A3B28-6344-4B05-B0FB-ADBA0E22D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022719"/>
              </p:ext>
            </p:extLst>
          </p:nvPr>
        </p:nvGraphicFramePr>
        <p:xfrm>
          <a:off x="580282" y="2984600"/>
          <a:ext cx="11031436" cy="205718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23847">
                  <a:extLst>
                    <a:ext uri="{9D8B030D-6E8A-4147-A177-3AD203B41FA5}">
                      <a16:colId xmlns:a16="http://schemas.microsoft.com/office/drawing/2014/main" val="3822811726"/>
                    </a:ext>
                  </a:extLst>
                </a:gridCol>
                <a:gridCol w="3328469">
                  <a:extLst>
                    <a:ext uri="{9D8B030D-6E8A-4147-A177-3AD203B41FA5}">
                      <a16:colId xmlns:a16="http://schemas.microsoft.com/office/drawing/2014/main" val="1040827934"/>
                    </a:ext>
                  </a:extLst>
                </a:gridCol>
                <a:gridCol w="1445978">
                  <a:extLst>
                    <a:ext uri="{9D8B030D-6E8A-4147-A177-3AD203B41FA5}">
                      <a16:colId xmlns:a16="http://schemas.microsoft.com/office/drawing/2014/main" val="1360107011"/>
                    </a:ext>
                  </a:extLst>
                </a:gridCol>
                <a:gridCol w="2326855">
                  <a:extLst>
                    <a:ext uri="{9D8B030D-6E8A-4147-A177-3AD203B41FA5}">
                      <a16:colId xmlns:a16="http://schemas.microsoft.com/office/drawing/2014/main" val="1885686380"/>
                    </a:ext>
                  </a:extLst>
                </a:gridCol>
                <a:gridCol w="2206287">
                  <a:extLst>
                    <a:ext uri="{9D8B030D-6E8A-4147-A177-3AD203B41FA5}">
                      <a16:colId xmlns:a16="http://schemas.microsoft.com/office/drawing/2014/main" val="446095888"/>
                    </a:ext>
                  </a:extLst>
                </a:gridCol>
              </a:tblGrid>
              <a:tr h="4707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요구사항 </a:t>
                      </a:r>
                      <a:r>
                        <a:rPr lang="en-US" altLang="ko-KR" sz="1400" dirty="0"/>
                        <a:t>ID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요구사항 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우선순위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입력데이터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출력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8444576"/>
                  </a:ext>
                </a:extLst>
              </a:tr>
              <a:tr h="9286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RQ-01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사용자의 현재 위치 기반 가까운 거리의 장례식장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납골당 추천 및 검색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GPS</a:t>
                      </a:r>
                      <a:r>
                        <a:rPr lang="ko-KR" altLang="en-US" sz="1400" dirty="0"/>
                        <a:t>위치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전국 반려동물 장례식장 위치 및 통계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반려동물 장례업체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리스트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 err="1"/>
                        <a:t>거리순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7793964"/>
                  </a:ext>
                </a:extLst>
              </a:tr>
              <a:tr h="657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RQ-02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리뷰 데이터 기반 사용자의 심리상태에 알맞은 상담사 추천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사용자 심리상태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맞춤형 상담사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 err="1"/>
                        <a:t>별점순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835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286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1-3. TRIP_SMART Use Case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명세서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546C5-F6EF-461B-A27C-F585FF8C5CB7}"/>
              </a:ext>
            </a:extLst>
          </p:cNvPr>
          <p:cNvSpPr txBox="1"/>
          <p:nvPr/>
        </p:nvSpPr>
        <p:spPr>
          <a:xfrm>
            <a:off x="783811" y="1773197"/>
            <a:ext cx="6564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            Use Case 1 :  </a:t>
            </a:r>
            <a:r>
              <a:rPr lang="ko-KR" altLang="en-US" sz="1600" b="1" dirty="0">
                <a:solidFill>
                  <a:schemeClr val="bg1"/>
                </a:solidFill>
              </a:rPr>
              <a:t>위치 기반 장례식장</a:t>
            </a:r>
            <a:r>
              <a:rPr lang="en-US" altLang="ko-KR" sz="1600" b="1" dirty="0">
                <a:solidFill>
                  <a:schemeClr val="bg1"/>
                </a:solidFill>
              </a:rPr>
              <a:t>/</a:t>
            </a:r>
            <a:r>
              <a:rPr lang="ko-KR" altLang="en-US" sz="1600" b="1" dirty="0">
                <a:solidFill>
                  <a:schemeClr val="bg1"/>
                </a:solidFill>
              </a:rPr>
              <a:t>납골당 추천 및 검색</a:t>
            </a: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DED3C16D-0E32-46FA-A03B-B2EE84676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741651"/>
              </p:ext>
            </p:extLst>
          </p:nvPr>
        </p:nvGraphicFramePr>
        <p:xfrm>
          <a:off x="1702877" y="2364649"/>
          <a:ext cx="8786244" cy="42096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17664">
                  <a:extLst>
                    <a:ext uri="{9D8B030D-6E8A-4147-A177-3AD203B41FA5}">
                      <a16:colId xmlns:a16="http://schemas.microsoft.com/office/drawing/2014/main" val="629785218"/>
                    </a:ext>
                  </a:extLst>
                </a:gridCol>
                <a:gridCol w="6568580">
                  <a:extLst>
                    <a:ext uri="{9D8B030D-6E8A-4147-A177-3AD203B41FA5}">
                      <a16:colId xmlns:a16="http://schemas.microsoft.com/office/drawing/2014/main" val="2171669908"/>
                    </a:ext>
                  </a:extLst>
                </a:gridCol>
              </a:tblGrid>
              <a:tr h="3876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983645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/>
                        <a:t>Use Case </a:t>
                      </a:r>
                      <a:r>
                        <a:rPr lang="ko-KR" altLang="en-US" sz="1200" b="1" dirty="0"/>
                        <a:t>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위치 기반 장례식장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납골당 추천 및 검색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054954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개요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사용자의 현재 위치 기반 가까운 거리의 장례식장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납골당 추천 및 검색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148484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사전조건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- GPS </a:t>
                      </a:r>
                      <a:r>
                        <a:rPr lang="ko-KR" altLang="en-US" sz="1400" dirty="0"/>
                        <a:t>권한 허용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9875013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기본흐름</a:t>
                      </a:r>
                      <a:r>
                        <a:rPr lang="en-US" altLang="ko-KR" sz="1200" b="1" dirty="0"/>
                        <a:t>(Basic Flow)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사용자가 웹사이트 실행</a:t>
                      </a:r>
                      <a:endParaRPr lang="en-US" altLang="ko-KR" sz="1400" dirty="0"/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시스템이 </a:t>
                      </a:r>
                      <a:r>
                        <a:rPr lang="en-US" altLang="ko-KR" sz="1400" dirty="0"/>
                        <a:t>GPS</a:t>
                      </a:r>
                      <a:r>
                        <a:rPr lang="ko-KR" altLang="en-US" sz="1400" dirty="0"/>
                        <a:t>로 현재 위치 수집</a:t>
                      </a:r>
                      <a:endParaRPr lang="en-US" altLang="ko-KR" sz="1400" dirty="0"/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시스템이 분석 후 추천 리스트 생성</a:t>
                      </a:r>
                      <a:endParaRPr lang="en-US" altLang="ko-KR" sz="1400" dirty="0"/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시스템이 </a:t>
                      </a:r>
                      <a:r>
                        <a:rPr lang="ko-KR" altLang="en-US" sz="1400" dirty="0" err="1"/>
                        <a:t>거리순</a:t>
                      </a:r>
                      <a:r>
                        <a:rPr lang="ko-KR" altLang="en-US" sz="1400" dirty="0"/>
                        <a:t> 반려동물 장례식장 리스트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591806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대안흐름</a:t>
                      </a:r>
                      <a:r>
                        <a:rPr lang="en-US" altLang="ko-KR" sz="1200" b="1" dirty="0"/>
                        <a:t>(Alternative Flow)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- A1: </a:t>
                      </a:r>
                      <a:r>
                        <a:rPr lang="ko-KR" altLang="en-US" sz="1400" dirty="0"/>
                        <a:t>사용자가 직접 위치 입력 → 해당 위치 기반 추천 리스트 생성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847453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예외흐름</a:t>
                      </a:r>
                      <a:r>
                        <a:rPr lang="en-US" altLang="ko-KR" sz="1200" b="1" dirty="0"/>
                        <a:t>(Exception Flow)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- E1 : </a:t>
                      </a:r>
                      <a:r>
                        <a:rPr lang="ko-KR" altLang="en-US" sz="1400" dirty="0"/>
                        <a:t>사용자가 </a:t>
                      </a:r>
                      <a:r>
                        <a:rPr lang="en-US" altLang="ko-KR" sz="1400" dirty="0"/>
                        <a:t>GPS </a:t>
                      </a:r>
                      <a:r>
                        <a:rPr lang="ko-KR" altLang="en-US" sz="1400" dirty="0"/>
                        <a:t>권한 </a:t>
                      </a:r>
                      <a:r>
                        <a:rPr lang="ko-KR" altLang="en-US" sz="1400" dirty="0" err="1"/>
                        <a:t>비동의</a:t>
                      </a:r>
                      <a:r>
                        <a:rPr lang="ko-KR" altLang="en-US" sz="1400" dirty="0"/>
                        <a:t> → 수도권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서울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경기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 중심 기본 리스트 생성</a:t>
                      </a:r>
                    </a:p>
                    <a:p>
                      <a:pPr algn="l" latinLnBrk="1"/>
                      <a:r>
                        <a:rPr lang="en-US" altLang="ko-KR" sz="1400" dirty="0"/>
                        <a:t>- E2 : </a:t>
                      </a:r>
                      <a:r>
                        <a:rPr lang="ko-KR" altLang="en-US" sz="1400" dirty="0"/>
                        <a:t>네트워크 오류 → 오류 메시지 및 </a:t>
                      </a:r>
                      <a:r>
                        <a:rPr lang="ko-KR" altLang="en-US" sz="1400" dirty="0" err="1"/>
                        <a:t>새로고침</a:t>
                      </a:r>
                      <a:r>
                        <a:rPr lang="ko-KR" altLang="en-US" sz="1400" dirty="0"/>
                        <a:t> 권장 안내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0031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4011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1-3. TRIP_SMART Use Case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명세서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546C5-F6EF-461B-A27C-F585FF8C5CB7}"/>
              </a:ext>
            </a:extLst>
          </p:cNvPr>
          <p:cNvSpPr txBox="1"/>
          <p:nvPr/>
        </p:nvSpPr>
        <p:spPr>
          <a:xfrm>
            <a:off x="783811" y="1773197"/>
            <a:ext cx="7368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    Use Case 2 : </a:t>
            </a:r>
            <a:r>
              <a:rPr lang="ko-KR" altLang="en-US" sz="1600" b="1" dirty="0">
                <a:solidFill>
                  <a:schemeClr val="bg1"/>
                </a:solidFill>
              </a:rPr>
              <a:t>사용자 리뷰 데이터 기반 맞춤형 상담사 추천 알고리즘 활용</a:t>
            </a:r>
          </a:p>
          <a:p>
            <a:endParaRPr lang="ko-KR" altLang="en-US" sz="1600" dirty="0">
              <a:solidFill>
                <a:schemeClr val="bg1"/>
              </a:solidFill>
            </a:endParaRP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DED3C16D-0E32-46FA-A03B-B2EE84676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711986"/>
              </p:ext>
            </p:extLst>
          </p:nvPr>
        </p:nvGraphicFramePr>
        <p:xfrm>
          <a:off x="1183158" y="2357972"/>
          <a:ext cx="9825681" cy="42096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80019">
                  <a:extLst>
                    <a:ext uri="{9D8B030D-6E8A-4147-A177-3AD203B41FA5}">
                      <a16:colId xmlns:a16="http://schemas.microsoft.com/office/drawing/2014/main" val="629785218"/>
                    </a:ext>
                  </a:extLst>
                </a:gridCol>
                <a:gridCol w="7345662">
                  <a:extLst>
                    <a:ext uri="{9D8B030D-6E8A-4147-A177-3AD203B41FA5}">
                      <a16:colId xmlns:a16="http://schemas.microsoft.com/office/drawing/2014/main" val="2171669908"/>
                    </a:ext>
                  </a:extLst>
                </a:gridCol>
              </a:tblGrid>
              <a:tr h="3876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983645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/>
                        <a:t>Use Case </a:t>
                      </a:r>
                      <a:r>
                        <a:rPr lang="ko-KR" altLang="en-US" sz="1200" b="1" dirty="0"/>
                        <a:t>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사용자 리뷰 데이터 기반 맞춤형 상담사 추천 알고리즘 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054954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개요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사용자가 리뷰를 쓰면 데이터를 활용해 맞춤형 상담사를 추천해주는 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148484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사전조건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사용자는 앱에 로그인 상태여야 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9875013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기본흐름</a:t>
                      </a:r>
                      <a:r>
                        <a:rPr lang="en-US" altLang="ko-KR" sz="1200" b="1" dirty="0"/>
                        <a:t>(Basic Flow)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사용자가 자신의 상태를 남김</a:t>
                      </a:r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시스템이 키워드를 판단함</a:t>
                      </a:r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시스템이 맞춤 상담사를 판별</a:t>
                      </a:r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시스템이 최종 맞춤 상담사를 사용자에게 추천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591806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대안흐름</a:t>
                      </a:r>
                      <a:r>
                        <a:rPr lang="en-US" altLang="ko-KR" sz="1200" b="1" dirty="0"/>
                        <a:t>(Alternative Flow)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A1 : </a:t>
                      </a:r>
                      <a:r>
                        <a:rPr lang="ko-KR" altLang="en-US" sz="1400" dirty="0"/>
                        <a:t>사용자가 복수 키워드 기입 →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공통 상담사 우선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847453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예외흐름</a:t>
                      </a:r>
                      <a:r>
                        <a:rPr lang="en-US" altLang="ko-KR" sz="1200" b="1" dirty="0"/>
                        <a:t>(Exception Flow)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E1 : </a:t>
                      </a:r>
                      <a:r>
                        <a:rPr lang="ko-KR" altLang="en-US" sz="1400" dirty="0"/>
                        <a:t>어떤 상태인지 구분하는 키워드를 적지 않음 →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단어의 유사도를 판단해 상담사 추천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0031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478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1-4. TRIP_SMART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요구사항 검증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61FE6-CE3E-4AAD-ADD4-A4EA90D6860B}"/>
              </a:ext>
            </a:extLst>
          </p:cNvPr>
          <p:cNvSpPr txBox="1"/>
          <p:nvPr/>
        </p:nvSpPr>
        <p:spPr>
          <a:xfrm>
            <a:off x="449450" y="1711205"/>
            <a:ext cx="281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검증 기법 </a:t>
            </a:r>
            <a:r>
              <a:rPr lang="en-US" altLang="ko-KR" b="1" dirty="0">
                <a:solidFill>
                  <a:schemeClr val="bg1"/>
                </a:solidFill>
              </a:rPr>
              <a:t>: </a:t>
            </a:r>
            <a:r>
              <a:rPr lang="ko-KR" altLang="en-US" b="1" dirty="0">
                <a:solidFill>
                  <a:schemeClr val="bg1"/>
                </a:solidFill>
              </a:rPr>
              <a:t>검토</a:t>
            </a:r>
            <a:r>
              <a:rPr lang="en-US" altLang="ko-KR" b="1" dirty="0">
                <a:solidFill>
                  <a:schemeClr val="bg1"/>
                </a:solidFill>
              </a:rPr>
              <a:t>(Review)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81CEE5-56F0-44A6-8DF5-F82ABC443930}"/>
              </a:ext>
            </a:extLst>
          </p:cNvPr>
          <p:cNvSpPr txBox="1"/>
          <p:nvPr/>
        </p:nvSpPr>
        <p:spPr>
          <a:xfrm>
            <a:off x="449450" y="2107464"/>
            <a:ext cx="94900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목적 </a:t>
            </a:r>
            <a:r>
              <a:rPr lang="en-US" altLang="ko-KR" sz="1600" dirty="0">
                <a:solidFill>
                  <a:schemeClr val="bg1"/>
                </a:solidFill>
              </a:rPr>
              <a:t>: </a:t>
            </a:r>
            <a:r>
              <a:rPr lang="ko-KR" altLang="en-US" sz="1600" dirty="0">
                <a:solidFill>
                  <a:schemeClr val="bg1"/>
                </a:solidFill>
              </a:rPr>
              <a:t>도출된 요구사항이 이해관계자</a:t>
            </a:r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장례업체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사용자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데이터 제공자 등</a:t>
            </a:r>
            <a:r>
              <a:rPr lang="en-US" altLang="ko-KR" sz="1600" dirty="0">
                <a:solidFill>
                  <a:schemeClr val="bg1"/>
                </a:solidFill>
              </a:rPr>
              <a:t>)</a:t>
            </a:r>
            <a:r>
              <a:rPr lang="ko-KR" altLang="en-US" sz="1600" dirty="0">
                <a:solidFill>
                  <a:schemeClr val="bg1"/>
                </a:solidFill>
              </a:rPr>
              <a:t>의 기대와 일치하는지 확인</a:t>
            </a:r>
            <a:r>
              <a:rPr lang="en-US" altLang="ko-KR" sz="1600" dirty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        </a:t>
            </a:r>
            <a:r>
              <a:rPr lang="en-US" altLang="ko-KR" sz="1600" dirty="0">
                <a:solidFill>
                  <a:srgbClr val="2C3930"/>
                </a:solidFill>
              </a:rPr>
              <a:t>.</a:t>
            </a:r>
            <a:r>
              <a:rPr lang="ko-KR" altLang="en-US" sz="1600" dirty="0">
                <a:solidFill>
                  <a:schemeClr val="bg1"/>
                </a:solidFill>
              </a:rPr>
              <a:t>요구사항의 모호성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누락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충돌 여부를 사전에 점검</a:t>
            </a:r>
            <a:r>
              <a:rPr lang="en-US" altLang="ko-KR" sz="1600" dirty="0">
                <a:solidFill>
                  <a:schemeClr val="bg1"/>
                </a:solidFill>
              </a:rPr>
              <a:t>.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F73B8EAB-417E-471E-857C-C320ABEA8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805758"/>
              </p:ext>
            </p:extLst>
          </p:nvPr>
        </p:nvGraphicFramePr>
        <p:xfrm>
          <a:off x="874828" y="3640068"/>
          <a:ext cx="4166499" cy="29606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17797">
                  <a:extLst>
                    <a:ext uri="{9D8B030D-6E8A-4147-A177-3AD203B41FA5}">
                      <a16:colId xmlns:a16="http://schemas.microsoft.com/office/drawing/2014/main" val="1990919159"/>
                    </a:ext>
                  </a:extLst>
                </a:gridCol>
                <a:gridCol w="2648702">
                  <a:extLst>
                    <a:ext uri="{9D8B030D-6E8A-4147-A177-3AD203B41FA5}">
                      <a16:colId xmlns:a16="http://schemas.microsoft.com/office/drawing/2014/main" val="761099162"/>
                    </a:ext>
                  </a:extLst>
                </a:gridCol>
              </a:tblGrid>
              <a:tr h="4597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역할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참여자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4915089"/>
                  </a:ext>
                </a:extLst>
              </a:tr>
              <a:tr h="625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사용자 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반려인 </a:t>
                      </a:r>
                      <a:r>
                        <a:rPr lang="en-US" altLang="ko-KR" sz="1400" dirty="0"/>
                        <a:t>10</a:t>
                      </a:r>
                      <a:r>
                        <a:rPr lang="ko-KR" altLang="en-US" sz="1400" dirty="0"/>
                        <a:t>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442444"/>
                  </a:ext>
                </a:extLst>
              </a:tr>
              <a:tr h="625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서비스 제공자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반려동물 장례업체</a:t>
                      </a:r>
                      <a:r>
                        <a:rPr lang="en-US" altLang="ko-KR" sz="1400" dirty="0"/>
                        <a:t>,</a:t>
                      </a:r>
                    </a:p>
                    <a:p>
                      <a:pPr algn="l" latinLnBrk="1"/>
                      <a:r>
                        <a:rPr lang="ko-KR" altLang="en-US" sz="1400" dirty="0"/>
                        <a:t>심리상담업체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15864"/>
                  </a:ext>
                </a:extLst>
              </a:tr>
              <a:tr h="625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데이터 제공자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위치정보 </a:t>
                      </a:r>
                      <a:r>
                        <a:rPr lang="en-US" altLang="ko-KR" sz="1400" dirty="0"/>
                        <a:t>API </a:t>
                      </a:r>
                      <a:r>
                        <a:rPr lang="ko-KR" altLang="en-US" sz="1400" dirty="0"/>
                        <a:t>업체 담당자</a:t>
                      </a:r>
                      <a:r>
                        <a:rPr lang="en-US" altLang="ko-KR" sz="1400" dirty="0"/>
                        <a:t>, </a:t>
                      </a:r>
                    </a:p>
                    <a:p>
                      <a:pPr algn="l" latinLnBrk="1"/>
                      <a:r>
                        <a:rPr lang="ko-KR" altLang="en-US" sz="1400" dirty="0"/>
                        <a:t>심리상담 데이터셋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임시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99814"/>
                  </a:ext>
                </a:extLst>
              </a:tr>
              <a:tr h="625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개발팀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기획자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개발자</a:t>
                      </a:r>
                      <a:r>
                        <a:rPr lang="en-US" altLang="ko-KR" sz="1400" dirty="0"/>
                        <a:t>,</a:t>
                      </a:r>
                    </a:p>
                    <a:p>
                      <a:pPr algn="l" latinLnBrk="1"/>
                      <a:r>
                        <a:rPr lang="en-US" altLang="ko-KR" sz="1400" dirty="0"/>
                        <a:t>QA </a:t>
                      </a:r>
                      <a:r>
                        <a:rPr lang="ko-KR" altLang="en-US" sz="1400" dirty="0"/>
                        <a:t>담당자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594423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3E11948-3BA8-463E-BE89-B1E1DF900938}"/>
              </a:ext>
            </a:extLst>
          </p:cNvPr>
          <p:cNvSpPr txBox="1"/>
          <p:nvPr/>
        </p:nvSpPr>
        <p:spPr>
          <a:xfrm>
            <a:off x="771301" y="3239524"/>
            <a:ext cx="44069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u="sng" dirty="0">
                <a:solidFill>
                  <a:schemeClr val="bg1"/>
                </a:solidFill>
              </a:rPr>
              <a:t>참여자                                             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2C70A3-713C-48A1-A273-5D8D88C4ECA4}"/>
              </a:ext>
            </a:extLst>
          </p:cNvPr>
          <p:cNvSpPr txBox="1"/>
          <p:nvPr/>
        </p:nvSpPr>
        <p:spPr>
          <a:xfrm>
            <a:off x="5832532" y="2884647"/>
            <a:ext cx="56220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u="sng" dirty="0">
                <a:solidFill>
                  <a:schemeClr val="bg1"/>
                </a:solidFill>
              </a:rPr>
              <a:t>검토항목                                                               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EFE7A8FF-A31A-4863-AA25-C69C6840E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737568"/>
              </p:ext>
            </p:extLst>
          </p:nvPr>
        </p:nvGraphicFramePr>
        <p:xfrm>
          <a:off x="5904209" y="3284817"/>
          <a:ext cx="5330640" cy="332979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13021">
                  <a:extLst>
                    <a:ext uri="{9D8B030D-6E8A-4147-A177-3AD203B41FA5}">
                      <a16:colId xmlns:a16="http://schemas.microsoft.com/office/drawing/2014/main" val="3582384445"/>
                    </a:ext>
                  </a:extLst>
                </a:gridCol>
                <a:gridCol w="2858145">
                  <a:extLst>
                    <a:ext uri="{9D8B030D-6E8A-4147-A177-3AD203B41FA5}">
                      <a16:colId xmlns:a16="http://schemas.microsoft.com/office/drawing/2014/main" val="3559744197"/>
                    </a:ext>
                  </a:extLst>
                </a:gridCol>
                <a:gridCol w="959474">
                  <a:extLst>
                    <a:ext uri="{9D8B030D-6E8A-4147-A177-3AD203B41FA5}">
                      <a16:colId xmlns:a16="http://schemas.microsoft.com/office/drawing/2014/main" val="3098319452"/>
                    </a:ext>
                  </a:extLst>
                </a:gridCol>
              </a:tblGrid>
              <a:tr h="572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검토 질문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확인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3919869"/>
                  </a:ext>
                </a:extLst>
              </a:tr>
              <a:tr h="678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기능 요구사항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GPS </a:t>
                      </a:r>
                      <a:r>
                        <a:rPr lang="ko-KR" altLang="en-US" sz="1400" dirty="0"/>
                        <a:t>기반 현재 위치 수집 및 반영 기능이 명확히 정의 되었는가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4025025"/>
                  </a:ext>
                </a:extLst>
              </a:tr>
              <a:tr h="5124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기능 요구사항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심리상태별 맞춤 심리상담사 추천이 충분히 구분되는가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199032"/>
                  </a:ext>
                </a:extLst>
              </a:tr>
              <a:tr h="5124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/>
                        <a:t>비기능</a:t>
                      </a:r>
                      <a:r>
                        <a:rPr lang="ko-KR" altLang="en-US" sz="1400" b="1" dirty="0"/>
                        <a:t> 요구사항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추천 속도가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초 이내라는 성능 목표가 현실적인가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△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추가 논의 필요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4341077"/>
                  </a:ext>
                </a:extLst>
              </a:tr>
              <a:tr h="5124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/>
                        <a:t>비기능</a:t>
                      </a:r>
                      <a:r>
                        <a:rPr lang="ko-KR" altLang="en-US" sz="1400" b="1" dirty="0"/>
                        <a:t> 요구사항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개인정보 암호화 저장 및 전송 방안이 포함되었는가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6772932"/>
                  </a:ext>
                </a:extLst>
              </a:tr>
              <a:tr h="5124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데이터 요구사항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사용자 리뷰 기반 데이터의 정확성과 수집 주기가 명확한가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△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추가 검토 필요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408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4255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1-4. TRIP_SMART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요구사항 검증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61FE6-CE3E-4AAD-ADD4-A4EA90D6860B}"/>
              </a:ext>
            </a:extLst>
          </p:cNvPr>
          <p:cNvSpPr txBox="1"/>
          <p:nvPr/>
        </p:nvSpPr>
        <p:spPr>
          <a:xfrm>
            <a:off x="835344" y="2707428"/>
            <a:ext cx="204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◇ 검토 결과 요약</a:t>
            </a: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D0200BF4-649B-452E-8BD6-F3B8CF606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781229"/>
              </p:ext>
            </p:extLst>
          </p:nvPr>
        </p:nvGraphicFramePr>
        <p:xfrm>
          <a:off x="730109" y="3211411"/>
          <a:ext cx="10731779" cy="199836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38666">
                  <a:extLst>
                    <a:ext uri="{9D8B030D-6E8A-4147-A177-3AD203B41FA5}">
                      <a16:colId xmlns:a16="http://schemas.microsoft.com/office/drawing/2014/main" val="4260948705"/>
                    </a:ext>
                  </a:extLst>
                </a:gridCol>
                <a:gridCol w="8393113">
                  <a:extLst>
                    <a:ext uri="{9D8B030D-6E8A-4147-A177-3AD203B41FA5}">
                      <a16:colId xmlns:a16="http://schemas.microsoft.com/office/drawing/2014/main" val="1798110352"/>
                    </a:ext>
                  </a:extLst>
                </a:gridCol>
              </a:tblGrid>
              <a:tr h="4168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06288"/>
                  </a:ext>
                </a:extLst>
              </a:tr>
              <a:tr h="5823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승인된 요구사항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사용자 위치 기반 장례업체 추천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사용자 심리상태별 심리상담사 추천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개인정보보안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6418449"/>
                  </a:ext>
                </a:extLst>
              </a:tr>
              <a:tr h="4168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보완 필요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성능목표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(3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초 이내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검증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데이터 수집 주기 및 정확성 확보 방안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3266644"/>
                  </a:ext>
                </a:extLst>
              </a:tr>
              <a:tr h="5823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후속 조치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추가 성능 테스트 계획 수립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데이터 제공자와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SLA(Service Level Agreement)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검토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634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1628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 </a:t>
            </a:r>
            <a:r>
              <a:rPr kumimoji="0" lang="en-US" altLang="ko-KR" sz="3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2-1. </a:t>
            </a:r>
            <a:r>
              <a:rPr kumimoji="0" lang="ko-KR" altLang="en-US" sz="3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개념적 설계</a:t>
            </a:r>
            <a:r>
              <a:rPr kumimoji="0" lang="en-US" altLang="ko-KR" sz="3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(Conceptual) - </a:t>
            </a:r>
            <a:r>
              <a:rPr kumimoji="0" lang="ko-KR" altLang="en-US" sz="36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엔터티</a:t>
            </a:r>
            <a:r>
              <a:rPr kumimoji="0" lang="en-US" altLang="ko-KR" sz="3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/</a:t>
            </a:r>
            <a:r>
              <a:rPr kumimoji="0" lang="ko-KR" altLang="en-US" sz="3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관계 요약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8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9" name="표 3">
            <a:extLst>
              <a:ext uri="{FF2B5EF4-FFF2-40B4-BE49-F238E27FC236}">
                <a16:creationId xmlns:a16="http://schemas.microsoft.com/office/drawing/2014/main" id="{E84066DC-8077-44E9-A546-FC0D8217C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035261"/>
              </p:ext>
            </p:extLst>
          </p:nvPr>
        </p:nvGraphicFramePr>
        <p:xfrm>
          <a:off x="931668" y="1585189"/>
          <a:ext cx="10176396" cy="509862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95458">
                  <a:extLst>
                    <a:ext uri="{9D8B030D-6E8A-4147-A177-3AD203B41FA5}">
                      <a16:colId xmlns:a16="http://schemas.microsoft.com/office/drawing/2014/main" val="1344673237"/>
                    </a:ext>
                  </a:extLst>
                </a:gridCol>
                <a:gridCol w="3658232">
                  <a:extLst>
                    <a:ext uri="{9D8B030D-6E8A-4147-A177-3AD203B41FA5}">
                      <a16:colId xmlns:a16="http://schemas.microsoft.com/office/drawing/2014/main" val="749706230"/>
                    </a:ext>
                  </a:extLst>
                </a:gridCol>
                <a:gridCol w="2223082">
                  <a:extLst>
                    <a:ext uri="{9D8B030D-6E8A-4147-A177-3AD203B41FA5}">
                      <a16:colId xmlns:a16="http://schemas.microsoft.com/office/drawing/2014/main" val="3584374462"/>
                    </a:ext>
                  </a:extLst>
                </a:gridCol>
                <a:gridCol w="2299624">
                  <a:extLst>
                    <a:ext uri="{9D8B030D-6E8A-4147-A177-3AD203B41FA5}">
                      <a16:colId xmlns:a16="http://schemas.microsoft.com/office/drawing/2014/main" val="2594297005"/>
                    </a:ext>
                  </a:extLst>
                </a:gridCol>
              </a:tblGrid>
              <a:tr h="3141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엔티티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핵심 속성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관계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738384"/>
                  </a:ext>
                </a:extLst>
              </a:tr>
              <a:tr h="6834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User(</a:t>
                      </a:r>
                      <a:r>
                        <a:rPr lang="ko-KR" altLang="en-US" sz="1200" b="1" dirty="0"/>
                        <a:t>사용자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user_id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age_group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relation_with_deceased</a:t>
                      </a:r>
                      <a:r>
                        <a:rPr lang="en-US" altLang="ko-KR" sz="1200" dirty="0"/>
                        <a:t>(FAMILY/FRIEND), </a:t>
                      </a:r>
                      <a:r>
                        <a:rPr lang="en-US" altLang="ko-KR" sz="1200" dirty="0" err="1"/>
                        <a:t>signup_channel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1:N → </a:t>
                      </a:r>
                      <a:r>
                        <a:rPr lang="en-US" altLang="ko-KR" sz="1200" dirty="0" err="1"/>
                        <a:t>UserLocation</a:t>
                      </a:r>
                      <a:r>
                        <a:rPr lang="en-US" altLang="ko-KR" sz="1200" dirty="0"/>
                        <a:t>,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1:N → Review,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1:N → </a:t>
                      </a:r>
                      <a:r>
                        <a:rPr lang="en-US" altLang="ko-KR" sz="1200" dirty="0" err="1"/>
                        <a:t>CounselingSession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PII </a:t>
                      </a:r>
                      <a:r>
                        <a:rPr lang="ko-KR" altLang="en-US" sz="1200" dirty="0"/>
                        <a:t>분리 저장 권장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611901"/>
                  </a:ext>
                </a:extLst>
              </a:tr>
              <a:tr h="4843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err="1"/>
                        <a:t>UserLocation</a:t>
                      </a:r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위치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user_id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lat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lon</a:t>
                      </a:r>
                      <a:r>
                        <a:rPr lang="en-US" altLang="ko-KR" sz="1200" dirty="0"/>
                        <a:t>, </a:t>
                      </a:r>
                    </a:p>
                    <a:p>
                      <a:pPr algn="ctr" latinLnBrk="1"/>
                      <a:r>
                        <a:rPr lang="en-US" altLang="ko-KR" sz="1200" dirty="0" err="1"/>
                        <a:t>accuracy_m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collected_at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N:1 → User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실시간 이벤트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0780334"/>
                  </a:ext>
                </a:extLst>
              </a:tr>
              <a:tr h="6231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Facility(</a:t>
                      </a:r>
                      <a:r>
                        <a:rPr lang="ko-KR" altLang="en-US" sz="1200" b="1" dirty="0"/>
                        <a:t>장례식장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납골당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facility_id</a:t>
                      </a:r>
                      <a:r>
                        <a:rPr lang="en-US" altLang="ko-KR" sz="1200" dirty="0"/>
                        <a:t>, name, type(FUNERAL_HALL/COLUMBARIUM), </a:t>
                      </a:r>
                      <a:r>
                        <a:rPr lang="en-US" altLang="ko-KR" sz="1200" dirty="0" err="1"/>
                        <a:t>lat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lon</a:t>
                      </a:r>
                      <a:r>
                        <a:rPr lang="en-US" altLang="ko-KR" sz="1200" dirty="0"/>
                        <a:t>, capacity, description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/>
                        <a:t>1:N → Review,</a:t>
                      </a:r>
                    </a:p>
                    <a:p>
                      <a:pPr algn="ctr" latinLnBrk="1"/>
                      <a:r>
                        <a:rPr lang="pt-BR" altLang="ko-KR" sz="1200" dirty="0"/>
                        <a:t>1:N → FacilitySnapshot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지역 </a:t>
                      </a:r>
                      <a:r>
                        <a:rPr lang="en-US" altLang="ko-KR" sz="1200" dirty="0"/>
                        <a:t>DB </a:t>
                      </a:r>
                      <a:r>
                        <a:rPr lang="ko-KR" altLang="en-US" sz="1200" dirty="0"/>
                        <a:t>및 공공 </a:t>
                      </a:r>
                      <a:r>
                        <a:rPr lang="en-US" altLang="ko-KR" sz="1200" dirty="0"/>
                        <a:t>API </a:t>
                      </a:r>
                      <a:r>
                        <a:rPr lang="ko-KR" altLang="en-US" sz="1200" dirty="0"/>
                        <a:t>연계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855080"/>
                  </a:ext>
                </a:extLst>
              </a:tr>
              <a:tr h="5732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err="1"/>
                        <a:t>FacilitySnapshot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혼잡도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상태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facility_id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obs_time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crowd_index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available_slots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N:1 → Facility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r>
                        <a:rPr lang="ko-KR" altLang="en-US" sz="1200" dirty="0"/>
                        <a:t>분 </a:t>
                      </a:r>
                      <a:r>
                        <a:rPr lang="ko-KR" altLang="en-US" sz="1200" dirty="0" err="1"/>
                        <a:t>폴링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183419"/>
                  </a:ext>
                </a:extLst>
              </a:tr>
              <a:tr h="580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Review(</a:t>
                      </a:r>
                      <a:r>
                        <a:rPr lang="ko-KR" altLang="en-US" sz="1200" b="1" dirty="0"/>
                        <a:t>리뷰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review_id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user_id</a:t>
                      </a:r>
                      <a:r>
                        <a:rPr lang="en-US" altLang="ko-KR" sz="1200" dirty="0"/>
                        <a:t>, source, rating, text, </a:t>
                      </a:r>
                      <a:r>
                        <a:rPr lang="en-US" altLang="ko-KR" sz="1200" dirty="0" err="1"/>
                        <a:t>sentiment_score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reviewed_at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N:1 → Facility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감성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품질 반영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644808"/>
                  </a:ext>
                </a:extLst>
              </a:tr>
              <a:tr h="5913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Counselor(</a:t>
                      </a:r>
                      <a:r>
                        <a:rPr lang="ko-KR" altLang="en-US" sz="1200" b="1" dirty="0"/>
                        <a:t>상담사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counselor_id</a:t>
                      </a:r>
                      <a:r>
                        <a:rPr lang="en-US" altLang="ko-KR" sz="1200" dirty="0"/>
                        <a:t>, specialty, </a:t>
                      </a:r>
                      <a:r>
                        <a:rPr lang="en-US" altLang="ko-KR" sz="1200" dirty="0" err="1"/>
                        <a:t>available_time</a:t>
                      </a:r>
                      <a:r>
                        <a:rPr lang="en-US" altLang="ko-KR" sz="1200" dirty="0"/>
                        <a:t>, rating, description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1:N → </a:t>
                      </a:r>
                      <a:r>
                        <a:rPr lang="en-US" altLang="ko-KR" sz="1200" dirty="0" err="1"/>
                        <a:t>CounselingSession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전문가 </a:t>
                      </a:r>
                      <a:r>
                        <a:rPr lang="en-US" altLang="ko-KR" sz="1200" dirty="0"/>
                        <a:t>DB </a:t>
                      </a:r>
                      <a:r>
                        <a:rPr lang="ko-KR" altLang="en-US" sz="1200" dirty="0"/>
                        <a:t>연계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6582960"/>
                  </a:ext>
                </a:extLst>
              </a:tr>
              <a:tr h="6199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err="1"/>
                        <a:t>CounselingSession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상담 세션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session_id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user_id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counselor_id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context_json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created_at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/>
                        <a:t>N:1 → User,</a:t>
                      </a:r>
                    </a:p>
                    <a:p>
                      <a:pPr algn="ctr" latinLnBrk="1"/>
                      <a:r>
                        <a:rPr lang="pt-BR" altLang="ko-KR" sz="1200" dirty="0"/>
                        <a:t>N:1 → Counselor,</a:t>
                      </a:r>
                    </a:p>
                    <a:p>
                      <a:pPr algn="ctr" latinLnBrk="1"/>
                      <a:r>
                        <a:rPr lang="pt-BR" altLang="ko-KR" sz="1200" dirty="0"/>
                        <a:t>1:N → Recommendation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기록 보관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5465030"/>
                  </a:ext>
                </a:extLst>
              </a:tr>
              <a:tr h="5913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Recommendation</a:t>
                      </a:r>
                    </a:p>
                    <a:p>
                      <a:pPr algn="ctr" latinLnBrk="1"/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추천 결과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rec_id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session_id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counselor_id</a:t>
                      </a:r>
                      <a:r>
                        <a:rPr lang="en-US" altLang="ko-KR" sz="1200" dirty="0"/>
                        <a:t>,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score, </a:t>
                      </a:r>
                      <a:r>
                        <a:rPr lang="en-US" altLang="ko-KR" sz="1200" dirty="0" err="1"/>
                        <a:t>rationale_text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N:1 → </a:t>
                      </a:r>
                      <a:r>
                        <a:rPr lang="en-US" altLang="ko-KR" sz="1200" dirty="0" err="1"/>
                        <a:t>CounselingSession</a:t>
                      </a:r>
                      <a:r>
                        <a:rPr lang="en-US" altLang="ko-KR" sz="1200" dirty="0"/>
                        <a:t>,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N:1 → Counselor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맞춤형 추천 근거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923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845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32135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      2-2. </a:t>
            </a:r>
            <a:r>
              <a:rPr kumimoji="0" lang="ko-KR" altLang="en-US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논리적 설계</a:t>
            </a:r>
            <a:r>
              <a:rPr kumimoji="0" lang="en-US" altLang="ko-KR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(Logical) - </a:t>
            </a:r>
            <a:r>
              <a:rPr kumimoji="0" lang="ko-KR" altLang="en-US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테이블</a:t>
            </a:r>
            <a:r>
              <a:rPr kumimoji="0" lang="en-US" altLang="ko-KR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/</a:t>
            </a:r>
            <a:r>
              <a:rPr kumimoji="0" lang="ko-KR" altLang="en-US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키</a:t>
            </a:r>
            <a:r>
              <a:rPr kumimoji="0" lang="en-US" altLang="ko-KR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/</a:t>
            </a:r>
            <a:r>
              <a:rPr kumimoji="0" lang="ko-KR" altLang="en-US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인덱스</a:t>
            </a:r>
            <a:r>
              <a:rPr kumimoji="0" lang="en-US" altLang="ko-KR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(</a:t>
            </a:r>
            <a:r>
              <a:rPr kumimoji="0" lang="ko-KR" altLang="en-US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자료형 포함</a:t>
            </a:r>
            <a:r>
              <a:rPr kumimoji="0" lang="en-US" altLang="ko-KR" sz="3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)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9" name="표 3">
            <a:extLst>
              <a:ext uri="{FF2B5EF4-FFF2-40B4-BE49-F238E27FC236}">
                <a16:creationId xmlns:a16="http://schemas.microsoft.com/office/drawing/2014/main" id="{E84066DC-8077-44E9-A546-FC0D8217C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40085"/>
              </p:ext>
            </p:extLst>
          </p:nvPr>
        </p:nvGraphicFramePr>
        <p:xfrm>
          <a:off x="102065" y="1649618"/>
          <a:ext cx="11987868" cy="506874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28015">
                  <a:extLst>
                    <a:ext uri="{9D8B030D-6E8A-4147-A177-3AD203B41FA5}">
                      <a16:colId xmlns:a16="http://schemas.microsoft.com/office/drawing/2014/main" val="1344673237"/>
                    </a:ext>
                  </a:extLst>
                </a:gridCol>
                <a:gridCol w="6202898">
                  <a:extLst>
                    <a:ext uri="{9D8B030D-6E8A-4147-A177-3AD203B41FA5}">
                      <a16:colId xmlns:a16="http://schemas.microsoft.com/office/drawing/2014/main" val="749706230"/>
                    </a:ext>
                  </a:extLst>
                </a:gridCol>
                <a:gridCol w="783611">
                  <a:extLst>
                    <a:ext uri="{9D8B030D-6E8A-4147-A177-3AD203B41FA5}">
                      <a16:colId xmlns:a16="http://schemas.microsoft.com/office/drawing/2014/main" val="3584374462"/>
                    </a:ext>
                  </a:extLst>
                </a:gridCol>
                <a:gridCol w="1905411">
                  <a:extLst>
                    <a:ext uri="{9D8B030D-6E8A-4147-A177-3AD203B41FA5}">
                      <a16:colId xmlns:a16="http://schemas.microsoft.com/office/drawing/2014/main" val="2594297005"/>
                    </a:ext>
                  </a:extLst>
                </a:gridCol>
                <a:gridCol w="1767933">
                  <a:extLst>
                    <a:ext uri="{9D8B030D-6E8A-4147-A177-3AD203B41FA5}">
                      <a16:colId xmlns:a16="http://schemas.microsoft.com/office/drawing/2014/main" val="2336383843"/>
                    </a:ext>
                  </a:extLst>
                </a:gridCol>
              </a:tblGrid>
              <a:tr h="2359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테이블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컬럼 정의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자료형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PK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FK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인덱스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기타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738384"/>
                  </a:ext>
                </a:extLst>
              </a:tr>
              <a:tr h="4954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TB_USER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user_id</a:t>
                      </a:r>
                      <a:r>
                        <a:rPr lang="en-US" altLang="ko-KR" sz="1100" dirty="0"/>
                        <a:t> BIGINT UNSIGNED; </a:t>
                      </a:r>
                      <a:r>
                        <a:rPr lang="en-US" altLang="ko-KR" sz="1100" dirty="0" err="1"/>
                        <a:t>age_group</a:t>
                      </a:r>
                      <a:r>
                        <a:rPr lang="en-US" altLang="ko-KR" sz="1100" dirty="0"/>
                        <a:t> ENUM('20</a:t>
                      </a:r>
                      <a:r>
                        <a:rPr lang="ko-KR" altLang="en-US" sz="1100" dirty="0"/>
                        <a:t>대</a:t>
                      </a:r>
                      <a:r>
                        <a:rPr lang="en-US" altLang="ko-KR" sz="1100" dirty="0"/>
                        <a:t>','30</a:t>
                      </a:r>
                      <a:r>
                        <a:rPr lang="ko-KR" altLang="en-US" sz="1100" dirty="0"/>
                        <a:t>대</a:t>
                      </a:r>
                      <a:r>
                        <a:rPr lang="en-US" altLang="ko-KR" sz="1100" dirty="0"/>
                        <a:t>','40</a:t>
                      </a:r>
                      <a:r>
                        <a:rPr lang="ko-KR" altLang="en-US" sz="1100" dirty="0"/>
                        <a:t>대</a:t>
                      </a:r>
                      <a:r>
                        <a:rPr lang="en-US" altLang="ko-KR" sz="1100" dirty="0"/>
                        <a:t>','50</a:t>
                      </a:r>
                      <a:r>
                        <a:rPr lang="ko-KR" altLang="en-US" sz="1100" dirty="0"/>
                        <a:t>대</a:t>
                      </a:r>
                      <a:r>
                        <a:rPr lang="en-US" altLang="ko-KR" sz="1100" dirty="0"/>
                        <a:t>+'); </a:t>
                      </a:r>
                      <a:r>
                        <a:rPr lang="en-US" altLang="ko-KR" sz="1100" dirty="0" err="1"/>
                        <a:t>relation_with_deceased</a:t>
                      </a:r>
                      <a:r>
                        <a:rPr lang="en-US" altLang="ko-KR" sz="1100" dirty="0"/>
                        <a:t> ENUM('FAMILY','FRIEND'); </a:t>
                      </a:r>
                      <a:r>
                        <a:rPr lang="en-US" altLang="ko-KR" sz="1100" dirty="0" err="1"/>
                        <a:t>signup_channel</a:t>
                      </a:r>
                      <a:r>
                        <a:rPr lang="en-US" altLang="ko-KR" sz="1100" dirty="0"/>
                        <a:t> VARCHAR(30); </a:t>
                      </a:r>
                      <a:r>
                        <a:rPr lang="en-US" altLang="ko-KR" sz="1100" dirty="0" err="1"/>
                        <a:t>created_at</a:t>
                      </a:r>
                      <a:r>
                        <a:rPr lang="en-US" altLang="ko-KR" sz="1100" dirty="0"/>
                        <a:t> DATETIME(3)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user_id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—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—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611901"/>
                  </a:ext>
                </a:extLst>
              </a:tr>
              <a:tr h="353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TB_USER_</a:t>
                      </a:r>
                    </a:p>
                    <a:p>
                      <a:pPr algn="ctr" latinLnBrk="1"/>
                      <a:r>
                        <a:rPr lang="en-US" altLang="ko-KR" sz="1200" b="1" dirty="0"/>
                        <a:t>LOCATION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loc_id</a:t>
                      </a:r>
                      <a:r>
                        <a:rPr lang="en-US" altLang="ko-KR" sz="1100" dirty="0"/>
                        <a:t> BIGINT UNSIGNED AUTO_INCREMENT; </a:t>
                      </a:r>
                      <a:r>
                        <a:rPr lang="en-US" altLang="ko-KR" sz="1100" dirty="0" err="1"/>
                        <a:t>user_id</a:t>
                      </a:r>
                      <a:r>
                        <a:rPr lang="en-US" altLang="ko-KR" sz="1100" dirty="0"/>
                        <a:t> BIGINT UNSIGNED; </a:t>
                      </a:r>
                      <a:r>
                        <a:rPr lang="en-US" altLang="ko-KR" sz="1100" dirty="0" err="1"/>
                        <a:t>lat</a:t>
                      </a:r>
                      <a:r>
                        <a:rPr lang="en-US" altLang="ko-KR" sz="1100" dirty="0"/>
                        <a:t> DECIMAL(9,6); </a:t>
                      </a:r>
                      <a:r>
                        <a:rPr lang="en-US" altLang="ko-KR" sz="1100" dirty="0" err="1"/>
                        <a:t>lon</a:t>
                      </a:r>
                      <a:r>
                        <a:rPr lang="en-US" altLang="ko-KR" sz="1100" dirty="0"/>
                        <a:t> DECIMAL(9,6); </a:t>
                      </a:r>
                      <a:r>
                        <a:rPr lang="en-US" altLang="ko-KR" sz="1100" dirty="0" err="1"/>
                        <a:t>accuracy_m</a:t>
                      </a:r>
                      <a:r>
                        <a:rPr lang="en-US" altLang="ko-KR" sz="1100" dirty="0"/>
                        <a:t> FLOAT; </a:t>
                      </a:r>
                      <a:r>
                        <a:rPr lang="en-US" altLang="ko-KR" sz="1100" dirty="0" err="1"/>
                        <a:t>collected_at</a:t>
                      </a:r>
                      <a:r>
                        <a:rPr lang="en-US" altLang="ko-KR" sz="1100" dirty="0"/>
                        <a:t> DATETIME(3)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loc_id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user_id</a:t>
                      </a:r>
                      <a:r>
                        <a:rPr lang="en-US" altLang="ko-KR" sz="1100" dirty="0"/>
                        <a:t> → </a:t>
                      </a:r>
                      <a:r>
                        <a:rPr lang="en-US" altLang="ko-KR" sz="1100" dirty="0" err="1"/>
                        <a:t>TB_USER.user_id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IDX(</a:t>
                      </a:r>
                      <a:r>
                        <a:rPr lang="en-US" altLang="ko-KR" sz="1100" dirty="0" err="1"/>
                        <a:t>user_id</a:t>
                      </a:r>
                      <a:r>
                        <a:rPr lang="en-US" altLang="ko-KR" sz="1100" dirty="0"/>
                        <a:t>, </a:t>
                      </a:r>
                      <a:r>
                        <a:rPr lang="en-US" altLang="ko-KR" sz="1100" dirty="0" err="1"/>
                        <a:t>collected_at</a:t>
                      </a:r>
                      <a:r>
                        <a:rPr lang="en-US" altLang="ko-KR" sz="1100" dirty="0"/>
                        <a:t>), GEO(</a:t>
                      </a:r>
                      <a:r>
                        <a:rPr lang="en-US" altLang="ko-KR" sz="1100" dirty="0" err="1"/>
                        <a:t>lat</a:t>
                      </a:r>
                      <a:r>
                        <a:rPr lang="en-US" altLang="ko-KR" sz="1100" dirty="0"/>
                        <a:t>, </a:t>
                      </a:r>
                      <a:r>
                        <a:rPr lang="en-US" altLang="ko-KR" sz="1100" dirty="0" err="1"/>
                        <a:t>lon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0780334"/>
                  </a:ext>
                </a:extLst>
              </a:tr>
              <a:tr h="4954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TB_FACILITY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facility_id</a:t>
                      </a:r>
                      <a:r>
                        <a:rPr lang="en-US" altLang="ko-KR" sz="1100" dirty="0"/>
                        <a:t> VARCHAR(32); name VARCHAR(200); type ENUM('FUNERAL_HALL','COLUMBARIUM'); </a:t>
                      </a:r>
                      <a:r>
                        <a:rPr lang="en-US" altLang="ko-KR" sz="1100" dirty="0" err="1"/>
                        <a:t>lat</a:t>
                      </a:r>
                      <a:r>
                        <a:rPr lang="en-US" altLang="ko-KR" sz="1100" dirty="0"/>
                        <a:t> DECIMAL(9,6); </a:t>
                      </a:r>
                      <a:r>
                        <a:rPr lang="en-US" altLang="ko-KR" sz="1100" dirty="0" err="1"/>
                        <a:t>lon</a:t>
                      </a:r>
                      <a:r>
                        <a:rPr lang="en-US" altLang="ko-KR" sz="1100" dirty="0"/>
                        <a:t> DECIMAL(9,6); capacity INT; description TEXT; </a:t>
                      </a:r>
                      <a:r>
                        <a:rPr lang="en-US" altLang="ko-KR" sz="1100" dirty="0" err="1"/>
                        <a:t>updated_at</a:t>
                      </a:r>
                      <a:r>
                        <a:rPr lang="en-US" altLang="ko-KR" sz="1100" dirty="0"/>
                        <a:t> DATETIME(0)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facility_id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—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GEO(</a:t>
                      </a:r>
                      <a:r>
                        <a:rPr lang="en-US" altLang="ko-KR" sz="1100" dirty="0" err="1"/>
                        <a:t>lat</a:t>
                      </a:r>
                      <a:r>
                        <a:rPr lang="en-US" altLang="ko-KR" sz="1100" dirty="0"/>
                        <a:t>, </a:t>
                      </a:r>
                      <a:r>
                        <a:rPr lang="en-US" altLang="ko-KR" sz="1100" dirty="0" err="1"/>
                        <a:t>lon</a:t>
                      </a:r>
                      <a:r>
                        <a:rPr lang="en-US" altLang="ko-KR" sz="1100" dirty="0"/>
                        <a:t>), IDX(type)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855080"/>
                  </a:ext>
                </a:extLst>
              </a:tr>
              <a:tr h="353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TB_FACILITY_</a:t>
                      </a:r>
                    </a:p>
                    <a:p>
                      <a:pPr algn="ctr" latinLnBrk="1"/>
                      <a:r>
                        <a:rPr lang="en-US" altLang="ko-KR" sz="1200" b="1" dirty="0"/>
                        <a:t>SNAPSHOT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snapshot_id</a:t>
                      </a:r>
                      <a:r>
                        <a:rPr lang="en-US" altLang="ko-KR" sz="1100" dirty="0"/>
                        <a:t> BIGINT UNSIGNED AUTO_INCREMENT; </a:t>
                      </a:r>
                      <a:r>
                        <a:rPr lang="en-US" altLang="ko-KR" sz="1100" dirty="0" err="1"/>
                        <a:t>facility_id</a:t>
                      </a:r>
                      <a:r>
                        <a:rPr lang="en-US" altLang="ko-KR" sz="1100" dirty="0"/>
                        <a:t> VARCHAR(32) NULL; </a:t>
                      </a:r>
                      <a:r>
                        <a:rPr lang="en-US" altLang="ko-KR" sz="1100" dirty="0" err="1"/>
                        <a:t>obs_time</a:t>
                      </a:r>
                      <a:r>
                        <a:rPr lang="en-US" altLang="ko-KR" sz="1100" dirty="0"/>
                        <a:t> DATETIME(0); </a:t>
                      </a:r>
                      <a:r>
                        <a:rPr lang="en-US" altLang="ko-KR" sz="1100" dirty="0" err="1"/>
                        <a:t>crowd_index</a:t>
                      </a:r>
                      <a:r>
                        <a:rPr lang="en-US" altLang="ko-KR" sz="1100" dirty="0"/>
                        <a:t> DECIMAL(5,2); </a:t>
                      </a:r>
                      <a:r>
                        <a:rPr lang="en-US" altLang="ko-KR" sz="1100" dirty="0" err="1"/>
                        <a:t>available_slots</a:t>
                      </a:r>
                      <a:r>
                        <a:rPr lang="en-US" altLang="ko-KR" sz="1100" dirty="0"/>
                        <a:t> INT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snapshot_id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옵션</a:t>
                      </a:r>
                      <a:r>
                        <a:rPr lang="en-US" altLang="ko-KR" sz="1100" dirty="0"/>
                        <a:t>) </a:t>
                      </a:r>
                      <a:r>
                        <a:rPr lang="en-US" altLang="ko-KR" sz="1100" dirty="0" err="1"/>
                        <a:t>facility_id</a:t>
                      </a:r>
                      <a:r>
                        <a:rPr lang="en-US" altLang="ko-KR" sz="1100" dirty="0"/>
                        <a:t> → </a:t>
                      </a:r>
                      <a:r>
                        <a:rPr lang="en-US" altLang="ko-KR" sz="1100" dirty="0" err="1"/>
                        <a:t>TB_FACILITY.facility_id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IDX(</a:t>
                      </a:r>
                      <a:r>
                        <a:rPr lang="en-US" altLang="ko-KR" sz="1100" dirty="0" err="1"/>
                        <a:t>obs_time</a:t>
                      </a:r>
                      <a:r>
                        <a:rPr lang="en-US" altLang="ko-KR" sz="1100" dirty="0"/>
                        <a:t>), IDX(</a:t>
                      </a:r>
                      <a:r>
                        <a:rPr lang="en-US" altLang="ko-KR" sz="1100" dirty="0" err="1"/>
                        <a:t>facility_id</a:t>
                      </a:r>
                      <a:r>
                        <a:rPr lang="en-US" altLang="ko-KR" sz="1100" dirty="0"/>
                        <a:t>, </a:t>
                      </a:r>
                      <a:r>
                        <a:rPr lang="en-US" altLang="ko-KR" sz="1100" dirty="0" err="1"/>
                        <a:t>obs_time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183419"/>
                  </a:ext>
                </a:extLst>
              </a:tr>
              <a:tr h="4954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TB_REVIEW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review_id</a:t>
                      </a:r>
                      <a:r>
                        <a:rPr lang="en-US" altLang="ko-KR" sz="1100" dirty="0"/>
                        <a:t> VARCHAR(64); </a:t>
                      </a:r>
                      <a:r>
                        <a:rPr lang="en-US" altLang="ko-KR" sz="1100" dirty="0" err="1"/>
                        <a:t>user_id</a:t>
                      </a:r>
                      <a:r>
                        <a:rPr lang="en-US" altLang="ko-KR" sz="1100" dirty="0"/>
                        <a:t> BIGINT UNSIGNED; </a:t>
                      </a:r>
                      <a:r>
                        <a:rPr lang="en-US" altLang="ko-KR" sz="1100" dirty="0" err="1"/>
                        <a:t>facility_id</a:t>
                      </a:r>
                      <a:r>
                        <a:rPr lang="en-US" altLang="ko-KR" sz="1100" dirty="0"/>
                        <a:t> VARCHAR(32); source ENUM('DIRECT','NAVER','GOOGLE'); rating DECIMAL(2,1); text </a:t>
                      </a:r>
                      <a:r>
                        <a:rPr lang="en-US" altLang="ko-KR" sz="1100" dirty="0" err="1"/>
                        <a:t>TEXT</a:t>
                      </a:r>
                      <a:r>
                        <a:rPr lang="en-US" altLang="ko-KR" sz="1100" dirty="0"/>
                        <a:t>; </a:t>
                      </a:r>
                      <a:r>
                        <a:rPr lang="en-US" altLang="ko-KR" sz="1100" dirty="0" err="1"/>
                        <a:t>sentiment_score</a:t>
                      </a:r>
                      <a:r>
                        <a:rPr lang="en-US" altLang="ko-KR" sz="1100" dirty="0"/>
                        <a:t> DECIMAL(3,2); </a:t>
                      </a:r>
                      <a:r>
                        <a:rPr lang="en-US" altLang="ko-KR" sz="1100" dirty="0" err="1"/>
                        <a:t>reviewed_at</a:t>
                      </a:r>
                      <a:r>
                        <a:rPr lang="en-US" altLang="ko-KR" sz="1100" dirty="0"/>
                        <a:t> DATETIME(0)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review_id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facility_id</a:t>
                      </a:r>
                      <a:r>
                        <a:rPr lang="en-US" altLang="ko-KR" sz="1100" dirty="0"/>
                        <a:t> → </a:t>
                      </a:r>
                      <a:r>
                        <a:rPr lang="en-US" altLang="ko-KR" sz="1100" dirty="0" err="1"/>
                        <a:t>TB_FACILITY.facility_id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IDX(</a:t>
                      </a:r>
                      <a:r>
                        <a:rPr lang="en-US" altLang="ko-KR" sz="1100" dirty="0" err="1"/>
                        <a:t>facility_id</a:t>
                      </a:r>
                      <a:r>
                        <a:rPr lang="en-US" altLang="ko-KR" sz="1100" dirty="0"/>
                        <a:t>, </a:t>
                      </a:r>
                      <a:r>
                        <a:rPr lang="en-US" altLang="ko-KR" sz="1100" dirty="0" err="1"/>
                        <a:t>reviewed_at</a:t>
                      </a:r>
                      <a:r>
                        <a:rPr lang="en-US" altLang="ko-KR" sz="1100" dirty="0"/>
                        <a:t>), FULLTEXT(text)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644808"/>
                  </a:ext>
                </a:extLst>
              </a:tr>
              <a:tr h="353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TB_COUNSELOR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counselor_id</a:t>
                      </a:r>
                      <a:r>
                        <a:rPr lang="en-US" altLang="ko-KR" sz="1100" dirty="0"/>
                        <a:t> BIGINT UNSIGNED AUTO_INCREMENT; specialty VARCHAR(100); </a:t>
                      </a:r>
                      <a:r>
                        <a:rPr lang="en-US" altLang="ko-KR" sz="1100" dirty="0" err="1"/>
                        <a:t>available_time</a:t>
                      </a:r>
                      <a:r>
                        <a:rPr lang="en-US" altLang="ko-KR" sz="1100" dirty="0"/>
                        <a:t> JSON; rating DECIMAL(2,1); description TEXT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counselor_id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—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IDX(specialty), IDX(rating)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6582960"/>
                  </a:ext>
                </a:extLst>
              </a:tr>
              <a:tr h="7785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TB_COUNSELING_SESSION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session_id</a:t>
                      </a:r>
                      <a:r>
                        <a:rPr lang="en-US" altLang="ko-KR" sz="1100" dirty="0"/>
                        <a:t> CHAR(36); </a:t>
                      </a:r>
                      <a:r>
                        <a:rPr lang="en-US" altLang="ko-KR" sz="1100" dirty="0" err="1"/>
                        <a:t>user_id</a:t>
                      </a:r>
                      <a:r>
                        <a:rPr lang="en-US" altLang="ko-KR" sz="1100" dirty="0"/>
                        <a:t> BIGINT UNSIGNED; </a:t>
                      </a:r>
                      <a:r>
                        <a:rPr lang="en-US" altLang="ko-KR" sz="1100" dirty="0" err="1"/>
                        <a:t>counselor_id</a:t>
                      </a:r>
                      <a:r>
                        <a:rPr lang="en-US" altLang="ko-KR" sz="1100" dirty="0"/>
                        <a:t> BIGINT UNSIGNED; </a:t>
                      </a:r>
                      <a:r>
                        <a:rPr lang="en-US" altLang="ko-KR" sz="1100" dirty="0" err="1"/>
                        <a:t>context_json</a:t>
                      </a:r>
                      <a:r>
                        <a:rPr lang="en-US" altLang="ko-KR" sz="1100" dirty="0"/>
                        <a:t> JSON; </a:t>
                      </a:r>
                      <a:r>
                        <a:rPr lang="en-US" altLang="ko-KR" sz="1100" dirty="0" err="1"/>
                        <a:t>created_at</a:t>
                      </a:r>
                      <a:r>
                        <a:rPr lang="en-US" altLang="ko-KR" sz="1100" dirty="0"/>
                        <a:t> DATETIME(3)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session_id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user_id</a:t>
                      </a:r>
                      <a:r>
                        <a:rPr lang="en-US" altLang="ko-KR" sz="1100" dirty="0"/>
                        <a:t> → </a:t>
                      </a:r>
                      <a:r>
                        <a:rPr lang="en-US" altLang="ko-KR" sz="1100" dirty="0" err="1"/>
                        <a:t>TB_USER.user_id</a:t>
                      </a:r>
                      <a:r>
                        <a:rPr lang="en-US" altLang="ko-KR" sz="1100" dirty="0"/>
                        <a:t>, </a:t>
                      </a:r>
                      <a:r>
                        <a:rPr lang="en-US" altLang="ko-KR" sz="1100" dirty="0" err="1"/>
                        <a:t>counselor_id</a:t>
                      </a:r>
                      <a:r>
                        <a:rPr lang="en-US" altLang="ko-KR" sz="1100" dirty="0"/>
                        <a:t> → </a:t>
                      </a:r>
                      <a:r>
                        <a:rPr lang="en-US" altLang="ko-KR" sz="1100" dirty="0" err="1"/>
                        <a:t>TB_COUNSELOR.counselor_id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IDX(</a:t>
                      </a:r>
                      <a:r>
                        <a:rPr lang="en-US" altLang="ko-KR" sz="1100" dirty="0" err="1"/>
                        <a:t>user_id</a:t>
                      </a:r>
                      <a:r>
                        <a:rPr lang="en-US" altLang="ko-KR" sz="1100" dirty="0"/>
                        <a:t>, </a:t>
                      </a:r>
                      <a:r>
                        <a:rPr lang="en-US" altLang="ko-KR" sz="1100" dirty="0" err="1"/>
                        <a:t>created_at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5465030"/>
                  </a:ext>
                </a:extLst>
              </a:tr>
              <a:tr h="920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TB_RECOMMENDATION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rec_id</a:t>
                      </a:r>
                      <a:r>
                        <a:rPr lang="en-US" altLang="ko-KR" sz="1100" dirty="0"/>
                        <a:t> CHAR(36); </a:t>
                      </a:r>
                      <a:r>
                        <a:rPr lang="en-US" altLang="ko-KR" sz="1100" dirty="0" err="1"/>
                        <a:t>session_id</a:t>
                      </a:r>
                      <a:r>
                        <a:rPr lang="en-US" altLang="ko-KR" sz="1100" dirty="0"/>
                        <a:t> CHAR(36); </a:t>
                      </a:r>
                      <a:r>
                        <a:rPr lang="en-US" altLang="ko-KR" sz="1100" dirty="0" err="1"/>
                        <a:t>counselor_id</a:t>
                      </a:r>
                      <a:r>
                        <a:rPr lang="en-US" altLang="ko-KR" sz="1100" dirty="0"/>
                        <a:t> BIGINT UNSIGNED; score DECIMAL(3,2); </a:t>
                      </a:r>
                      <a:r>
                        <a:rPr lang="en-US" altLang="ko-KR" sz="1100" dirty="0" err="1"/>
                        <a:t>rationale_text</a:t>
                      </a:r>
                      <a:r>
                        <a:rPr lang="en-US" altLang="ko-KR" sz="1100" dirty="0"/>
                        <a:t> TEXT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rec_id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session_id</a:t>
                      </a:r>
                      <a:r>
                        <a:rPr lang="en-US" altLang="ko-KR" sz="1100" dirty="0"/>
                        <a:t> → </a:t>
                      </a:r>
                      <a:r>
                        <a:rPr lang="en-US" altLang="ko-KR" sz="1100" dirty="0" err="1"/>
                        <a:t>TB_COUNSELING_SESSION.session_id</a:t>
                      </a:r>
                      <a:r>
                        <a:rPr lang="en-US" altLang="ko-KR" sz="1100" dirty="0"/>
                        <a:t>, </a:t>
                      </a:r>
                      <a:r>
                        <a:rPr lang="en-US" altLang="ko-KR" sz="1100" dirty="0" err="1"/>
                        <a:t>counselor_id</a:t>
                      </a:r>
                      <a:r>
                        <a:rPr lang="en-US" altLang="ko-KR" sz="1100" dirty="0"/>
                        <a:t> → </a:t>
                      </a:r>
                      <a:r>
                        <a:rPr lang="en-US" altLang="ko-KR" sz="1100" dirty="0" err="1"/>
                        <a:t>TB_COUNSELOR.counselor_id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—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923659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맑은 고딕" panose="020F0502020204030204"/>
                <a:ea typeface="맑은 고딕" panose="020B0503020000020004" pitchFamily="50" charset="-127"/>
              </a:rPr>
              <a:t>9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4479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2-3.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외부 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Open API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수집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10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0FD679BB-40CD-49A5-9E7F-EF206BE9762C}"/>
              </a:ext>
            </a:extLst>
          </p:cNvPr>
          <p:cNvGraphicFramePr>
            <a:graphicFrameLocks noGrp="1"/>
          </p:cNvGraphicFramePr>
          <p:nvPr/>
        </p:nvGraphicFramePr>
        <p:xfrm>
          <a:off x="720135" y="1861918"/>
          <a:ext cx="10510242" cy="4572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76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4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8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29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275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200" dirty="0" err="1"/>
                        <a:t>제공처</a:t>
                      </a:r>
                      <a:endParaRPr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/>
                        <a:t>API/</a:t>
                      </a:r>
                      <a:r>
                        <a:rPr sz="1200" dirty="0" err="1"/>
                        <a:t>엔드포인트</a:t>
                      </a:r>
                      <a:endParaRPr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/>
                        <a:t>메서드</a:t>
                      </a:r>
                      <a:endParaRPr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/>
                        <a:t>Base URL · Endpoint(</a:t>
                      </a:r>
                      <a:r>
                        <a:rPr sz="1200" dirty="0" err="1"/>
                        <a:t>예시</a:t>
                      </a:r>
                      <a:r>
                        <a:rPr sz="12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/>
                        <a:t>비고</a:t>
                      </a:r>
                      <a:endParaRPr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Google Cloud NLP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sentiment / entities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language.googleapis.com/v1/documents:analyzeSentiment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리뷰 감정 분석, 키워드 추출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/>
                        <a:t>Kakao</a:t>
                      </a:r>
                      <a:r>
                        <a:rPr sz="1200" b="1" dirty="0"/>
                        <a:t> NLP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morph / keyword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dapi.kakao.com/v2/</a:t>
                      </a:r>
                      <a:r>
                        <a:rPr sz="1200" dirty="0" err="1"/>
                        <a:t>nlp</a:t>
                      </a:r>
                      <a:r>
                        <a:rPr sz="1200" dirty="0"/>
                        <a:t>/morph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한국어 형태소 분석, 키워드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/>
                        <a:t>보건복지부·WHO</a:t>
                      </a:r>
                      <a:r>
                        <a:rPr sz="1200" b="1" dirty="0"/>
                        <a:t> Open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mentalHealthInfo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apis.data.go.kr/mental/...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정신건강 관련 질환·예방 가이드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Google Calendar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events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POST/GET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www.googleapis.com/calendar/v3/events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상담 일정 예약·알림 연동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/>
                        <a:t>Kakao</a:t>
                      </a:r>
                      <a:r>
                        <a:rPr sz="1200" b="1" dirty="0"/>
                        <a:t>/Naver Map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local search / geocode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dapi.kakao.com/v2/local/search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dirty="0" err="1"/>
                        <a:t>위치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기반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상담사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추천</a:t>
                      </a:r>
                      <a:endParaRPr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pPr algn="ctr"/>
                      <a:r>
                        <a:rPr sz="1200" b="1" dirty="0"/>
                        <a:t>SNS/Streaming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twitter / firebase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GET/STREAM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api.twitter.com/2/tweets/search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dirty="0" err="1"/>
                        <a:t>실시간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감정·트렌드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분석</a:t>
                      </a:r>
                      <a:endParaRPr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1640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2-4.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내부 수집 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API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2C13C44A-9EF0-47AA-A714-AEE8DF4D9669}"/>
              </a:ext>
            </a:extLst>
          </p:cNvPr>
          <p:cNvGraphicFramePr>
            <a:graphicFrameLocks noGrp="1"/>
          </p:cNvGraphicFramePr>
          <p:nvPr/>
        </p:nvGraphicFramePr>
        <p:xfrm>
          <a:off x="697832" y="1773197"/>
          <a:ext cx="10815986" cy="466769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39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5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00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1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81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91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4333">
                <a:tc>
                  <a:txBody>
                    <a:bodyPr/>
                    <a:lstStyle/>
                    <a:p>
                      <a:pPr algn="ctr"/>
                      <a:r>
                        <a:rPr sz="1000" dirty="0" err="1"/>
                        <a:t>시스템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API/</a:t>
                      </a:r>
                      <a:r>
                        <a:rPr sz="1000" dirty="0" err="1"/>
                        <a:t>엔드포인트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/>
                        <a:t>메서드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/>
                        <a:t>요청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파라미터</a:t>
                      </a:r>
                      <a:r>
                        <a:rPr sz="1000" dirty="0"/>
                        <a:t>/</a:t>
                      </a:r>
                      <a:r>
                        <a:rPr sz="1000" dirty="0" err="1"/>
                        <a:t>바디</a:t>
                      </a:r>
                      <a:r>
                        <a:rPr sz="1000" dirty="0"/>
                        <a:t>(</a:t>
                      </a:r>
                      <a:r>
                        <a:rPr sz="1000" dirty="0" err="1"/>
                        <a:t>타입</a:t>
                      </a:r>
                      <a:r>
                        <a:rPr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/>
                        <a:t>반환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자료형</a:t>
                      </a:r>
                      <a:r>
                        <a:rPr sz="1000" dirty="0"/>
                        <a:t>(</a:t>
                      </a:r>
                      <a:r>
                        <a:rPr sz="1000" dirty="0" err="1"/>
                        <a:t>타입</a:t>
                      </a:r>
                      <a:r>
                        <a:rPr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 err="1"/>
                        <a:t>비고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/>
                        <a:t>수집</a:t>
                      </a:r>
                      <a:r>
                        <a:rPr sz="1000" b="1" dirty="0"/>
                        <a:t> API GW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/v1/users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Body(JSON)</a:t>
                      </a:r>
                    </a:p>
                    <a:p>
                      <a:r>
                        <a:rPr sz="1000" dirty="0"/>
                        <a:t>· </a:t>
                      </a:r>
                      <a:r>
                        <a:rPr sz="1000" dirty="0" err="1"/>
                        <a:t>user_token</a:t>
                      </a:r>
                      <a:r>
                        <a:rPr sz="1000" dirty="0"/>
                        <a:t> : string (</a:t>
                      </a:r>
                      <a:r>
                        <a:rPr sz="1000" dirty="0" err="1"/>
                        <a:t>필수</a:t>
                      </a:r>
                      <a:r>
                        <a:rPr sz="1000" dirty="0"/>
                        <a:t>)</a:t>
                      </a:r>
                    </a:p>
                    <a:p>
                      <a:r>
                        <a:rPr sz="1000" dirty="0"/>
                        <a:t>· age : int</a:t>
                      </a:r>
                    </a:p>
                    <a:p>
                      <a:r>
                        <a:rPr sz="1000" dirty="0"/>
                        <a:t>· gender : string</a:t>
                      </a:r>
                    </a:p>
                    <a:p>
                      <a:r>
                        <a:rPr sz="1000" dirty="0"/>
                        <a:t>· illness : string (</a:t>
                      </a:r>
                      <a:r>
                        <a:rPr sz="1000" dirty="0" err="1"/>
                        <a:t>선택</a:t>
                      </a:r>
                      <a:r>
                        <a:rPr sz="1000" dirty="0"/>
                        <a:t>)</a:t>
                      </a:r>
                    </a:p>
                    <a:p>
                      <a:r>
                        <a:rPr sz="1000" dirty="0"/>
                        <a:t>· </a:t>
                      </a:r>
                      <a:r>
                        <a:rPr sz="1000" dirty="0" err="1"/>
                        <a:t>ts</a:t>
                      </a:r>
                      <a:r>
                        <a:rPr sz="1000" dirty="0"/>
                        <a:t> : string(ISO8601, </a:t>
                      </a:r>
                      <a:r>
                        <a:rPr sz="1000" dirty="0" err="1"/>
                        <a:t>선택</a:t>
                      </a:r>
                      <a:r>
                        <a:rPr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HTTP 201 · application/json</a:t>
                      </a:r>
                    </a:p>
                    <a:p>
                      <a:r>
                        <a:rPr sz="1000"/>
                        <a:t>{"user_id": number, "status": "created", "received_at": "YYYY-MM-DDThh:mm:ss.sssZ"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사용자 기본 프로필 수집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/>
                        <a:t>수집</a:t>
                      </a:r>
                      <a:r>
                        <a:rPr sz="1000" b="1" dirty="0"/>
                        <a:t> API GW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/v1/reviews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Body(JSON)</a:t>
                      </a:r>
                    </a:p>
                    <a:p>
                      <a:r>
                        <a:rPr sz="1000"/>
                        <a:t>· user_token : string (필수)</a:t>
                      </a:r>
                    </a:p>
                    <a:p>
                      <a:r>
                        <a:rPr sz="1000"/>
                        <a:t>· review_text : string (필수)</a:t>
                      </a:r>
                    </a:p>
                    <a:p>
                      <a:r>
                        <a:rPr sz="1000"/>
                        <a:t>· rating : int (1~5)</a:t>
                      </a:r>
                    </a:p>
                    <a:p>
                      <a:r>
                        <a:rPr sz="1000"/>
                        <a:t>· ts : string(ISO8601, 선택)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HTTP 200 · application/json</a:t>
                      </a:r>
                    </a:p>
                    <a:p>
                      <a:r>
                        <a:rPr sz="1000" dirty="0"/>
                        <a:t>{"</a:t>
                      </a:r>
                      <a:r>
                        <a:rPr sz="1000" dirty="0" err="1"/>
                        <a:t>review_id</a:t>
                      </a:r>
                      <a:r>
                        <a:rPr sz="1000" dirty="0"/>
                        <a:t>": number, "status": "ok", "</a:t>
                      </a:r>
                      <a:r>
                        <a:rPr sz="1000" dirty="0" err="1"/>
                        <a:t>created_at</a:t>
                      </a:r>
                      <a:r>
                        <a:rPr sz="1000" dirty="0"/>
                        <a:t>": "</a:t>
                      </a:r>
                      <a:r>
                        <a:rPr sz="1000" dirty="0" err="1"/>
                        <a:t>YYYY-MM-DDThh:mm:ss.sssZ</a:t>
                      </a:r>
                      <a:r>
                        <a:rPr sz="1000" dirty="0"/>
                        <a:t>"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dirty="0" err="1"/>
                        <a:t>상담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후기</a:t>
                      </a:r>
                      <a:r>
                        <a:rPr sz="1000" dirty="0"/>
                        <a:t>/</a:t>
                      </a:r>
                      <a:r>
                        <a:rPr sz="1000" dirty="0" err="1"/>
                        <a:t>리뷰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데이터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수집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/>
                        <a:t>수집</a:t>
                      </a:r>
                      <a:r>
                        <a:rPr sz="1000" b="1" dirty="0"/>
                        <a:t> API GW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/v1/sessions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Body(JSON)</a:t>
                      </a:r>
                    </a:p>
                    <a:p>
                      <a:r>
                        <a:rPr sz="1000"/>
                        <a:t>· user_token : string (필수)</a:t>
                      </a:r>
                    </a:p>
                    <a:p>
                      <a:r>
                        <a:rPr sz="1000"/>
                        <a:t>· counselor_id : int (필수)</a:t>
                      </a:r>
                    </a:p>
                    <a:p>
                      <a:r>
                        <a:rPr sz="1000"/>
                        <a:t>· duration : int (분)</a:t>
                      </a:r>
                    </a:p>
                    <a:p>
                      <a:r>
                        <a:rPr sz="1000"/>
                        <a:t>· transcript : string (선택)</a:t>
                      </a:r>
                    </a:p>
                    <a:p>
                      <a:r>
                        <a:rPr sz="1000"/>
                        <a:t>· ts : string(ISO8601, 선택)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HTTP 200 · application/json</a:t>
                      </a:r>
                    </a:p>
                    <a:p>
                      <a:r>
                        <a:rPr sz="1000"/>
                        <a:t>{"session_id": number, "status": "completed", "logged_at": "YYYY-MM-DDThh:mm:ss.sssZ"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상담 세션 기록 (대화 로그 포함)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/>
                        <a:t>수집</a:t>
                      </a:r>
                      <a:r>
                        <a:rPr sz="1000" b="1" dirty="0"/>
                        <a:t> API GW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/v1/feedbacks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Body(JSON)</a:t>
                      </a:r>
                    </a:p>
                    <a:p>
                      <a:r>
                        <a:rPr sz="1000" dirty="0"/>
                        <a:t>· </a:t>
                      </a:r>
                      <a:r>
                        <a:rPr sz="1000" dirty="0" err="1"/>
                        <a:t>user_token</a:t>
                      </a:r>
                      <a:r>
                        <a:rPr sz="1000" dirty="0"/>
                        <a:t> : string (</a:t>
                      </a:r>
                      <a:r>
                        <a:rPr sz="1000" dirty="0" err="1"/>
                        <a:t>필수</a:t>
                      </a:r>
                      <a:r>
                        <a:rPr sz="1000" dirty="0"/>
                        <a:t>)</a:t>
                      </a:r>
                    </a:p>
                    <a:p>
                      <a:r>
                        <a:rPr sz="1000" dirty="0"/>
                        <a:t>· </a:t>
                      </a:r>
                      <a:r>
                        <a:rPr sz="1000" dirty="0" err="1"/>
                        <a:t>counselor_id</a:t>
                      </a:r>
                      <a:r>
                        <a:rPr sz="1000" dirty="0"/>
                        <a:t> : int (</a:t>
                      </a:r>
                      <a:r>
                        <a:rPr sz="1000" dirty="0" err="1"/>
                        <a:t>필수</a:t>
                      </a:r>
                      <a:r>
                        <a:rPr sz="1000" dirty="0"/>
                        <a:t>)</a:t>
                      </a:r>
                    </a:p>
                    <a:p>
                      <a:r>
                        <a:rPr sz="1000" dirty="0"/>
                        <a:t>· satisfaction : int (1~5)</a:t>
                      </a:r>
                    </a:p>
                    <a:p>
                      <a:r>
                        <a:rPr sz="1000" dirty="0"/>
                        <a:t>· comment : string (</a:t>
                      </a:r>
                      <a:r>
                        <a:rPr sz="1000" dirty="0" err="1"/>
                        <a:t>선택</a:t>
                      </a:r>
                      <a:r>
                        <a:rPr sz="1000" dirty="0"/>
                        <a:t>)</a:t>
                      </a:r>
                    </a:p>
                    <a:p>
                      <a:r>
                        <a:rPr sz="1000" dirty="0"/>
                        <a:t>· </a:t>
                      </a:r>
                      <a:r>
                        <a:rPr sz="1000" dirty="0" err="1"/>
                        <a:t>ts</a:t>
                      </a:r>
                      <a:r>
                        <a:rPr sz="1000" dirty="0"/>
                        <a:t> : string(ISO8601, </a:t>
                      </a:r>
                      <a:r>
                        <a:rPr sz="1000" dirty="0" err="1"/>
                        <a:t>선택</a:t>
                      </a:r>
                      <a:r>
                        <a:rPr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HTTP 200 · application/json</a:t>
                      </a:r>
                    </a:p>
                    <a:p>
                      <a:r>
                        <a:rPr sz="1000" dirty="0"/>
                        <a:t>{"</a:t>
                      </a:r>
                      <a:r>
                        <a:rPr sz="1000" dirty="0" err="1"/>
                        <a:t>feedback_id</a:t>
                      </a:r>
                      <a:r>
                        <a:rPr sz="1000" dirty="0"/>
                        <a:t>": number, "status": "received", "</a:t>
                      </a:r>
                      <a:r>
                        <a:rPr sz="1000" dirty="0" err="1"/>
                        <a:t>updated_at</a:t>
                      </a:r>
                      <a:r>
                        <a:rPr sz="1000" dirty="0"/>
                        <a:t>": "</a:t>
                      </a:r>
                      <a:r>
                        <a:rPr sz="1000" dirty="0" err="1"/>
                        <a:t>YYYY-MM-DDThh:mm:ss.sssZ</a:t>
                      </a:r>
                      <a:r>
                        <a:rPr sz="1000" dirty="0"/>
                        <a:t>"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dirty="0" err="1"/>
                        <a:t>상담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종료</a:t>
                      </a:r>
                      <a:r>
                        <a:rPr sz="1000" dirty="0"/>
                        <a:t> 후 </a:t>
                      </a:r>
                      <a:r>
                        <a:rPr sz="1000" dirty="0" err="1"/>
                        <a:t>만족도</a:t>
                      </a:r>
                      <a:r>
                        <a:rPr sz="1000" dirty="0"/>
                        <a:t> 및 </a:t>
                      </a:r>
                      <a:r>
                        <a:rPr sz="1000" dirty="0" err="1"/>
                        <a:t>피드백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0138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3-1.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후보데이터 수집 방식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9" name="표 3">
            <a:extLst>
              <a:ext uri="{FF2B5EF4-FFF2-40B4-BE49-F238E27FC236}">
                <a16:creationId xmlns:a16="http://schemas.microsoft.com/office/drawing/2014/main" id="{E84066DC-8077-44E9-A546-FC0D8217CCD5}"/>
              </a:ext>
            </a:extLst>
          </p:cNvPr>
          <p:cNvGraphicFramePr>
            <a:graphicFrameLocks noGrp="1"/>
          </p:cNvGraphicFramePr>
          <p:nvPr/>
        </p:nvGraphicFramePr>
        <p:xfrm>
          <a:off x="997881" y="1843969"/>
          <a:ext cx="10196235" cy="447045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9247">
                  <a:extLst>
                    <a:ext uri="{9D8B030D-6E8A-4147-A177-3AD203B41FA5}">
                      <a16:colId xmlns:a16="http://schemas.microsoft.com/office/drawing/2014/main" val="1344673237"/>
                    </a:ext>
                  </a:extLst>
                </a:gridCol>
                <a:gridCol w="2039247">
                  <a:extLst>
                    <a:ext uri="{9D8B030D-6E8A-4147-A177-3AD203B41FA5}">
                      <a16:colId xmlns:a16="http://schemas.microsoft.com/office/drawing/2014/main" val="3313368287"/>
                    </a:ext>
                  </a:extLst>
                </a:gridCol>
                <a:gridCol w="2039247">
                  <a:extLst>
                    <a:ext uri="{9D8B030D-6E8A-4147-A177-3AD203B41FA5}">
                      <a16:colId xmlns:a16="http://schemas.microsoft.com/office/drawing/2014/main" val="749706230"/>
                    </a:ext>
                  </a:extLst>
                </a:gridCol>
                <a:gridCol w="2039247">
                  <a:extLst>
                    <a:ext uri="{9D8B030D-6E8A-4147-A177-3AD203B41FA5}">
                      <a16:colId xmlns:a16="http://schemas.microsoft.com/office/drawing/2014/main" val="3584374462"/>
                    </a:ext>
                  </a:extLst>
                </a:gridCol>
                <a:gridCol w="2039247">
                  <a:extLst>
                    <a:ext uri="{9D8B030D-6E8A-4147-A177-3AD203B41FA5}">
                      <a16:colId xmlns:a16="http://schemas.microsoft.com/office/drawing/2014/main" val="2594297005"/>
                    </a:ext>
                  </a:extLst>
                </a:gridCol>
              </a:tblGrid>
              <a:tr h="4338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후보 데이터 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수집 경로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수집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수집 주기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활용 목적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738384"/>
                  </a:ext>
                </a:extLst>
              </a:tr>
              <a:tr h="7801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커뮤니티 게시글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사용자가 앱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웹 내에서 직접 작성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텍스트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이미지 파일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업로드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게시글 작성 시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실시간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간 감정 공유 및 커뮤니티 활성화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611901"/>
                  </a:ext>
                </a:extLst>
              </a:tr>
              <a:tr h="5528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사용자 활동 로그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앱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웹 내 사용자 행동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클릭 스트림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페이지에 머문 시간 등 자동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행동 발생 시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실시간</a:t>
                      </a:r>
                      <a:r>
                        <a:rPr lang="en-US" altLang="ko-KR" sz="1200" dirty="0"/>
                        <a:t>) 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개인화 추천 알고리즘 학습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서비스 이용 행태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0780334"/>
                  </a:ext>
                </a:extLst>
              </a:tr>
              <a:tr h="7113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굿즈 선호도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사용자의 굿즈 조회</a:t>
                      </a:r>
                      <a:r>
                        <a:rPr lang="en-US" altLang="ko-KR" sz="1200" dirty="0"/>
                        <a:t>, ‘</a:t>
                      </a:r>
                      <a:r>
                        <a:rPr lang="ko-KR" altLang="en-US" sz="1200" dirty="0"/>
                        <a:t>좋아요</a:t>
                      </a:r>
                      <a:r>
                        <a:rPr lang="en-US" altLang="ko-KR" sz="1200" dirty="0"/>
                        <a:t>＇</a:t>
                      </a:r>
                      <a:r>
                        <a:rPr lang="ko-KR" altLang="en-US" sz="1200" dirty="0"/>
                        <a:t>클릭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로그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‘</a:t>
                      </a:r>
                      <a:r>
                        <a:rPr lang="ko-KR" altLang="en-US" sz="1200" dirty="0"/>
                        <a:t>좋아요</a:t>
                      </a:r>
                      <a:r>
                        <a:rPr lang="en-US" altLang="ko-KR" sz="1200" dirty="0"/>
                        <a:t>’ </a:t>
                      </a:r>
                      <a:r>
                        <a:rPr lang="ko-KR" altLang="en-US" sz="1200" dirty="0"/>
                        <a:t>발생 시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실시간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인기 굿즈 트렌드 분석 및 상품 추천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855080"/>
                  </a:ext>
                </a:extLst>
              </a:tr>
              <a:tr h="654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상담사 리뷰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평점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사용자가 상담 후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직접 입력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텍스트 입력 및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별점 선택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종료 후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비정기적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신뢰도 높은 상담사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추천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서비스 품질 개선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183419"/>
                  </a:ext>
                </a:extLst>
              </a:tr>
              <a:tr h="6627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회원 기본정보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사용자가 회원가입 시 직접 입력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폼</a:t>
                      </a:r>
                      <a:r>
                        <a:rPr lang="en-US" altLang="ko-KR" sz="1200" dirty="0"/>
                        <a:t>(Form) </a:t>
                      </a:r>
                      <a:r>
                        <a:rPr lang="ko-KR" altLang="en-US" sz="1200" dirty="0"/>
                        <a:t>입력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회원가입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이용자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통계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644808"/>
                  </a:ext>
                </a:extLst>
              </a:tr>
              <a:tr h="6750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동물장묘업체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농림축산검역본부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(e-animal.go.kr)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공공데이터 </a:t>
                      </a:r>
                      <a:r>
                        <a:rPr lang="en-US" altLang="ko-KR" sz="1200" dirty="0"/>
                        <a:t>API</a:t>
                      </a:r>
                      <a:r>
                        <a:rPr lang="ko-KR" altLang="en-US" sz="1200" dirty="0"/>
                        <a:t>호출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또는 주기적 크롤링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월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 서비스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6582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095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3-2.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빅데이터 분석 데이터 탐색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1D6B86E2-A1AA-42D9-AFFB-9EE84C516DF8}"/>
              </a:ext>
            </a:extLst>
          </p:cNvPr>
          <p:cNvGraphicFramePr>
            <a:graphicFrameLocks noGrp="1"/>
          </p:cNvGraphicFramePr>
          <p:nvPr/>
        </p:nvGraphicFramePr>
        <p:xfrm>
          <a:off x="1291389" y="2561259"/>
          <a:ext cx="9889958" cy="295777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889958">
                  <a:extLst>
                    <a:ext uri="{9D8B030D-6E8A-4147-A177-3AD203B41FA5}">
                      <a16:colId xmlns:a16="http://schemas.microsoft.com/office/drawing/2014/main" val="1644613078"/>
                    </a:ext>
                  </a:extLst>
                </a:gridCol>
              </a:tblGrid>
              <a:tr h="4427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주제 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사용자 리뷰 데이터 기반 맞춤형 상담사 추천 알고리즘 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1700829"/>
                  </a:ext>
                </a:extLst>
              </a:tr>
              <a:tr h="2514994">
                <a:tc>
                  <a:txBody>
                    <a:bodyPr/>
                    <a:lstStyle/>
                    <a:p>
                      <a:pPr marL="342900" indent="-3429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200" dirty="0"/>
                        <a:t>분석 목적 및 범위</a:t>
                      </a:r>
                      <a:endParaRPr lang="en-US" altLang="ko-KR" sz="1200" dirty="0"/>
                    </a:p>
                    <a:p>
                      <a:pPr marL="342900" indent="-3429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200" dirty="0"/>
                        <a:t>회귀 분석 기법 선정</a:t>
                      </a:r>
                      <a:endParaRPr lang="en-US" altLang="ko-KR" sz="1200" dirty="0"/>
                    </a:p>
                    <a:p>
                      <a:pPr marL="342900" indent="-3429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200" dirty="0"/>
                        <a:t>분석 절차 및 프로세스</a:t>
                      </a:r>
                      <a:endParaRPr lang="en-US" altLang="ko-KR" sz="1200" dirty="0"/>
                    </a:p>
                    <a:p>
                      <a:pPr marL="342900" indent="-3429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200" dirty="0"/>
                        <a:t>분석 도구 및 환경</a:t>
                      </a:r>
                      <a:endParaRPr lang="en-US" altLang="ko-KR" sz="1200" dirty="0"/>
                    </a:p>
                    <a:p>
                      <a:pPr marL="342900" indent="-3429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200" dirty="0"/>
                        <a:t>성능 평가 지표</a:t>
                      </a:r>
                      <a:endParaRPr lang="en-US" altLang="ko-KR" sz="1200" dirty="0"/>
                    </a:p>
                    <a:p>
                      <a:pPr marL="342900" indent="-3429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200" dirty="0"/>
                        <a:t>기대 효과</a:t>
                      </a:r>
                      <a:endParaRPr lang="en-US" altLang="ko-KR" sz="1200" dirty="0"/>
                    </a:p>
                    <a:p>
                      <a:pPr marL="342900" indent="-3429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200" dirty="0"/>
                        <a:t>결론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4241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93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3-3.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빅데이터 분석 데이터 탐색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170686C7-1663-46CE-9C2C-6D4A0BE320D4}"/>
              </a:ext>
            </a:extLst>
          </p:cNvPr>
          <p:cNvGraphicFramePr>
            <a:graphicFrameLocks noGrp="1"/>
          </p:cNvGraphicFramePr>
          <p:nvPr/>
        </p:nvGraphicFramePr>
        <p:xfrm>
          <a:off x="1007390" y="1635286"/>
          <a:ext cx="10506429" cy="48412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00953">
                  <a:extLst>
                    <a:ext uri="{9D8B030D-6E8A-4147-A177-3AD203B41FA5}">
                      <a16:colId xmlns:a16="http://schemas.microsoft.com/office/drawing/2014/main" val="2384602235"/>
                    </a:ext>
                  </a:extLst>
                </a:gridCol>
                <a:gridCol w="8605476">
                  <a:extLst>
                    <a:ext uri="{9D8B030D-6E8A-4147-A177-3AD203B41FA5}">
                      <a16:colId xmlns:a16="http://schemas.microsoft.com/office/drawing/2014/main" val="3315929628"/>
                    </a:ext>
                  </a:extLst>
                </a:gridCol>
              </a:tblGrid>
              <a:tr h="368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9644202"/>
                  </a:ext>
                </a:extLst>
              </a:tr>
              <a:tr h="7740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1. </a:t>
                      </a:r>
                      <a:r>
                        <a:rPr lang="ko-KR" altLang="en-US" sz="1200" b="1" dirty="0"/>
                        <a:t>분석 목적 및 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200" dirty="0"/>
                        <a:t>- </a:t>
                      </a:r>
                      <a:r>
                        <a:rPr lang="ko-KR" altLang="en-US" sz="1200" b="1" dirty="0"/>
                        <a:t>목적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사용자 리뷰와 특성을 활용하여 감정 상태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분노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불안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우울 등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를 분류하고 맞춤형 상담사를 추천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ko-KR" altLang="en-US" sz="1200" b="1" dirty="0"/>
                        <a:t>범위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연령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성별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상황 키워드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신체질환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리뷰 문장 텍스트 등을 입력 변수로 활용</a:t>
                      </a:r>
                      <a:endParaRPr lang="ko-KR" altLang="en-US" sz="1200" b="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16867"/>
                  </a:ext>
                </a:extLst>
              </a:tr>
              <a:tr h="7740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2. </a:t>
                      </a:r>
                      <a:r>
                        <a:rPr lang="ko-KR" altLang="en-US" sz="1200" b="1" dirty="0"/>
                        <a:t>회귀 분석 기법 선정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ko-KR" altLang="en-US" sz="1200" b="0" dirty="0"/>
                        <a:t>기본 모델</a:t>
                      </a:r>
                      <a:r>
                        <a:rPr lang="en-US" altLang="ko-KR" sz="1200" b="0" dirty="0"/>
                        <a:t> </a:t>
                      </a:r>
                      <a:r>
                        <a:rPr lang="ko-KR" altLang="en-US" sz="1200" b="0" dirty="0"/>
                        <a:t>선형 회귀</a:t>
                      </a:r>
                      <a:r>
                        <a:rPr lang="en-US" altLang="ko-KR" sz="1200" b="0" dirty="0"/>
                        <a:t>(Linear Regression)</a:t>
                      </a:r>
                    </a:p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ko-KR" altLang="en-US" sz="1200" b="0" dirty="0"/>
                        <a:t>고급 모델 </a:t>
                      </a:r>
                      <a:r>
                        <a:rPr lang="en-US" altLang="ko-KR" sz="1200" b="0" dirty="0"/>
                        <a:t>: </a:t>
                      </a:r>
                      <a:r>
                        <a:rPr lang="en-US" altLang="ko-KR" sz="1200" b="0" dirty="0" err="1"/>
                        <a:t>XGBoost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en-US" altLang="ko-KR" sz="1200" b="0" dirty="0" err="1"/>
                        <a:t>LightGBM</a:t>
                      </a:r>
                      <a:r>
                        <a:rPr lang="en-US" altLang="ko-KR" sz="1200" b="0" dirty="0"/>
                        <a:t>, Random Forest </a:t>
                      </a:r>
                    </a:p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ko-KR" altLang="en-US" sz="1200" b="0" dirty="0"/>
                        <a:t>활용 방식 </a:t>
                      </a:r>
                      <a:r>
                        <a:rPr lang="en-US" altLang="ko-KR" sz="1200" b="0" dirty="0"/>
                        <a:t>: </a:t>
                      </a:r>
                      <a:r>
                        <a:rPr lang="ko-KR" altLang="en-US" sz="1200" b="0" dirty="0"/>
                        <a:t>예시</a:t>
                      </a:r>
                      <a:r>
                        <a:rPr lang="en-US" altLang="ko-KR" sz="1200" b="0" dirty="0"/>
                        <a:t>) </a:t>
                      </a:r>
                      <a:r>
                        <a:rPr lang="ko-KR" altLang="en-US" sz="1200" b="0" dirty="0" err="1"/>
                        <a:t>상황키워드</a:t>
                      </a:r>
                      <a:r>
                        <a:rPr lang="ko-KR" altLang="en-US" sz="1200" b="0" dirty="0"/>
                        <a:t> </a:t>
                      </a:r>
                      <a:r>
                        <a:rPr lang="en-US" altLang="ko-KR" sz="1200" b="0" dirty="0"/>
                        <a:t>+ </a:t>
                      </a:r>
                      <a:r>
                        <a:rPr lang="ko-KR" altLang="en-US" sz="1200" b="0" dirty="0"/>
                        <a:t>신체질환 </a:t>
                      </a:r>
                      <a:r>
                        <a:rPr lang="en-US" altLang="ko-KR" sz="1200" b="0" dirty="0"/>
                        <a:t>+ </a:t>
                      </a:r>
                      <a:r>
                        <a:rPr lang="ko-KR" altLang="en-US" sz="1200" b="0" dirty="0"/>
                        <a:t>감정 상태 → 상담사 매칭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265552"/>
                  </a:ext>
                </a:extLst>
              </a:tr>
              <a:tr h="21502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3. </a:t>
                      </a:r>
                      <a:r>
                        <a:rPr lang="ko-KR" altLang="en-US" sz="1200" b="1" dirty="0"/>
                        <a:t>분석 절차 및 프로세스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문제 정의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(Problem Definition)</a:t>
                      </a:r>
                      <a:b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수집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(Data Collection)</a:t>
                      </a:r>
                      <a:b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3)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전처리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(Data Preprocessing)</a:t>
                      </a:r>
                      <a:b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4)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탐색적 데이터 분석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(EDA)</a:t>
                      </a:r>
                      <a:b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5)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분할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(Train/Test Split)</a:t>
                      </a:r>
                      <a:b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6)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 선택 및 학습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(Model Training)</a:t>
                      </a:r>
                      <a:b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7)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 평가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(Model Evaluation)</a:t>
                      </a:r>
                      <a:b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8)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 개선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(Model Optimization)</a:t>
                      </a:r>
                      <a:b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9)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 배포 및 활용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(Deployment)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8073282"/>
                  </a:ext>
                </a:extLst>
              </a:tr>
              <a:tr h="7740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4. </a:t>
                      </a:r>
                      <a:r>
                        <a:rPr lang="ko-KR" altLang="en-US" sz="1200" b="1" dirty="0"/>
                        <a:t>분석 도구 및 환경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언어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라이브러리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Python (scikit-learn, </a:t>
                      </a:r>
                      <a:r>
                        <a:rPr lang="en-US" altLang="ko-KR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환경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Jupyter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Notebook, </a:t>
                      </a:r>
                      <a:r>
                        <a:rPr lang="en-US" altLang="ko-KR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Colab</a:t>
                      </a:r>
                      <a:br>
                        <a:rPr lang="en-US" altLang="ko-KR" sz="1200" b="0" dirty="0"/>
                      </a:b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시각화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matplotlib, seaborn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689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0472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3-3.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빅데이터 분석 데이터 탐색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C98DAED-CD4A-46A2-8B69-6743B67D7B97}"/>
              </a:ext>
            </a:extLst>
          </p:cNvPr>
          <p:cNvGraphicFramePr>
            <a:graphicFrameLocks noGrp="1"/>
          </p:cNvGraphicFramePr>
          <p:nvPr/>
        </p:nvGraphicFramePr>
        <p:xfrm>
          <a:off x="842784" y="2269958"/>
          <a:ext cx="10671035" cy="374359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30736">
                  <a:extLst>
                    <a:ext uri="{9D8B030D-6E8A-4147-A177-3AD203B41FA5}">
                      <a16:colId xmlns:a16="http://schemas.microsoft.com/office/drawing/2014/main" val="821002484"/>
                    </a:ext>
                  </a:extLst>
                </a:gridCol>
                <a:gridCol w="8740299">
                  <a:extLst>
                    <a:ext uri="{9D8B030D-6E8A-4147-A177-3AD203B41FA5}">
                      <a16:colId xmlns:a16="http://schemas.microsoft.com/office/drawing/2014/main" val="512782864"/>
                    </a:ext>
                  </a:extLst>
                </a:gridCol>
              </a:tblGrid>
              <a:tr h="13827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성능 평가 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- Accuracy 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정확도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- Precision / Recall / F1-score (macro/weighted,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감정 불균형 고려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- ROC-AUC 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다중 클래스 감정 분류 성능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- Confusion Matrix 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클래스별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오분류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191752551"/>
                  </a:ext>
                </a:extLst>
              </a:tr>
              <a:tr h="11804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기대 효과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dirty="0"/>
                        <a:t>- </a:t>
                      </a:r>
                      <a:r>
                        <a:rPr lang="ko-KR" altLang="en-US" sz="1200" dirty="0"/>
                        <a:t>상담 전 사용자의 감정 상태를 신속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정확히 파악하여 상담 품질 향상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ko-KR" altLang="en-US" sz="1200" dirty="0"/>
                        <a:t>부정적 감정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분노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불안 등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예측 시 즉각적 맞춤형 상담사 연결 가능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ko-KR" altLang="en-US" sz="1200" dirty="0"/>
                        <a:t>연령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성별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질환을 고려한 상담사 배치 → 개인 맞춤 상담 경험 제공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ko-KR" altLang="en-US" sz="1200" dirty="0"/>
                        <a:t>상담 센터 운영 효율성 증대 및 서비스 신뢰도 강화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156464"/>
                  </a:ext>
                </a:extLst>
              </a:tr>
              <a:tr h="11804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7.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결론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분류 기반 모델</a:t>
                      </a:r>
                      <a:r>
                        <a:rPr lang="ko-KR" altLang="en-US" sz="1200" dirty="0"/>
                        <a:t>을 통해 사용자 리뷰와 특성을 분석하여 감정 상태를 예측하고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이를 토대로 맞춤형 상담사를 추천하는 기획을 제시하였다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dirty="0"/>
                        <a:t>운영 단계에서는 </a:t>
                      </a:r>
                      <a:r>
                        <a:rPr lang="ko-KR" altLang="en-US" sz="1200" b="1" dirty="0"/>
                        <a:t>불균형 데이터 처리</a:t>
                      </a:r>
                      <a:r>
                        <a:rPr lang="en-US" altLang="ko-KR" sz="1200" b="1" dirty="0"/>
                        <a:t>(SMOTE </a:t>
                      </a:r>
                      <a:r>
                        <a:rPr lang="ko-KR" altLang="en-US" sz="1200" b="1" dirty="0"/>
                        <a:t>등</a:t>
                      </a:r>
                      <a:r>
                        <a:rPr lang="en-US" altLang="ko-KR" sz="1200" b="1" dirty="0"/>
                        <a:t>)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b="1" dirty="0"/>
                        <a:t>모델 설명 가능성</a:t>
                      </a:r>
                      <a:r>
                        <a:rPr lang="en-US" altLang="ko-KR" sz="1200" b="1" dirty="0"/>
                        <a:t>(SHAP/LIME)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b="1" dirty="0"/>
                        <a:t>성능 모니터링 및 재학습</a:t>
                      </a:r>
                      <a:r>
                        <a:rPr lang="ko-KR" altLang="en-US" sz="1200" dirty="0"/>
                        <a:t>을 포함하여 지속적으로 관리할 것을 제안한다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702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9965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4.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빅데이터 분석 모델링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88F0DEC-04F5-4D36-B967-C36694A8A7CB}"/>
              </a:ext>
            </a:extLst>
          </p:cNvPr>
          <p:cNvGraphicFramePr>
            <a:graphicFrameLocks noGrp="1"/>
          </p:cNvGraphicFramePr>
          <p:nvPr/>
        </p:nvGraphicFramePr>
        <p:xfrm>
          <a:off x="1007390" y="1950280"/>
          <a:ext cx="10506429" cy="443932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00953">
                  <a:extLst>
                    <a:ext uri="{9D8B030D-6E8A-4147-A177-3AD203B41FA5}">
                      <a16:colId xmlns:a16="http://schemas.microsoft.com/office/drawing/2014/main" val="2384602235"/>
                    </a:ext>
                  </a:extLst>
                </a:gridCol>
                <a:gridCol w="8605476">
                  <a:extLst>
                    <a:ext uri="{9D8B030D-6E8A-4147-A177-3AD203B41FA5}">
                      <a16:colId xmlns:a16="http://schemas.microsoft.com/office/drawing/2014/main" val="3315929628"/>
                    </a:ext>
                  </a:extLst>
                </a:gridCol>
              </a:tblGrid>
              <a:tr h="4970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9644202"/>
                  </a:ext>
                </a:extLst>
              </a:tr>
              <a:tr h="615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1. </a:t>
                      </a:r>
                      <a:r>
                        <a:rPr lang="ko-KR" altLang="en-US" sz="1200" b="1" dirty="0"/>
                        <a:t>모델링 목적 및 접근 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dirty="0"/>
                        <a:t>- </a:t>
                      </a:r>
                      <a:r>
                        <a:rPr lang="ko-KR" altLang="en-US" sz="1200" dirty="0"/>
                        <a:t>사용자 리뷰와 특성을 활용하여 상담자의 감정 상태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분노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불안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우울 등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를 분류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ko-KR" altLang="en-US" sz="1200" dirty="0"/>
                        <a:t>지도학습 기반 감정 분류 모델을 설계하고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이를 토대로 맞춤형 상담사 추천 알고리즘 개발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16867"/>
                  </a:ext>
                </a:extLst>
              </a:tr>
              <a:tr h="11338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2. </a:t>
                      </a:r>
                      <a:r>
                        <a:rPr lang="ko-KR" altLang="en-US" sz="1200" b="1" dirty="0"/>
                        <a:t>후보 기법 및 선정 근거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dirty="0"/>
                        <a:t>- </a:t>
                      </a:r>
                      <a:r>
                        <a:rPr lang="ko-KR" altLang="en-US" sz="1200" b="1" dirty="0"/>
                        <a:t>로지스틱 회귀</a:t>
                      </a:r>
                      <a:r>
                        <a:rPr lang="en-US" altLang="ko-KR" sz="1200" b="1" dirty="0"/>
                        <a:t>(Logistic Regression)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기본적인 감정 분류 및 해석 용이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ko-KR" altLang="en-US" sz="1200" b="1" dirty="0"/>
                        <a:t>랜덤 포레스트</a:t>
                      </a:r>
                      <a:r>
                        <a:rPr lang="en-US" altLang="ko-KR" sz="1200" b="1" dirty="0"/>
                        <a:t>(Random Forest)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비선형 관계 학습과 변수 중요도 분석에 강점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en-US" altLang="ko-KR" sz="1200" b="1" dirty="0" err="1"/>
                        <a:t>XGBoost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en-US" altLang="ko-KR" sz="1200" b="1" dirty="0" err="1"/>
                        <a:t>LightGBM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대규모 데이터와 복잡한 패턴 학습에 강점</a:t>
                      </a:r>
                      <a:br>
                        <a:rPr lang="ko-KR" altLang="en-US" sz="1200" dirty="0"/>
                      </a:br>
                      <a:r>
                        <a:rPr lang="ko-KR" altLang="en-US" sz="1200" dirty="0"/>
                        <a:t>→ </a:t>
                      </a:r>
                      <a:r>
                        <a:rPr lang="ko-KR" altLang="en-US" sz="1200" b="1" dirty="0"/>
                        <a:t>최종적으로 </a:t>
                      </a:r>
                      <a:r>
                        <a:rPr lang="en-US" altLang="ko-KR" sz="1200" b="1" dirty="0"/>
                        <a:t>Random Forest</a:t>
                      </a:r>
                      <a:r>
                        <a:rPr lang="ko-KR" altLang="en-US" sz="1200" dirty="0"/>
                        <a:t> 선정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정확도와 </a:t>
                      </a:r>
                      <a:r>
                        <a:rPr lang="ko-KR" altLang="en-US" sz="1200" dirty="0" err="1"/>
                        <a:t>해석력</a:t>
                      </a:r>
                      <a:r>
                        <a:rPr lang="ko-KR" altLang="en-US" sz="1200" dirty="0"/>
                        <a:t> 균형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265552"/>
                  </a:ext>
                </a:extLst>
              </a:tr>
              <a:tr h="13181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3. </a:t>
                      </a:r>
                      <a:r>
                        <a:rPr lang="ko-KR" altLang="en-US" sz="1200" b="1" dirty="0"/>
                        <a:t>데이터 </a:t>
                      </a:r>
                      <a:r>
                        <a:rPr lang="ko-KR" altLang="en-US" sz="1200" b="1" dirty="0" err="1"/>
                        <a:t>전처리</a:t>
                      </a:r>
                      <a:r>
                        <a:rPr lang="ko-KR" altLang="en-US" sz="1200" b="1" dirty="0"/>
                        <a:t> 및 특징 엔지니어링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- </a:t>
                      </a:r>
                      <a:r>
                        <a:rPr lang="ko-KR" altLang="en-US" sz="1200" b="1" dirty="0" err="1"/>
                        <a:t>전처리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이상치 제거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결측치</a:t>
                      </a:r>
                      <a:r>
                        <a:rPr lang="ko-KR" altLang="en-US" sz="1200" dirty="0"/>
                        <a:t> 대체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범주형 변수 인코딩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ko-KR" altLang="en-US" sz="1200" b="1" dirty="0"/>
                        <a:t>특징 생성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연령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성별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상황 키워드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신체질환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리뷰 텍스트 </a:t>
                      </a:r>
                      <a:r>
                        <a:rPr lang="ko-KR" altLang="en-US" sz="1200" dirty="0" err="1"/>
                        <a:t>임베딩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ko-KR" altLang="en-US" sz="1200" b="1" dirty="0"/>
                        <a:t>차원 축소</a:t>
                      </a:r>
                      <a:r>
                        <a:rPr lang="en-US" altLang="ko-KR" sz="1200" dirty="0"/>
                        <a:t>: TF-IDF / Word2Vec </a:t>
                      </a:r>
                      <a:r>
                        <a:rPr lang="ko-KR" altLang="en-US" sz="1200" dirty="0"/>
                        <a:t>기반 텍스트 벡터 차원 축소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8073282"/>
                  </a:ext>
                </a:extLst>
              </a:tr>
              <a:tr h="8746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4. </a:t>
                      </a:r>
                      <a:r>
                        <a:rPr lang="ko-KR" altLang="en-US" sz="1200" b="1" dirty="0"/>
                        <a:t>모델 관리 및 운영 계획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- </a:t>
                      </a:r>
                      <a:r>
                        <a:rPr lang="ko-KR" altLang="en-US" sz="1200" b="1" dirty="0"/>
                        <a:t>모델 관리 체계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모델 </a:t>
                      </a:r>
                      <a:r>
                        <a:rPr lang="ko-KR" altLang="en-US" sz="1200" dirty="0" err="1"/>
                        <a:t>버전별</a:t>
                      </a:r>
                      <a:r>
                        <a:rPr lang="ko-KR" altLang="en-US" sz="1200" dirty="0"/>
                        <a:t> 성능 기록 및 비교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ko-KR" altLang="en-US" sz="1200" b="1" dirty="0"/>
                        <a:t>운영 환경</a:t>
                      </a:r>
                      <a:r>
                        <a:rPr lang="en-US" altLang="ko-KR" sz="1200" dirty="0"/>
                        <a:t>: API </a:t>
                      </a:r>
                      <a:r>
                        <a:rPr lang="ko-KR" altLang="en-US" sz="1200" dirty="0"/>
                        <a:t>기반 감정 분석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추천 서비스 제공</a:t>
                      </a:r>
                      <a:br>
                        <a:rPr lang="ko-KR" altLang="en-US" sz="1200" dirty="0"/>
                      </a:br>
                      <a:r>
                        <a:rPr lang="en-US" altLang="ko-KR" sz="1200" dirty="0"/>
                        <a:t>- </a:t>
                      </a:r>
                      <a:r>
                        <a:rPr lang="ko-KR" altLang="en-US" sz="1200" b="1" dirty="0"/>
                        <a:t>모니터링</a:t>
                      </a:r>
                      <a:r>
                        <a:rPr lang="en-US" altLang="ko-KR" sz="1200" dirty="0"/>
                        <a:t>: Accuracy/F1-score </a:t>
                      </a:r>
                      <a:r>
                        <a:rPr lang="ko-KR" altLang="en-US" sz="1200" dirty="0"/>
                        <a:t>추적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주기적 모델 </a:t>
                      </a:r>
                      <a:r>
                        <a:rPr lang="ko-KR" altLang="en-US" sz="1200" dirty="0" err="1"/>
                        <a:t>재학습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689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784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4.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빅데이터 분석 모델링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C98DAED-CD4A-46A2-8B69-6743B67D7B97}"/>
              </a:ext>
            </a:extLst>
          </p:cNvPr>
          <p:cNvGraphicFramePr>
            <a:graphicFrameLocks noGrp="1"/>
          </p:cNvGraphicFramePr>
          <p:nvPr/>
        </p:nvGraphicFramePr>
        <p:xfrm>
          <a:off x="842784" y="2089810"/>
          <a:ext cx="10671035" cy="429979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30736">
                  <a:extLst>
                    <a:ext uri="{9D8B030D-6E8A-4147-A177-3AD203B41FA5}">
                      <a16:colId xmlns:a16="http://schemas.microsoft.com/office/drawing/2014/main" val="821002484"/>
                    </a:ext>
                  </a:extLst>
                </a:gridCol>
                <a:gridCol w="8740299">
                  <a:extLst>
                    <a:ext uri="{9D8B030D-6E8A-4147-A177-3AD203B41FA5}">
                      <a16:colId xmlns:a16="http://schemas.microsoft.com/office/drawing/2014/main" val="512782864"/>
                    </a:ext>
                  </a:extLst>
                </a:gridCol>
              </a:tblGrid>
              <a:tr h="13125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성능 평가 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- Accuracy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정확도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- Precision / Recall / F1-score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감정 분류 품질 평가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- ROC-AUC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감정 분류 성능 종합 지표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191752551"/>
                  </a:ext>
                </a:extLst>
              </a:tr>
              <a:tr h="17651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기대 효과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사용자 감정 상태를 정확히 예측하여 상담 만족도 제고</a:t>
                      </a:r>
                      <a:br>
                        <a:rPr lang="ko-KR" altLang="en-US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연령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성별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신체질환을 고려한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맞춤형 상담사 매칭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가능</a:t>
                      </a:r>
                      <a:br>
                        <a:rPr lang="ko-KR" altLang="en-US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상담 센터의 상담사 배치 효율화 및 서비스 품질 향상</a:t>
                      </a:r>
                      <a:br>
                        <a:rPr lang="ko-KR" altLang="en-US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데이터 기반 상담 서비스 운영 및 정책 수립 근거 제공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156464"/>
                  </a:ext>
                </a:extLst>
              </a:tr>
              <a:tr h="1222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7.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결론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분류 모델 기반 분석 모델링 기획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을 통해 사용자 리뷰와 특성을 분석하여 감정 상태를 예측하고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이를 상담사 추천 서비스에 적용함으로써 개인 맞춤형 상담 경험을 강화할 수 있음을 제시하였다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702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935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apple-system"/>
                <a:ea typeface="맑은 고딕" panose="020B0503020000020004" pitchFamily="50" charset="-127"/>
                <a:cs typeface="+mj-cs"/>
              </a:rPr>
              <a:t> </a:t>
            </a: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apple-system"/>
                <a:ea typeface="맑은 고딕" panose="020B0503020000020004" pitchFamily="50" charset="-127"/>
                <a:cs typeface="+mj-cs"/>
              </a:rPr>
              <a:t>빅데이터 분석 결과 적용 계획하기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18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0" name="Table 2">
            <a:extLst>
              <a:ext uri="{FF2B5EF4-FFF2-40B4-BE49-F238E27FC236}">
                <a16:creationId xmlns:a16="http://schemas.microsoft.com/office/drawing/2014/main" id="{14322DBF-105F-440F-B39C-A506593D144D}"/>
              </a:ext>
            </a:extLst>
          </p:cNvPr>
          <p:cNvGraphicFramePr>
            <a:graphicFrameLocks noGrp="1"/>
          </p:cNvGraphicFramePr>
          <p:nvPr/>
        </p:nvGraphicFramePr>
        <p:xfrm>
          <a:off x="1049536" y="1667487"/>
          <a:ext cx="10092925" cy="472212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42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0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813">
                <a:tc>
                  <a:txBody>
                    <a:bodyPr/>
                    <a:lstStyle/>
                    <a:p>
                      <a:pPr algn="ctr"/>
                      <a:r>
                        <a:rPr sz="1100" dirty="0" err="1"/>
                        <a:t>구분</a:t>
                      </a:r>
                      <a:endParaRPr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err="1"/>
                        <a:t>내용</a:t>
                      </a:r>
                      <a:endParaRPr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038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분석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결과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시각화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방안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대시보드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구성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연령·성별·신체질환별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감정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분류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현황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주요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감정</a:t>
                      </a:r>
                      <a:r>
                        <a:rPr sz="1100" dirty="0"/>
                        <a:t> TOP 5, </a:t>
                      </a:r>
                      <a:r>
                        <a:rPr sz="1100" dirty="0" err="1"/>
                        <a:t>상담사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매칭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추천률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시각화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시각화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도구</a:t>
                      </a:r>
                      <a:r>
                        <a:rPr sz="1100" dirty="0"/>
                        <a:t>: Tableau, Power BI, Python(Matplotlib/Seaborn)</a:t>
                      </a:r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예시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차트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감정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분포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히트맵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워드클라우드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감정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추세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라인차트</a:t>
                      </a:r>
                      <a:endParaRPr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046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협업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및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실행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계획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참여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주체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상담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센터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보건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기관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데이터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분석팀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플랫폼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기업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역할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분담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데이터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제공</a:t>
                      </a:r>
                      <a:r>
                        <a:rPr sz="1100" dirty="0"/>
                        <a:t>(), </a:t>
                      </a:r>
                      <a:r>
                        <a:rPr sz="1100" dirty="0" err="1"/>
                        <a:t>모델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구축</a:t>
                      </a:r>
                      <a:r>
                        <a:rPr sz="1100" dirty="0"/>
                        <a:t>(</a:t>
                      </a:r>
                      <a:r>
                        <a:rPr sz="1100" dirty="0" err="1"/>
                        <a:t>분석팀</a:t>
                      </a:r>
                      <a:r>
                        <a:rPr sz="1100" dirty="0"/>
                        <a:t>), </a:t>
                      </a:r>
                      <a:r>
                        <a:rPr sz="1100" dirty="0" err="1"/>
                        <a:t>서비스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운영</a:t>
                      </a:r>
                      <a:r>
                        <a:rPr sz="1100" dirty="0"/>
                        <a:t>(</a:t>
                      </a:r>
                      <a:r>
                        <a:rPr sz="1100" dirty="0" err="1"/>
                        <a:t>플랫폼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기업</a:t>
                      </a:r>
                      <a:r>
                        <a:rPr sz="1100" dirty="0"/>
                        <a:t>)</a:t>
                      </a:r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협업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방식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정기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회의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공유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대시보드</a:t>
                      </a:r>
                      <a:r>
                        <a:rPr sz="1100" dirty="0"/>
                        <a:t>, API </a:t>
                      </a:r>
                      <a:r>
                        <a:rPr sz="1100" dirty="0" err="1"/>
                        <a:t>기반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통합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관리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보고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체계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월간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상담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성과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보고</a:t>
                      </a:r>
                      <a:r>
                        <a:rPr sz="1100" dirty="0"/>
                        <a:t> 및 </a:t>
                      </a:r>
                      <a:r>
                        <a:rPr sz="1100" dirty="0" err="1"/>
                        <a:t>분기별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모델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개선안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제시</a:t>
                      </a:r>
                      <a:endParaRPr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04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3. 비즈니스 적용 전략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서비스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단계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적용</a:t>
                      </a:r>
                      <a:r>
                        <a:rPr sz="1100" dirty="0"/>
                        <a:t>:</a:t>
                      </a:r>
                    </a:p>
                    <a:p>
                      <a:pPr algn="l"/>
                      <a:r>
                        <a:rPr sz="1100" dirty="0"/>
                        <a:t>① </a:t>
                      </a:r>
                      <a:r>
                        <a:rPr sz="1100" dirty="0" err="1"/>
                        <a:t>시범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운영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특정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대상군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중심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서비스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제공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② </a:t>
                      </a:r>
                      <a:r>
                        <a:rPr sz="1100" dirty="0" err="1"/>
                        <a:t>데이터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확대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적용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상담</a:t>
                      </a:r>
                      <a:r>
                        <a:rPr sz="1100" dirty="0"/>
                        <a:t> + </a:t>
                      </a:r>
                      <a:r>
                        <a:rPr sz="1100" dirty="0" err="1"/>
                        <a:t>건강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데이터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연계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③ </a:t>
                      </a:r>
                      <a:r>
                        <a:rPr sz="1100" dirty="0" err="1"/>
                        <a:t>전국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서비스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확장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주요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센터에서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전국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단위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확대</a:t>
                      </a:r>
                      <a:endParaRPr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03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4. 응용 프로그램 연계 방안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- 웹 </a:t>
                      </a:r>
                      <a:r>
                        <a:rPr sz="1100" dirty="0" err="1"/>
                        <a:t>플랫폼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상담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관리자</a:t>
                      </a:r>
                      <a:r>
                        <a:rPr sz="1100" dirty="0"/>
                        <a:t>/</a:t>
                      </a:r>
                      <a:r>
                        <a:rPr sz="1100" dirty="0" err="1"/>
                        <a:t>상담사가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현황</a:t>
                      </a:r>
                      <a:r>
                        <a:rPr sz="1100" dirty="0"/>
                        <a:t> 및 </a:t>
                      </a:r>
                      <a:r>
                        <a:rPr sz="1100" dirty="0" err="1"/>
                        <a:t>결과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확인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외부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서비스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연계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의료기관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예약</a:t>
                      </a:r>
                      <a:r>
                        <a:rPr sz="1100" dirty="0"/>
                        <a:t>/</a:t>
                      </a:r>
                      <a:r>
                        <a:rPr sz="1100" dirty="0" err="1"/>
                        <a:t>보건</a:t>
                      </a:r>
                      <a:r>
                        <a:rPr sz="1100" dirty="0"/>
                        <a:t> API/</a:t>
                      </a:r>
                      <a:r>
                        <a:rPr sz="1100" dirty="0" err="1"/>
                        <a:t>정신건강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서비스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연동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실시간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업데이트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스트리밍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데이터로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즉시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반영</a:t>
                      </a:r>
                      <a:endParaRPr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04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5. 기대 효과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상담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만족도</a:t>
                      </a:r>
                      <a:r>
                        <a:rPr sz="1100" dirty="0"/>
                        <a:t> 및 </a:t>
                      </a:r>
                      <a:r>
                        <a:rPr sz="1100" dirty="0" err="1"/>
                        <a:t>편의성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향상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위기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사용자</a:t>
                      </a:r>
                      <a:r>
                        <a:rPr sz="1100" dirty="0"/>
                        <a:t>(</a:t>
                      </a:r>
                      <a:r>
                        <a:rPr sz="1100" dirty="0" err="1"/>
                        <a:t>분노·우울</a:t>
                      </a:r>
                      <a:r>
                        <a:rPr sz="1100" dirty="0"/>
                        <a:t> 등) </a:t>
                      </a:r>
                      <a:r>
                        <a:rPr sz="1100" dirty="0" err="1"/>
                        <a:t>조기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파악</a:t>
                      </a:r>
                      <a:r>
                        <a:rPr sz="1100" dirty="0"/>
                        <a:t> 및 </a:t>
                      </a:r>
                      <a:r>
                        <a:rPr sz="1100" dirty="0" err="1"/>
                        <a:t>맞춤형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상담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제공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상담사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배치</a:t>
                      </a:r>
                      <a:r>
                        <a:rPr sz="1100" dirty="0"/>
                        <a:t> 및 </a:t>
                      </a:r>
                      <a:r>
                        <a:rPr sz="1100" dirty="0" err="1"/>
                        <a:t>인력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관리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효율화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데이터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기반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정신건강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관리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혁신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촉진</a:t>
                      </a:r>
                      <a:endParaRPr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096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결론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 err="1"/>
                        <a:t>분석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결과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적용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전략을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통해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상담사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추천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알고리즘을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서비스에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적용하는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로드맵을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제시하였다</a:t>
                      </a:r>
                      <a:r>
                        <a:rPr sz="1100" dirty="0"/>
                        <a:t>. </a:t>
                      </a:r>
                      <a:r>
                        <a:rPr sz="1100" dirty="0" err="1"/>
                        <a:t>시각화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협업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단계적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확장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응용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프로그램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연계를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포함하여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지속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가능한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상담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지원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체계를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마련할</a:t>
                      </a:r>
                      <a:r>
                        <a:rPr sz="1100" dirty="0"/>
                        <a:t> 수 </a:t>
                      </a:r>
                      <a:r>
                        <a:rPr sz="1100" dirty="0" err="1"/>
                        <a:t>있으며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사용자와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상담사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모두에게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유의미한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가치를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제공할</a:t>
                      </a:r>
                      <a:r>
                        <a:rPr sz="1100" dirty="0"/>
                        <a:t> 수 </a:t>
                      </a:r>
                      <a:r>
                        <a:rPr sz="1100" dirty="0" err="1"/>
                        <a:t>있다</a:t>
                      </a:r>
                      <a:r>
                        <a:rPr sz="11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4342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2147</TotalTime>
  <Words>3479</Words>
  <Application>Microsoft Office PowerPoint</Application>
  <PresentationFormat>와이드스크린</PresentationFormat>
  <Paragraphs>524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-apple-system</vt:lpstr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121</cp:revision>
  <dcterms:created xsi:type="dcterms:W3CDTF">2025-08-05T00:27:28Z</dcterms:created>
  <dcterms:modified xsi:type="dcterms:W3CDTF">2025-09-30T08:33:40Z</dcterms:modified>
</cp:coreProperties>
</file>