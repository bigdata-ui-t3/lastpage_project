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302" r:id="rId4"/>
    <p:sldId id="333" r:id="rId5"/>
    <p:sldId id="334" r:id="rId6"/>
    <p:sldId id="335" r:id="rId7"/>
    <p:sldId id="336" r:id="rId8"/>
    <p:sldId id="337" r:id="rId9"/>
    <p:sldId id="338" r:id="rId10"/>
    <p:sldId id="339" r:id="rId11"/>
    <p:sldId id="340" r:id="rId12"/>
    <p:sldId id="318" r:id="rId13"/>
    <p:sldId id="341" r:id="rId14"/>
    <p:sldId id="286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4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빅데이터 응용기획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altLang="ko-KR" dirty="0"/>
              <a:t>INDEX </a:t>
            </a:r>
            <a:r>
              <a:rPr lang="ko-KR" altLang="en-US" dirty="0"/>
              <a:t>및 </a:t>
            </a:r>
            <a:r>
              <a:rPr lang="en-US" altLang="ko-KR" dirty="0"/>
              <a:t>CONTENTS</a:t>
            </a:r>
            <a:endParaRPr lang="ko-KR" altLang="en-US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63405" y="1716269"/>
            <a:ext cx="5327661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요건 정의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 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박준형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기존 요구사항 확인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요구사항 명세화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TRIP_SMART Use Case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명세서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TRIP_SMART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요구사항 검증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: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검토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(Review)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CFC6EAA-8325-4486-8D16-3BE392A7BDB4}"/>
              </a:ext>
            </a:extLst>
          </p:cNvPr>
          <p:cNvSpPr txBox="1">
            <a:spLocks/>
          </p:cNvSpPr>
          <p:nvPr/>
        </p:nvSpPr>
        <p:spPr>
          <a:xfrm>
            <a:off x="6398522" y="1716269"/>
            <a:ext cx="5327661" cy="1572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데이터 탐색 기획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 </a:t>
            </a: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손보금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데이터 분석 기획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분류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D7B18B17-BE04-4BE0-B812-06966B97BD73}"/>
              </a:ext>
            </a:extLst>
          </p:cNvPr>
          <p:cNvSpPr txBox="1">
            <a:spLocks/>
          </p:cNvSpPr>
          <p:nvPr/>
        </p:nvSpPr>
        <p:spPr>
          <a:xfrm>
            <a:off x="463404" y="4157238"/>
            <a:ext cx="5327661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데이터 확보 기획 </a:t>
            </a:r>
            <a:r>
              <a:rPr lang="en-US" altLang="ko-KR" sz="1600" b="1" u="sng" dirty="0">
                <a:solidFill>
                  <a:schemeClr val="bg1"/>
                </a:solidFill>
                <a:latin typeface="+mj-lt"/>
              </a:rPr>
              <a:t>- 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심예진</a:t>
            </a:r>
            <a:r>
              <a:rPr lang="ko-KR" altLang="en-US" sz="1600" b="1" u="sng" dirty="0">
                <a:solidFill>
                  <a:schemeClr val="bg1"/>
                </a:solidFill>
                <a:latin typeface="+mj-lt"/>
              </a:rPr>
              <a:t> 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개념적 설계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(Conceptual) - </a:t>
            </a:r>
            <a:r>
              <a:rPr lang="ko-KR" altLang="en-US" sz="1500" dirty="0" err="1">
                <a:solidFill>
                  <a:schemeClr val="bg1"/>
                </a:solidFill>
                <a:latin typeface="+mj-lt"/>
              </a:rPr>
              <a:t>엔터티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관계 요약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논리적 설계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(Logical)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테이블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키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인덱스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외부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Open API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내부 수집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API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     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7CA8DE4-6BE9-4BE6-AC91-FFD8E1E3EC2D}"/>
              </a:ext>
            </a:extLst>
          </p:cNvPr>
          <p:cNvSpPr txBox="1">
            <a:spLocks/>
          </p:cNvSpPr>
          <p:nvPr/>
        </p:nvSpPr>
        <p:spPr>
          <a:xfrm>
            <a:off x="6398521" y="3492649"/>
            <a:ext cx="5614514" cy="968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4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모델링 기획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 </a:t>
            </a: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손보금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    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빅데이터 분석 모델링 기획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분류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)</a:t>
            </a:r>
            <a:br>
              <a:rPr lang="en-US" altLang="ko-KR" sz="1400" dirty="0">
                <a:solidFill>
                  <a:schemeClr val="bg1"/>
                </a:solidFill>
                <a:latin typeface="+mj-lt"/>
              </a:rPr>
            </a:br>
            <a:endParaRPr lang="en-US" altLang="ko-KR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1BCE937-8E3D-496A-8190-F3C3CE40A191}"/>
              </a:ext>
            </a:extLst>
          </p:cNvPr>
          <p:cNvSpPr txBox="1">
            <a:spLocks/>
          </p:cNvSpPr>
          <p:nvPr/>
        </p:nvSpPr>
        <p:spPr>
          <a:xfrm>
            <a:off x="6398521" y="4978879"/>
            <a:ext cx="5614514" cy="968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bg1"/>
                </a:solidFill>
                <a:latin typeface="+mj-lt"/>
              </a:rPr>
              <a:t>5.   </a:t>
            </a: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결과 적용 계획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 </a:t>
            </a: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손보금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    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- NCS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빅데이터 분석 기획 보고서</a:t>
            </a:r>
            <a:br>
              <a:rPr lang="en-US" altLang="ko-KR" sz="1400" dirty="0">
                <a:solidFill>
                  <a:schemeClr val="bg1"/>
                </a:solidFill>
                <a:latin typeface="+mj-lt"/>
              </a:rPr>
            </a:br>
            <a:endParaRPr lang="en-US" altLang="ko-KR" sz="1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cs typeface="+mj-cs"/>
              </a:rPr>
              <a:t>1.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cs typeface="+mj-cs"/>
              </a:rPr>
              <a:t>빅데이터 분석모델 정의서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000C9A7-B50B-4D4E-9C85-F668C52BA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35" y="965553"/>
            <a:ext cx="4657864" cy="5660862"/>
          </a:xfrm>
          <a:prstGeom prst="rect">
            <a:avLst/>
          </a:prstGeom>
        </p:spPr>
      </p:pic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4D75D3B1-AAA7-423F-9F38-09CB5F90D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162495"/>
              </p:ext>
            </p:extLst>
          </p:nvPr>
        </p:nvGraphicFramePr>
        <p:xfrm>
          <a:off x="7003245" y="2223821"/>
          <a:ext cx="3905162" cy="10576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52581">
                  <a:extLst>
                    <a:ext uri="{9D8B030D-6E8A-4147-A177-3AD203B41FA5}">
                      <a16:colId xmlns:a16="http://schemas.microsoft.com/office/drawing/2014/main" val="232024928"/>
                    </a:ext>
                  </a:extLst>
                </a:gridCol>
                <a:gridCol w="1952581">
                  <a:extLst>
                    <a:ext uri="{9D8B030D-6E8A-4147-A177-3AD203B41FA5}">
                      <a16:colId xmlns:a16="http://schemas.microsoft.com/office/drawing/2014/main" val="3520802879"/>
                    </a:ext>
                  </a:extLst>
                </a:gridCol>
              </a:tblGrid>
              <a:tr h="52881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045129"/>
                  </a:ext>
                </a:extLst>
              </a:tr>
              <a:tr h="52881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4682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8AF69C2-19D4-4A61-B0A8-A077A53B82B0}"/>
              </a:ext>
            </a:extLst>
          </p:cNvPr>
          <p:cNvSpPr txBox="1"/>
          <p:nvPr/>
        </p:nvSpPr>
        <p:spPr>
          <a:xfrm>
            <a:off x="7263685" y="3928056"/>
            <a:ext cx="3387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- </a:t>
            </a:r>
            <a:r>
              <a:rPr lang="ko-KR" altLang="en-US" dirty="0">
                <a:solidFill>
                  <a:schemeClr val="bg1"/>
                </a:solidFill>
              </a:rPr>
              <a:t>표 디자인은 </a:t>
            </a:r>
            <a:r>
              <a:rPr lang="ko-KR" altLang="en-US" dirty="0" err="1">
                <a:solidFill>
                  <a:schemeClr val="bg1"/>
                </a:solidFill>
              </a:rPr>
              <a:t>위에걸로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063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유관 법률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/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정책 분석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0F22893-B2CC-48B0-AA48-B813336B1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35" y="1060028"/>
            <a:ext cx="3498507" cy="572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97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2-2.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시장 규모 분석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(TAM-SAM-SOM)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26AA23-892A-4438-A097-5E3376BA9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16" y="1001525"/>
            <a:ext cx="4259995" cy="585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594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4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니즈 분석 및 목표 시장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F2A7C5-E082-469F-A6C7-19E0FC233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35" y="875219"/>
            <a:ext cx="3493731" cy="588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624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3-2.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목표 시장 선정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(STP)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4671606-A9DC-4DF1-BE8F-CA5539354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0" y="2020566"/>
            <a:ext cx="3515216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812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4. </a:t>
            </a:r>
            <a:r>
              <a:rPr lang="ko-KR" altLang="en-US" sz="3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시장에서 활용 가능한 분석 서비스 모델 아이디어 수집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813A360-BB07-4881-B168-17F12AED6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966" y="2262024"/>
            <a:ext cx="10336067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94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상품의 새로운 강점과 약점 분석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D66801-376B-4FF9-8197-376032AA6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045" y="1938129"/>
            <a:ext cx="10097909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59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5-2.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고객 정의 및 구매 요인 파악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BCF6D4-8C37-4B32-A4DC-1AF9541D6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87" y="2123893"/>
            <a:ext cx="10212225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15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5-3.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산업 구조 분석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경쟁 환경 파악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)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4092F6D-C95D-4108-9664-496BD35EA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837" y="1942892"/>
            <a:ext cx="7354326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580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5-4.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상품화 출시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,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업그레이드 및 서비스 전략 수립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 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8F98B4B-5AF3-4FAC-BD6E-6CBDE319C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49" y="1453880"/>
            <a:ext cx="4667901" cy="35152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DC0BAF5-3491-40DE-9E65-E522E25D9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65203"/>
            <a:ext cx="6830378" cy="21624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386FBC-DD00-498E-B99D-C18285288784}"/>
              </a:ext>
            </a:extLst>
          </p:cNvPr>
          <p:cNvSpPr txBox="1"/>
          <p:nvPr/>
        </p:nvSpPr>
        <p:spPr>
          <a:xfrm>
            <a:off x="7598535" y="2846231"/>
            <a:ext cx="2975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- </a:t>
            </a:r>
            <a:r>
              <a:rPr lang="ko-KR" altLang="en-US" dirty="0">
                <a:solidFill>
                  <a:schemeClr val="bg1"/>
                </a:solidFill>
              </a:rPr>
              <a:t>둘 중 한 개 선택</a:t>
            </a:r>
          </a:p>
        </p:txBody>
      </p:sp>
    </p:spTree>
    <p:extLst>
      <p:ext uri="{BB962C8B-B14F-4D97-AF65-F5344CB8AC3E}">
        <p14:creationId xmlns:p14="http://schemas.microsoft.com/office/powerpoint/2010/main" val="3484286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5-5. 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요약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885F6E-0033-416E-99C2-4CA035004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77" y="2716665"/>
            <a:ext cx="3543795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3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2180</TotalTime>
  <Words>255</Words>
  <Application>Microsoft Office PowerPoint</Application>
  <PresentationFormat>와이드스크린</PresentationFormat>
  <Paragraphs>51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125</cp:revision>
  <dcterms:created xsi:type="dcterms:W3CDTF">2025-08-05T00:27:28Z</dcterms:created>
  <dcterms:modified xsi:type="dcterms:W3CDTF">2025-10-14T02:16:43Z</dcterms:modified>
</cp:coreProperties>
</file>