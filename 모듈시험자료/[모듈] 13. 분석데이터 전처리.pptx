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342" r:id="rId4"/>
    <p:sldId id="345" r:id="rId5"/>
    <p:sldId id="343" r:id="rId6"/>
    <p:sldId id="344" r:id="rId7"/>
    <p:sldId id="28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분석 데이터 </a:t>
            </a:r>
            <a:r>
              <a:rPr lang="ko-KR" altLang="en-US" sz="4400" dirty="0" err="1">
                <a:solidFill>
                  <a:schemeClr val="bg1"/>
                </a:solidFill>
              </a:rPr>
              <a:t>전처리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(Missing Value Handling)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레이블 인코딩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(Label Encoding)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이상치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(Outlier Handling)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4157238"/>
            <a:ext cx="5726365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표준화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</a:t>
            </a:r>
            <a:r>
              <a:rPr lang="en-US" altLang="ko-KR" sz="2000" b="1" u="sng" dirty="0" err="1">
                <a:solidFill>
                  <a:schemeClr val="bg1"/>
                </a:solidFill>
                <a:latin typeface="+mj-lt"/>
              </a:rPr>
              <a:t>StandardScaler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)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(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 인코딩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(Label Encoding)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1E334-47CA-4860-BDC9-CD460E4F1E0B}"/>
              </a:ext>
            </a:extLst>
          </p:cNvPr>
          <p:cNvSpPr txBox="1"/>
          <p:nvPr/>
        </p:nvSpPr>
        <p:spPr>
          <a:xfrm>
            <a:off x="535663" y="1556467"/>
            <a:ext cx="114737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★</a:t>
            </a:r>
            <a:r>
              <a:rPr lang="ko-KR" altLang="en-US" sz="1200" b="1" dirty="0">
                <a:solidFill>
                  <a:schemeClr val="bg1"/>
                </a:solidFill>
              </a:rPr>
              <a:t>레이블 인코딩</a:t>
            </a:r>
            <a:r>
              <a:rPr lang="en-US" altLang="ko-KR" sz="1200" b="1" dirty="0">
                <a:solidFill>
                  <a:schemeClr val="bg1"/>
                </a:solidFill>
              </a:rPr>
              <a:t>(Label Encoding)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문자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범주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날짜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색상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 err="1">
                <a:solidFill>
                  <a:schemeClr val="bg1"/>
                </a:solidFill>
              </a:rPr>
              <a:t>지역명</a:t>
            </a:r>
            <a:r>
              <a:rPr lang="ko-KR" altLang="en-US" sz="1100" dirty="0">
                <a:solidFill>
                  <a:schemeClr val="bg1"/>
                </a:solidFill>
              </a:rPr>
              <a:t> 등 </a:t>
            </a:r>
            <a:r>
              <a:rPr lang="ko-KR" altLang="en-US" sz="1100" b="1" dirty="0">
                <a:solidFill>
                  <a:schemeClr val="bg1"/>
                </a:solidFill>
              </a:rPr>
              <a:t>기계가 아닌 인간이 이해하기 쉬운 형태의 데이터를 컴퓨터가 이해하기 쉽도록 </a:t>
            </a:r>
            <a:r>
              <a:rPr lang="ko-KR" altLang="en-US" sz="1100" b="1" dirty="0" err="1">
                <a:solidFill>
                  <a:schemeClr val="bg1"/>
                </a:solidFill>
              </a:rPr>
              <a:t>숫자값으로</a:t>
            </a:r>
            <a:r>
              <a:rPr lang="ko-KR" altLang="en-US" sz="1100" b="1" dirty="0">
                <a:solidFill>
                  <a:schemeClr val="bg1"/>
                </a:solidFill>
              </a:rPr>
              <a:t> 변환</a:t>
            </a:r>
            <a:r>
              <a:rPr lang="ko-KR" altLang="en-US" sz="1100" dirty="0">
                <a:solidFill>
                  <a:schemeClr val="bg1"/>
                </a:solidFill>
              </a:rPr>
              <a:t>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인코딩이 안되면 연산</a:t>
            </a:r>
            <a:r>
              <a:rPr lang="en-US" altLang="ko-KR" sz="1100" dirty="0">
                <a:solidFill>
                  <a:schemeClr val="bg1"/>
                </a:solidFill>
              </a:rPr>
              <a:t>,</a:t>
            </a:r>
            <a:r>
              <a:rPr lang="ko-KR" altLang="en-US" sz="1100" dirty="0">
                <a:solidFill>
                  <a:schemeClr val="bg1"/>
                </a:solidFill>
              </a:rPr>
              <a:t>계산 등 수학적 처리가 불가능하기 때문에 반드시 인코딩 과정을 거쳐 데이터를 숫자형으로 바꿔주어야 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3E07B9-7786-448A-BA69-5160DDD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94" y="2325675"/>
            <a:ext cx="6688350" cy="19705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789E6FA-6F5F-4230-913D-4758F4E12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35" y="4663048"/>
            <a:ext cx="6688350" cy="1719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31910A-1439-462F-BF99-8366BCD3BF97}"/>
              </a:ext>
            </a:extLst>
          </p:cNvPr>
          <p:cNvSpPr txBox="1"/>
          <p:nvPr/>
        </p:nvSpPr>
        <p:spPr>
          <a:xfrm>
            <a:off x="8074982" y="2843406"/>
            <a:ext cx="3822838" cy="246221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컬럼 중 </a:t>
            </a:r>
            <a:r>
              <a:rPr lang="en-US" altLang="ko-KR" sz="1100" dirty="0">
                <a:solidFill>
                  <a:schemeClr val="bg1"/>
                </a:solidFill>
              </a:rPr>
              <a:t>[ </a:t>
            </a:r>
            <a:r>
              <a:rPr lang="en-US" altLang="ko-KR" sz="1100" dirty="0" err="1">
                <a:solidFill>
                  <a:schemeClr val="bg1"/>
                </a:solidFill>
              </a:rPr>
              <a:t>workclass</a:t>
            </a:r>
            <a:r>
              <a:rPr lang="en-US" altLang="ko-KR" sz="1100" dirty="0">
                <a:solidFill>
                  <a:schemeClr val="bg1"/>
                </a:solidFill>
              </a:rPr>
              <a:t>, education, </a:t>
            </a:r>
            <a:r>
              <a:rPr lang="en-US" altLang="ko-KR" sz="1100" dirty="0" err="1">
                <a:solidFill>
                  <a:schemeClr val="bg1"/>
                </a:solidFill>
              </a:rPr>
              <a:t>marital.status</a:t>
            </a:r>
            <a:r>
              <a:rPr lang="en-US" altLang="ko-KR" sz="1100" dirty="0">
                <a:solidFill>
                  <a:schemeClr val="bg1"/>
                </a:solidFill>
              </a:rPr>
              <a:t>, occupation, relationship, race, sex, </a:t>
            </a:r>
            <a:r>
              <a:rPr lang="en-US" altLang="ko-KR" sz="1100" dirty="0" err="1">
                <a:solidFill>
                  <a:schemeClr val="bg1"/>
                </a:solidFill>
              </a:rPr>
              <a:t>native.country</a:t>
            </a:r>
            <a:r>
              <a:rPr lang="en-US" altLang="ko-KR" sz="1100" dirty="0">
                <a:solidFill>
                  <a:schemeClr val="bg1"/>
                </a:solidFill>
              </a:rPr>
              <a:t> ] </a:t>
            </a:r>
            <a:r>
              <a:rPr lang="ko-KR" altLang="en-US" sz="1100" dirty="0">
                <a:solidFill>
                  <a:schemeClr val="bg1"/>
                </a:solidFill>
              </a:rPr>
              <a:t>가 </a:t>
            </a:r>
            <a:r>
              <a:rPr lang="en-US" altLang="ko-KR" sz="1100" dirty="0">
                <a:solidFill>
                  <a:schemeClr val="bg1"/>
                </a:solidFill>
              </a:rPr>
              <a:t>‘object’ </a:t>
            </a:r>
            <a:r>
              <a:rPr lang="ko-KR" altLang="en-US" sz="1100" dirty="0">
                <a:solidFill>
                  <a:schemeClr val="bg1"/>
                </a:solidFill>
              </a:rPr>
              <a:t>타입으로 되어있어 숫자형으로 </a:t>
            </a:r>
            <a:r>
              <a:rPr lang="en-US" altLang="ko-KR" sz="1100" dirty="0">
                <a:solidFill>
                  <a:schemeClr val="bg1"/>
                </a:solidFill>
              </a:rPr>
              <a:t>Encoding </a:t>
            </a:r>
            <a:r>
              <a:rPr lang="ko-KR" altLang="en-US" sz="1100" dirty="0">
                <a:solidFill>
                  <a:schemeClr val="bg1"/>
                </a:solidFill>
              </a:rPr>
              <a:t>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100" dirty="0" err="1">
                <a:solidFill>
                  <a:schemeClr val="bg1"/>
                </a:solidFill>
              </a:rPr>
              <a:t>Sklearn</a:t>
            </a:r>
            <a:r>
              <a:rPr lang="ko-KR" altLang="en-US" sz="1100" dirty="0">
                <a:solidFill>
                  <a:schemeClr val="bg1"/>
                </a:solidFill>
              </a:rPr>
              <a:t>의 </a:t>
            </a:r>
            <a:r>
              <a:rPr lang="en-US" altLang="ko-KR" sz="1100" dirty="0" err="1">
                <a:solidFill>
                  <a:schemeClr val="bg1"/>
                </a:solidFill>
              </a:rPr>
              <a:t>LabelEncoder</a:t>
            </a:r>
            <a:r>
              <a:rPr lang="ko-KR" altLang="en-US" sz="1100" dirty="0">
                <a:solidFill>
                  <a:schemeClr val="bg1"/>
                </a:solidFill>
              </a:rPr>
              <a:t>클래스를 불러와 내장함수를 사용해줍니다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b="1" dirty="0">
                <a:solidFill>
                  <a:schemeClr val="bg1"/>
                </a:solidFill>
              </a:rPr>
              <a:t>(for </a:t>
            </a:r>
            <a:r>
              <a:rPr lang="ko-KR" altLang="en-US" sz="1100" b="1" dirty="0">
                <a:solidFill>
                  <a:schemeClr val="bg1"/>
                </a:solidFill>
              </a:rPr>
              <a:t>문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 err="1">
                <a:solidFill>
                  <a:schemeClr val="bg1"/>
                </a:solidFill>
              </a:rPr>
              <a:t>LabelEncoder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객체를 생성한 후</a:t>
            </a:r>
            <a:r>
              <a:rPr lang="en-US" altLang="ko-KR" sz="1100" dirty="0">
                <a:solidFill>
                  <a:schemeClr val="bg1"/>
                </a:solidFill>
              </a:rPr>
              <a:t>, train </a:t>
            </a:r>
            <a:r>
              <a:rPr lang="ko-KR" altLang="en-US" sz="1100" dirty="0">
                <a:solidFill>
                  <a:schemeClr val="bg1"/>
                </a:solidFill>
              </a:rPr>
              <a:t>데이터의 해당 칼럼을 학습</a:t>
            </a:r>
            <a:r>
              <a:rPr lang="en-US" altLang="ko-KR" sz="1100" dirty="0">
                <a:solidFill>
                  <a:schemeClr val="bg1"/>
                </a:solidFill>
              </a:rPr>
              <a:t>(fit) </a:t>
            </a:r>
            <a:r>
              <a:rPr lang="ko-KR" altLang="en-US" sz="1100" dirty="0">
                <a:solidFill>
                  <a:schemeClr val="bg1"/>
                </a:solidFill>
              </a:rPr>
              <a:t>후 변환시켜 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동일한 인코더로 </a:t>
            </a:r>
            <a:r>
              <a:rPr lang="en-US" altLang="ko-KR" sz="1100" dirty="0">
                <a:solidFill>
                  <a:schemeClr val="bg1"/>
                </a:solidFill>
              </a:rPr>
              <a:t>test</a:t>
            </a:r>
            <a:r>
              <a:rPr lang="ko-KR" altLang="en-US" sz="1100" dirty="0">
                <a:solidFill>
                  <a:schemeClr val="bg1"/>
                </a:solidFill>
              </a:rPr>
              <a:t>도 동일하게 학습 후 변환시켜줍니다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Head</a:t>
            </a:r>
            <a:r>
              <a:rPr lang="ko-KR" altLang="en-US" sz="1100" dirty="0">
                <a:solidFill>
                  <a:schemeClr val="bg1"/>
                </a:solidFill>
              </a:rPr>
              <a:t>위치에서부터 </a:t>
            </a:r>
            <a:r>
              <a:rPr lang="en-US" altLang="ko-KR" sz="1100" dirty="0">
                <a:solidFill>
                  <a:schemeClr val="bg1"/>
                </a:solidFill>
              </a:rPr>
              <a:t>7</a:t>
            </a:r>
            <a:r>
              <a:rPr lang="ko-KR" altLang="en-US" sz="1100" dirty="0">
                <a:solidFill>
                  <a:schemeClr val="bg1"/>
                </a:solidFill>
              </a:rPr>
              <a:t>개의 행 출력</a:t>
            </a:r>
            <a:r>
              <a:rPr lang="en-US" altLang="ko-KR" sz="1100" dirty="0">
                <a:solidFill>
                  <a:schemeClr val="bg1"/>
                </a:solidFill>
              </a:rPr>
              <a:t>!!!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206DFB8-FBFE-485A-8A75-72C77F4528EC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7400544" y="3310939"/>
            <a:ext cx="674438" cy="763574"/>
          </a:xfrm>
          <a:prstGeom prst="bentConnector3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85A80DF-2B94-43B7-B57C-7A8BEF78061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3876917" y="4475654"/>
            <a:ext cx="366845" cy="79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94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 인코딩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(Label Encoding)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0987BF-95B6-4EA7-9066-2547F1A33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905" y="2461627"/>
            <a:ext cx="3114593" cy="33502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0851F0-1051-4AA0-9F38-7BEDEB17248C}"/>
              </a:ext>
            </a:extLst>
          </p:cNvPr>
          <p:cNvSpPr txBox="1"/>
          <p:nvPr/>
        </p:nvSpPr>
        <p:spPr>
          <a:xfrm>
            <a:off x="2379946" y="1784464"/>
            <a:ext cx="7252570" cy="30777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★ </a:t>
            </a:r>
            <a:r>
              <a:rPr lang="en-US" altLang="ko-KR" sz="1400" dirty="0">
                <a:solidFill>
                  <a:schemeClr val="bg1"/>
                </a:solidFill>
              </a:rPr>
              <a:t>t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rain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과 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test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의 컬럼 데이터 타입이 전부 숫자형으로 잘 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Encoding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되었는 지 확인합니다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A4750-D802-4EAE-AC97-BC1ABA3C1B66}"/>
              </a:ext>
            </a:extLst>
          </p:cNvPr>
          <p:cNvSpPr txBox="1"/>
          <p:nvPr/>
        </p:nvSpPr>
        <p:spPr>
          <a:xfrm>
            <a:off x="2659905" y="5935029"/>
            <a:ext cx="2617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▲train.info()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021E3-4A1C-4873-98E7-856024D01846}"/>
              </a:ext>
            </a:extLst>
          </p:cNvPr>
          <p:cNvSpPr txBox="1"/>
          <p:nvPr/>
        </p:nvSpPr>
        <p:spPr>
          <a:xfrm>
            <a:off x="6417504" y="5865446"/>
            <a:ext cx="2617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▲test.info()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DC6871-45DB-4A37-B5CF-A3326B983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504" y="2461627"/>
            <a:ext cx="2924583" cy="331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7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 인코딩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(Label Encoding)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E7FD4-DD1C-4DCD-8FAB-3C9BF1132E7D}"/>
              </a:ext>
            </a:extLst>
          </p:cNvPr>
          <p:cNvSpPr txBox="1"/>
          <p:nvPr/>
        </p:nvSpPr>
        <p:spPr>
          <a:xfrm>
            <a:off x="535663" y="1730965"/>
            <a:ext cx="11473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★</a:t>
            </a:r>
            <a:r>
              <a:rPr lang="ko-KR" altLang="en-US" sz="1200" b="1" dirty="0">
                <a:solidFill>
                  <a:schemeClr val="bg1"/>
                </a:solidFill>
              </a:rPr>
              <a:t>레이블 인코딩</a:t>
            </a:r>
            <a:r>
              <a:rPr lang="en-US" altLang="ko-KR" sz="1200" b="1" dirty="0">
                <a:solidFill>
                  <a:schemeClr val="bg1"/>
                </a:solidFill>
              </a:rPr>
              <a:t>(Label Encoding)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 - </a:t>
            </a:r>
            <a:r>
              <a:rPr lang="ko-KR" altLang="en-US" sz="1100" dirty="0">
                <a:solidFill>
                  <a:schemeClr val="bg1"/>
                </a:solidFill>
              </a:rPr>
              <a:t>타겟 값 </a:t>
            </a:r>
            <a:r>
              <a:rPr lang="en-US" altLang="ko-KR" sz="1100" dirty="0">
                <a:solidFill>
                  <a:schemeClr val="bg1"/>
                </a:solidFill>
              </a:rPr>
              <a:t>y</a:t>
            </a:r>
            <a:r>
              <a:rPr lang="ko-KR" altLang="en-US" sz="1100" dirty="0">
                <a:solidFill>
                  <a:schemeClr val="bg1"/>
                </a:solidFill>
              </a:rPr>
              <a:t>도 문자열을 숫자로 바꾸어 줍니다</a:t>
            </a:r>
            <a:r>
              <a:rPr lang="en-US" altLang="ko-KR" sz="1100" dirty="0">
                <a:solidFill>
                  <a:schemeClr val="bg1"/>
                </a:solidFill>
              </a:rPr>
              <a:t>. </a:t>
            </a:r>
            <a:r>
              <a:rPr lang="ko-KR" altLang="en-US" sz="1100" dirty="0">
                <a:solidFill>
                  <a:schemeClr val="bg1"/>
                </a:solidFill>
              </a:rPr>
              <a:t>각각의 범위는 </a:t>
            </a:r>
            <a:r>
              <a:rPr lang="en-US" altLang="ko-KR" sz="1100" dirty="0">
                <a:solidFill>
                  <a:schemeClr val="bg1"/>
                </a:solidFill>
              </a:rPr>
              <a:t>0</a:t>
            </a:r>
            <a:r>
              <a:rPr lang="ko-KR" altLang="en-US" sz="1100" dirty="0">
                <a:solidFill>
                  <a:schemeClr val="bg1"/>
                </a:solidFill>
              </a:rPr>
              <a:t>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로 분류하여 이진분류가 가능하도록 인코딩합니다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BA13D-EBD4-444E-B9A7-9713E1392FCB}"/>
              </a:ext>
            </a:extLst>
          </p:cNvPr>
          <p:cNvSpPr txBox="1"/>
          <p:nvPr/>
        </p:nvSpPr>
        <p:spPr>
          <a:xfrm>
            <a:off x="7031048" y="3804607"/>
            <a:ext cx="4755196" cy="76944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타겟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en-US" altLang="ko-KR" sz="1100" dirty="0" err="1">
                <a:solidFill>
                  <a:schemeClr val="bg1"/>
                </a:solidFill>
              </a:rPr>
              <a:t>y_train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의 값 중 문자열을 숫자로 변환합니다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‘&lt;=50K’ -&gt; 0</a:t>
            </a:r>
            <a:r>
              <a:rPr lang="ko-KR" altLang="en-US" sz="1100" dirty="0">
                <a:solidFill>
                  <a:schemeClr val="bg1"/>
                </a:solidFill>
              </a:rPr>
              <a:t>으로 </a:t>
            </a:r>
            <a:r>
              <a:rPr lang="en-US" altLang="ko-KR" sz="1100" dirty="0">
                <a:solidFill>
                  <a:schemeClr val="bg1"/>
                </a:solidFill>
              </a:rPr>
              <a:t>‘&gt;50K’ -&gt; 1</a:t>
            </a:r>
            <a:r>
              <a:rPr lang="ko-KR" altLang="en-US" sz="1100" dirty="0">
                <a:solidFill>
                  <a:schemeClr val="bg1"/>
                </a:solidFill>
              </a:rPr>
              <a:t>로 매핑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이진분류를 하기 위해서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인코딩 된 결과에서 각 클래스</a:t>
            </a:r>
            <a:r>
              <a:rPr lang="en-US" altLang="ko-KR" sz="1100" dirty="0">
                <a:solidFill>
                  <a:schemeClr val="bg1"/>
                </a:solidFill>
              </a:rPr>
              <a:t>(0,1) </a:t>
            </a:r>
            <a:r>
              <a:rPr lang="ko-KR" altLang="en-US" sz="1100" dirty="0">
                <a:solidFill>
                  <a:schemeClr val="bg1"/>
                </a:solidFill>
              </a:rPr>
              <a:t>의 개수를 확인합니다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E65A66-56A4-4335-8D00-398DCFECB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2361394"/>
            <a:ext cx="4863647" cy="1560351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6EB98A2-5CC2-4D8C-98A2-A887027A846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583782" y="3141570"/>
            <a:ext cx="1447266" cy="1047758"/>
          </a:xfrm>
          <a:prstGeom prst="bentConnector3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2551C0B5-8C9D-48F1-AFD9-4E2842BE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75" y="4518467"/>
            <a:ext cx="4851527" cy="1741574"/>
          </a:xfrm>
          <a:prstGeom prst="rect">
            <a:avLst/>
          </a:prstGeom>
        </p:spPr>
      </p:pic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35F9972-CB69-41CA-A1AC-2D7C4095AD74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2862688" y="4211016"/>
            <a:ext cx="596722" cy="1818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51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표준화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(Standard Scaler)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961DB5-D861-44A1-8450-6756B27F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2356750"/>
            <a:ext cx="4436718" cy="1092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60C0B6-4E23-4E89-A6E8-7EA6F2B0A064}"/>
              </a:ext>
            </a:extLst>
          </p:cNvPr>
          <p:cNvSpPr txBox="1"/>
          <p:nvPr/>
        </p:nvSpPr>
        <p:spPr>
          <a:xfrm>
            <a:off x="6996466" y="2290522"/>
            <a:ext cx="4436718" cy="144655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스케일링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표준화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정규화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을 적용할 대상 변수들 선정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-&gt; age, </a:t>
            </a:r>
            <a:r>
              <a:rPr lang="en-US" altLang="ko-KR" sz="1100" dirty="0" err="1">
                <a:solidFill>
                  <a:schemeClr val="bg1"/>
                </a:solidFill>
              </a:rPr>
              <a:t>fnlwgt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education.num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capital.gain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capital.loss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hours.per.week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데이터를 매번 새롭게 불러오기 위해서 함수로 정의해줍니다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-&gt;</a:t>
            </a:r>
            <a:r>
              <a:rPr lang="ko-KR" altLang="en-US" sz="1100" dirty="0">
                <a:solidFill>
                  <a:schemeClr val="bg1"/>
                </a:solidFill>
              </a:rPr>
              <a:t>원본 데이터</a:t>
            </a:r>
            <a:r>
              <a:rPr lang="en-US" altLang="ko-KR" sz="1100" dirty="0">
                <a:solidFill>
                  <a:schemeClr val="bg1"/>
                </a:solidFill>
              </a:rPr>
              <a:t>(train, test)</a:t>
            </a:r>
            <a:r>
              <a:rPr lang="ko-KR" altLang="en-US" sz="1100" dirty="0">
                <a:solidFill>
                  <a:schemeClr val="bg1"/>
                </a:solidFill>
              </a:rPr>
              <a:t>를 손상시키지 않기 위해서</a:t>
            </a:r>
            <a:r>
              <a:rPr lang="en-US" altLang="ko-KR" sz="1100" dirty="0">
                <a:solidFill>
                  <a:schemeClr val="bg1"/>
                </a:solidFill>
              </a:rPr>
              <a:t>!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Copy</a:t>
            </a:r>
            <a:r>
              <a:rPr lang="ko-KR" altLang="en-US" sz="1100" dirty="0">
                <a:solidFill>
                  <a:schemeClr val="bg1"/>
                </a:solidFill>
              </a:rPr>
              <a:t>본을 만들어서 저장합니다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F6D2C561-EC5D-4BB4-906E-14A84F5B15F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5156853" y="2902775"/>
            <a:ext cx="1839613" cy="11102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DE6EE279-8237-4BD4-A9EE-E4734C9F23FB}"/>
              </a:ext>
            </a:extLst>
          </p:cNvPr>
          <p:cNvCxnSpPr>
            <a:cxnSpLocks/>
            <a:stCxn id="4" idx="2"/>
            <a:endCxn id="68" idx="0"/>
          </p:cNvCxnSpPr>
          <p:nvPr/>
        </p:nvCxnSpPr>
        <p:spPr>
          <a:xfrm rot="16200000" flipH="1">
            <a:off x="2876332" y="3510961"/>
            <a:ext cx="124324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D93894E-468E-4037-9464-FEFC04DE54B7}"/>
              </a:ext>
            </a:extLst>
          </p:cNvPr>
          <p:cNvSpPr txBox="1"/>
          <p:nvPr/>
        </p:nvSpPr>
        <p:spPr>
          <a:xfrm>
            <a:off x="535663" y="1556467"/>
            <a:ext cx="114737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★표준화 처리</a:t>
            </a:r>
            <a:r>
              <a:rPr lang="en-US" altLang="ko-KR" sz="1200" b="1" dirty="0">
                <a:solidFill>
                  <a:schemeClr val="bg1"/>
                </a:solidFill>
              </a:rPr>
              <a:t>(Standard)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표준화 </a:t>
            </a:r>
            <a:r>
              <a:rPr lang="ko-KR" altLang="en-US" sz="1100" dirty="0" err="1">
                <a:solidFill>
                  <a:schemeClr val="bg1"/>
                </a:solidFill>
              </a:rPr>
              <a:t>처리란</a:t>
            </a:r>
            <a:r>
              <a:rPr lang="ko-KR" altLang="en-US" sz="1100" dirty="0">
                <a:solidFill>
                  <a:schemeClr val="bg1"/>
                </a:solidFill>
              </a:rPr>
              <a:t> 각 </a:t>
            </a:r>
            <a:r>
              <a:rPr lang="en-US" altLang="ko-KR" sz="1100" dirty="0">
                <a:solidFill>
                  <a:schemeClr val="bg1"/>
                </a:solidFill>
              </a:rPr>
              <a:t>feature(</a:t>
            </a:r>
            <a:r>
              <a:rPr lang="ko-KR" altLang="en-US" sz="1100" dirty="0">
                <a:solidFill>
                  <a:schemeClr val="bg1"/>
                </a:solidFill>
              </a:rPr>
              <a:t>변수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를 평균이 </a:t>
            </a:r>
            <a:r>
              <a:rPr lang="en-US" altLang="ko-KR" sz="1100" dirty="0">
                <a:solidFill>
                  <a:schemeClr val="bg1"/>
                </a:solidFill>
              </a:rPr>
              <a:t>0, </a:t>
            </a:r>
            <a:r>
              <a:rPr lang="ko-KR" altLang="en-US" sz="1100" dirty="0">
                <a:solidFill>
                  <a:schemeClr val="bg1"/>
                </a:solidFill>
              </a:rPr>
              <a:t>표준편차가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이 되도록 변환해 주는 과정을 말합니다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변수마다 값의 범주가 다르기 때문에 학습을 할 때는 범주의 절대적 크기가 큰 것을 중요하다고 판단할 수 있기 때문에 모든 변수의 크기를 비슷한 규모로 </a:t>
            </a:r>
            <a:r>
              <a:rPr lang="ko-KR" altLang="en-US" sz="1100" dirty="0" err="1">
                <a:solidFill>
                  <a:schemeClr val="bg1"/>
                </a:solidFill>
              </a:rPr>
              <a:t>맞추어줘야지만</a:t>
            </a:r>
            <a:r>
              <a:rPr lang="ko-KR" altLang="en-US" sz="1100" dirty="0">
                <a:solidFill>
                  <a:schemeClr val="bg1"/>
                </a:solidFill>
              </a:rPr>
              <a:t> 모델이 공정하게 학습할 수 있습니다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DCC77587-2A94-4CF7-A003-D4587CF64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35" y="3573124"/>
            <a:ext cx="4436719" cy="1376533"/>
          </a:xfrm>
          <a:prstGeom prst="rect">
            <a:avLst/>
          </a:prstGeom>
        </p:spPr>
      </p:pic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79D4FD73-CE58-4633-912E-9E6319421AB5}"/>
              </a:ext>
            </a:extLst>
          </p:cNvPr>
          <p:cNvCxnSpPr>
            <a:cxnSpLocks/>
            <a:stCxn id="68" idx="3"/>
            <a:endCxn id="77" idx="1"/>
          </p:cNvCxnSpPr>
          <p:nvPr/>
        </p:nvCxnSpPr>
        <p:spPr>
          <a:xfrm>
            <a:off x="5156854" y="4261391"/>
            <a:ext cx="1839612" cy="104014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C057D1E-AC65-4B3A-9128-030CF114007A}"/>
              </a:ext>
            </a:extLst>
          </p:cNvPr>
          <p:cNvSpPr txBox="1"/>
          <p:nvPr/>
        </p:nvSpPr>
        <p:spPr>
          <a:xfrm>
            <a:off x="6996466" y="4324342"/>
            <a:ext cx="4436718" cy="19543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표준화</a:t>
            </a:r>
            <a:r>
              <a:rPr lang="en-US" altLang="ko-KR" sz="1100" dirty="0">
                <a:solidFill>
                  <a:schemeClr val="bg1"/>
                </a:solidFill>
              </a:rPr>
              <a:t>(Standardization)</a:t>
            </a:r>
            <a:r>
              <a:rPr lang="ko-KR" altLang="en-US" sz="1100" dirty="0">
                <a:solidFill>
                  <a:schemeClr val="bg1"/>
                </a:solidFill>
              </a:rPr>
              <a:t>로 각 변수들의 평균은 </a:t>
            </a:r>
            <a:r>
              <a:rPr lang="en-US" altLang="ko-KR" sz="1100" dirty="0">
                <a:solidFill>
                  <a:schemeClr val="bg1"/>
                </a:solidFill>
              </a:rPr>
              <a:t>0, </a:t>
            </a:r>
            <a:r>
              <a:rPr lang="ko-KR" altLang="en-US" sz="1100" dirty="0">
                <a:solidFill>
                  <a:schemeClr val="bg1"/>
                </a:solidFill>
              </a:rPr>
              <a:t>표준편차는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로 변환해줍니다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원본 데이터를 보호하기 위해서 복사해서 사용해줍니다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 err="1">
                <a:solidFill>
                  <a:schemeClr val="bg1"/>
                </a:solidFill>
              </a:rPr>
              <a:t>Sklearn</a:t>
            </a:r>
            <a:r>
              <a:rPr lang="ko-KR" altLang="en-US" sz="1100" dirty="0">
                <a:solidFill>
                  <a:schemeClr val="bg1"/>
                </a:solidFill>
              </a:rPr>
              <a:t>에서 </a:t>
            </a:r>
            <a:r>
              <a:rPr lang="en-US" altLang="ko-KR" sz="1100" dirty="0" err="1">
                <a:solidFill>
                  <a:schemeClr val="bg1"/>
                </a:solidFill>
              </a:rPr>
              <a:t>standardScaler</a:t>
            </a:r>
            <a:r>
              <a:rPr lang="ko-KR" altLang="en-US" sz="1100" dirty="0">
                <a:solidFill>
                  <a:schemeClr val="bg1"/>
                </a:solidFill>
              </a:rPr>
              <a:t>를 불러와 사용합니다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표준화 이후의 변환된 데이터와 비교하기 위해 스케일링 전 </a:t>
            </a:r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개정도 데이터를 확인해줍니다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Train </a:t>
            </a:r>
            <a:r>
              <a:rPr lang="ko-KR" altLang="en-US" sz="1100" dirty="0">
                <a:solidFill>
                  <a:schemeClr val="bg1"/>
                </a:solidFill>
              </a:rPr>
              <a:t>데이터의 수치형 컬럼 기준으로 평균과 표준편차 계산을 하고 변환해줍니다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Test</a:t>
            </a:r>
            <a:r>
              <a:rPr lang="ko-KR" altLang="en-US" sz="1100" dirty="0">
                <a:solidFill>
                  <a:schemeClr val="bg1"/>
                </a:solidFill>
              </a:rPr>
              <a:t>는 </a:t>
            </a:r>
            <a:r>
              <a:rPr lang="en-US" altLang="ko-KR" sz="1100" dirty="0">
                <a:solidFill>
                  <a:schemeClr val="bg1"/>
                </a:solidFill>
              </a:rPr>
              <a:t>train </a:t>
            </a:r>
            <a:r>
              <a:rPr lang="ko-KR" altLang="en-US" sz="1100" dirty="0">
                <a:solidFill>
                  <a:schemeClr val="bg1"/>
                </a:solidFill>
              </a:rPr>
              <a:t>데이터의 기준으로만 변환해줍니다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스케일링 후 데이터 </a:t>
            </a:r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개 정도를 확인해줍니다</a:t>
            </a:r>
            <a:r>
              <a:rPr lang="en-US" altLang="ko-KR" sz="1100" dirty="0">
                <a:solidFill>
                  <a:schemeClr val="bg1"/>
                </a:solidFill>
              </a:rPr>
              <a:t>!!</a:t>
            </a: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BCC575E7-0D3A-4EED-814C-044227088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33" y="5059441"/>
            <a:ext cx="4436719" cy="1659261"/>
          </a:xfrm>
          <a:prstGeom prst="rect">
            <a:avLst/>
          </a:prstGeom>
        </p:spPr>
      </p:pic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5C071DC0-5E97-44B9-9447-6FDB8841B916}"/>
              </a:ext>
            </a:extLst>
          </p:cNvPr>
          <p:cNvCxnSpPr>
            <a:cxnSpLocks/>
            <a:stCxn id="68" idx="2"/>
            <a:endCxn id="81" idx="0"/>
          </p:cNvCxnSpPr>
          <p:nvPr/>
        </p:nvCxnSpPr>
        <p:spPr>
          <a:xfrm rot="5400000">
            <a:off x="2883602" y="5004548"/>
            <a:ext cx="109784" cy="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485BE9AC-51EC-4221-8527-A474B1712CE1}"/>
              </a:ext>
            </a:extLst>
          </p:cNvPr>
          <p:cNvCxnSpPr>
            <a:cxnSpLocks/>
            <a:stCxn id="81" idx="3"/>
            <a:endCxn id="77" idx="1"/>
          </p:cNvCxnSpPr>
          <p:nvPr/>
        </p:nvCxnSpPr>
        <p:spPr>
          <a:xfrm flipV="1">
            <a:off x="5156852" y="5301533"/>
            <a:ext cx="1839614" cy="58753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505</Words>
  <Application>Microsoft Office PowerPoint</Application>
  <PresentationFormat>와이드스크린</PresentationFormat>
  <Paragraphs>65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178</cp:revision>
  <dcterms:created xsi:type="dcterms:W3CDTF">2025-08-05T00:27:28Z</dcterms:created>
  <dcterms:modified xsi:type="dcterms:W3CDTF">2025-10-24T06:44:22Z</dcterms:modified>
</cp:coreProperties>
</file>