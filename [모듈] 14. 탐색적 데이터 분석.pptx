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8" r:id="rId2"/>
    <p:sldId id="257" r:id="rId3"/>
    <p:sldId id="344" r:id="rId4"/>
    <p:sldId id="345" r:id="rId5"/>
    <p:sldId id="347" r:id="rId6"/>
    <p:sldId id="346" r:id="rId7"/>
    <p:sldId id="348" r:id="rId8"/>
    <p:sldId id="349" r:id="rId9"/>
    <p:sldId id="350" r:id="rId10"/>
    <p:sldId id="351" r:id="rId11"/>
    <p:sldId id="354" r:id="rId12"/>
    <p:sldId id="286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39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64FBC-A603-4149-BCAB-2D4F768B91F6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F3FA8-2471-4FD8-B750-534028B4DD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304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C2D174-CB32-4F11-B7D5-1A7BA59E4A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9D795AB-E336-45EB-A305-DD9AC4683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2254FD-84F1-428D-9057-ADAB81B3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BD85F5-ED05-4F59-AE9E-A58CEDA5B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79A623-0C98-4283-9D38-6AB30199D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81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DFFC5-38A8-42C2-A273-FAB66323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E2275-8578-4DB7-9D83-8CCD9E291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47C62E-4128-4DAC-A65A-27BB07B15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4C588-E11C-4D94-8F48-301C424F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1D5DEC-11A5-4320-839E-7F51A3AE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2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59599-3C19-445B-8494-65877CB89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5B53FD-C5F7-4500-BCF7-72846463F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83EE29-7B5A-4A33-A2E2-95C3F607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6DC215-611A-40F3-A9AE-4EE2515F4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79D90-5960-4F74-B035-C3B18949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861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B7EE06-1A7E-4A92-AAD0-9B86B8FF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688597-0625-4374-89CD-44B8845505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25B3D4-AF4B-4AE8-8394-D610318F6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47BFB0-D7CE-457E-9189-BFF67F8D5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705FD7-3D9F-4845-8269-DDACF141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2645E4-0207-4203-9E82-F7636B0D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387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10BA0D-07F6-4D96-BF5B-9436CB1AF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A570F5-018D-444F-B20D-7729D02D8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1EA175-6F80-498A-B91B-186EB4E9E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88C8E9D-6863-4906-B550-56942E2D3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51414A-34E4-4E1D-8229-4BAA2EB30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AA7644-2A06-4E36-80B6-059F98256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C1EA36-C08D-410A-BF83-A04F264E6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CC500D-50CE-43C2-8933-D267B7AE9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126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703C0-9ACF-4AAE-9D37-8D18B26C7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A6BCB5-73A1-4024-82FE-AF51172C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F8ED94-3DD5-42AA-8FF1-38C6499C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D23E3A-D959-4203-BD40-C8351276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60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C8A935A-7442-4F58-8D11-325F1B5C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FFBA2FD-9246-42AD-B56C-E8EA7AE5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FE6B8E-4A69-4A9B-A9DD-5F0CB7237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121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6DA8A-92BC-49DE-A8CF-C983904A3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3E4CE-55E3-4027-A86D-AC29312D7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3CD0D5-63EF-4021-AF42-9F742E495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8D621F-7A35-4AB1-9015-6EE6F3156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5FD7D6-46C4-408F-847C-245D5126F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6B04C4-A611-43E8-834B-444CAF02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2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DD74F-EF7A-4889-85F7-871326D4A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E16CC49-48CD-4612-BF78-EBB3B04EE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87BBA3-126E-40D9-955B-8C8D7877C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7E777C-8677-437F-9339-DEE00C79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11FACA-F355-4D90-B353-2AE547D5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0C2A7F-AB07-44EB-9EF8-2BEB08E2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758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1F0666-4475-4B01-8F4E-B875648A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97346D4-00C3-47FF-9B09-D4FF35DCC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E781B1-9EDD-4233-A374-EB535A6E5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26D15-4D50-4692-B46D-F882C66E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5EE2F-D229-4007-8D9F-7A3820BE1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92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EF2BF9F-0C81-4E8A-886A-CAEB2C36B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05AFD-1AA5-45B8-BD53-DA28197BD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49204C-AB5D-4CA3-9046-1619B2154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FA9E8D-4B61-46A7-A49A-9045BDFD6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EB5F22-C6F7-44D5-ACE0-6E7A148D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841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488827D-BBE9-423B-8A3E-16F1434F1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1ACD2B-EAC8-4DAE-80BC-8153D0C8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87A703-9670-4373-B621-3347DC4D1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F23D8-EC25-4018-9CD7-C53C9D694542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25031C-9617-4CD5-AB16-821A2E945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749AC1-BC97-42DC-BBFB-1FF1599E8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926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9FB2B1-ADA3-4D09-BE1E-5FE440FEF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7134" y="5409213"/>
            <a:ext cx="2247122" cy="1261535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 dirty="0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 err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심예진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DA77DD5-F07A-4FA6-8DEA-409A2C5ABB17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탐색적 데이터 분석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892D854-65E9-4161-BD25-B1C960BA7B0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62395-CB82-C6B8-18EC-276CC2A8E7CC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13" name="그림 1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7CCDA8-F2F2-6E33-1693-7115E4B9C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974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2E548-C65D-48A7-AF17-BB29D6CB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1429670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en-US" altLang="ko-KR" sz="2800" dirty="0"/>
              <a:t>INDEX </a:t>
            </a:r>
            <a:r>
              <a:rPr lang="ko-KR" altLang="en-US" sz="2800" dirty="0"/>
              <a:t>및 </a:t>
            </a:r>
            <a:r>
              <a:rPr lang="en-US" altLang="ko-KR" sz="2800" dirty="0"/>
              <a:t>CONTENTS</a:t>
            </a:r>
            <a:endParaRPr lang="ko-KR" altLang="en-US" sz="2800" dirty="0"/>
          </a:p>
        </p:txBody>
      </p:sp>
      <p:pic>
        <p:nvPicPr>
          <p:cNvPr id="5" name="그림 4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B4ED27-7257-EC1F-98C4-E6E38551F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31" y="236265"/>
            <a:ext cx="815249" cy="8152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C93E1F-B78C-523A-B7A0-7AA31B32F725}"/>
              </a:ext>
            </a:extLst>
          </p:cNvPr>
          <p:cNvSpPr txBox="1"/>
          <p:nvPr/>
        </p:nvSpPr>
        <p:spPr>
          <a:xfrm>
            <a:off x="11446707" y="6439943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EA2501B-6B7D-417C-BE87-5373F6C9C5A5}"/>
              </a:ext>
            </a:extLst>
          </p:cNvPr>
          <p:cNvSpPr txBox="1">
            <a:spLocks/>
          </p:cNvSpPr>
          <p:nvPr/>
        </p:nvSpPr>
        <p:spPr>
          <a:xfrm>
            <a:off x="475542" y="2103098"/>
            <a:ext cx="11256675" cy="376025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데이터 불러오기 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------------------------------------------------------------------------------------------------ 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2p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데이터 구조 확인하기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3p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–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4p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자료형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/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메모리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/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결측치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확인하기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5p – 6p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수치형 통계 요약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(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평균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,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표준편차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,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최대값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,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최소값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,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사분위수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) 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7P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범주형 통계 요약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(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총개수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,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최빈값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등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) 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8P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컬럼별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결측 여부 확인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 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8P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en-US" altLang="ko-KR" sz="1500" b="1" dirty="0" err="1">
                <a:solidFill>
                  <a:schemeClr val="bg1"/>
                </a:solidFill>
                <a:latin typeface="+mj-lt"/>
              </a:rPr>
              <a:t>Item_Type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 – </a:t>
            </a:r>
            <a:r>
              <a:rPr lang="en-US" altLang="ko-KR" sz="1500" b="1" dirty="0" err="1">
                <a:solidFill>
                  <a:schemeClr val="bg1"/>
                </a:solidFill>
                <a:latin typeface="+mj-lt"/>
              </a:rPr>
              <a:t>Item_Outlet_Sales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값 간의 회귀분석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(OLS) 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9P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그래프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10P</a:t>
            </a:r>
          </a:p>
        </p:txBody>
      </p:sp>
    </p:spTree>
    <p:extLst>
      <p:ext uri="{BB962C8B-B14F-4D97-AF65-F5344CB8AC3E}">
        <p14:creationId xmlns:p14="http://schemas.microsoft.com/office/powerpoint/2010/main" val="2484274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1.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라이브러리 및 데이터 불러오기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083BC3C-70BE-4D5B-8223-2C3152406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832" y="2902728"/>
            <a:ext cx="7916380" cy="159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910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데이터 구조 확인하기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전체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D5942C5-C58B-470D-8DC2-22CF76CE8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88" y="2332965"/>
            <a:ext cx="9132446" cy="216870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C902566-B5B0-4912-A163-63ED88F3E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669" y="4540533"/>
            <a:ext cx="9121465" cy="216870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A5782EB-ECE3-493E-B60F-F2157DF081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3873" y="2255884"/>
            <a:ext cx="1762371" cy="800212"/>
          </a:xfrm>
          <a:prstGeom prst="rect">
            <a:avLst/>
          </a:prstGeom>
          <a:ln w="19050">
            <a:solidFill>
              <a:schemeClr val="accent4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D867DF6-F42C-4856-9821-2FE094ABBD90}"/>
              </a:ext>
            </a:extLst>
          </p:cNvPr>
          <p:cNvSpPr txBox="1"/>
          <p:nvPr/>
        </p:nvSpPr>
        <p:spPr>
          <a:xfrm>
            <a:off x="661832" y="1597475"/>
            <a:ext cx="90491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train</a:t>
            </a:r>
            <a:r>
              <a:rPr lang="ko-KR" altLang="en-US" sz="1200" dirty="0">
                <a:solidFill>
                  <a:schemeClr val="bg1"/>
                </a:solidFill>
              </a:rPr>
              <a:t>과 </a:t>
            </a:r>
            <a:r>
              <a:rPr lang="en-US" altLang="ko-KR" sz="1200" dirty="0">
                <a:solidFill>
                  <a:schemeClr val="bg1"/>
                </a:solidFill>
              </a:rPr>
              <a:t>test </a:t>
            </a:r>
            <a:r>
              <a:rPr lang="ko-KR" altLang="en-US" sz="1200" dirty="0">
                <a:solidFill>
                  <a:schemeClr val="bg1"/>
                </a:solidFill>
              </a:rPr>
              <a:t>데이터 전체 구조를 확인해봅니다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200" b="1" dirty="0">
                <a:solidFill>
                  <a:schemeClr val="bg1"/>
                </a:solidFill>
              </a:rPr>
              <a:t>Train</a:t>
            </a:r>
            <a:r>
              <a:rPr lang="ko-KR" altLang="en-US" sz="1200" b="1" dirty="0">
                <a:solidFill>
                  <a:schemeClr val="bg1"/>
                </a:solidFill>
              </a:rPr>
              <a:t>은 </a:t>
            </a:r>
            <a:r>
              <a:rPr lang="en-US" altLang="ko-KR" sz="1200" b="1" dirty="0">
                <a:solidFill>
                  <a:schemeClr val="bg1"/>
                </a:solidFill>
              </a:rPr>
              <a:t>12</a:t>
            </a:r>
            <a:r>
              <a:rPr lang="ko-KR" altLang="en-US" sz="1200" b="1" dirty="0">
                <a:solidFill>
                  <a:schemeClr val="bg1"/>
                </a:solidFill>
              </a:rPr>
              <a:t>개의 컬럼과 </a:t>
            </a:r>
            <a:r>
              <a:rPr lang="en-US" altLang="ko-KR" sz="1200" b="1" dirty="0">
                <a:solidFill>
                  <a:schemeClr val="bg1"/>
                </a:solidFill>
              </a:rPr>
              <a:t>6818</a:t>
            </a:r>
            <a:r>
              <a:rPr lang="ko-KR" altLang="en-US" sz="1200" b="1" dirty="0">
                <a:solidFill>
                  <a:schemeClr val="bg1"/>
                </a:solidFill>
              </a:rPr>
              <a:t>개의 행으로 구성되어 있고</a:t>
            </a:r>
            <a:r>
              <a:rPr lang="en-US" altLang="ko-KR" sz="1200" b="1" dirty="0">
                <a:solidFill>
                  <a:schemeClr val="bg1"/>
                </a:solidFill>
              </a:rPr>
              <a:t>, test</a:t>
            </a:r>
            <a:r>
              <a:rPr lang="ko-KR" altLang="en-US" sz="1200" b="1" dirty="0">
                <a:solidFill>
                  <a:schemeClr val="bg1"/>
                </a:solidFill>
              </a:rPr>
              <a:t>는 </a:t>
            </a:r>
            <a:r>
              <a:rPr lang="en-US" altLang="ko-KR" sz="1200" b="1" dirty="0">
                <a:solidFill>
                  <a:schemeClr val="bg1"/>
                </a:solidFill>
              </a:rPr>
              <a:t>11</a:t>
            </a:r>
            <a:r>
              <a:rPr lang="ko-KR" altLang="en-US" sz="1200" b="1" dirty="0">
                <a:solidFill>
                  <a:schemeClr val="bg1"/>
                </a:solidFill>
              </a:rPr>
              <a:t>개의 컬럼과 </a:t>
            </a:r>
            <a:r>
              <a:rPr lang="en-US" altLang="ko-KR" sz="1200" b="1" dirty="0">
                <a:solidFill>
                  <a:schemeClr val="bg1"/>
                </a:solidFill>
              </a:rPr>
              <a:t>1705</a:t>
            </a:r>
            <a:r>
              <a:rPr lang="ko-KR" altLang="en-US" sz="1200" b="1" dirty="0">
                <a:solidFill>
                  <a:schemeClr val="bg1"/>
                </a:solidFill>
              </a:rPr>
              <a:t>개의 행</a:t>
            </a:r>
            <a:r>
              <a:rPr lang="ko-KR" altLang="en-US" sz="1200" dirty="0">
                <a:solidFill>
                  <a:schemeClr val="bg1"/>
                </a:solidFill>
              </a:rPr>
              <a:t>으로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구성되어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200" b="1" dirty="0">
                <a:solidFill>
                  <a:schemeClr val="bg1"/>
                </a:solidFill>
              </a:rPr>
              <a:t>Target</a:t>
            </a:r>
            <a:r>
              <a:rPr lang="ko-KR" altLang="en-US" sz="1200" b="1" dirty="0">
                <a:solidFill>
                  <a:schemeClr val="bg1"/>
                </a:solidFill>
              </a:rPr>
              <a:t>값은 </a:t>
            </a:r>
            <a:r>
              <a:rPr lang="en-US" altLang="ko-KR" sz="1200" b="1" dirty="0">
                <a:solidFill>
                  <a:schemeClr val="bg1"/>
                </a:solidFill>
              </a:rPr>
              <a:t>‘</a:t>
            </a:r>
            <a:r>
              <a:rPr lang="en-US" altLang="ko-KR" sz="1200" b="1" dirty="0" err="1">
                <a:solidFill>
                  <a:schemeClr val="bg1"/>
                </a:solidFill>
              </a:rPr>
              <a:t>Item_Outlet_Sales</a:t>
            </a:r>
            <a:r>
              <a:rPr lang="en-US" altLang="ko-KR" sz="1200" dirty="0">
                <a:solidFill>
                  <a:schemeClr val="bg1"/>
                </a:solidFill>
              </a:rPr>
              <a:t>’ </a:t>
            </a:r>
            <a:r>
              <a:rPr lang="ko-KR" altLang="en-US" sz="1200" dirty="0">
                <a:solidFill>
                  <a:schemeClr val="bg1"/>
                </a:solidFill>
              </a:rPr>
              <a:t>로 잡으면 될 것 같습니다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Tx/>
              <a:buChar char="-"/>
            </a:pPr>
            <a:endParaRPr lang="en-US" altLang="ko-KR" sz="1200" dirty="0">
              <a:solidFill>
                <a:schemeClr val="bg1"/>
              </a:solidFill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696F9484-739E-48CC-9FDA-4D516D0E35F2}"/>
              </a:ext>
            </a:extLst>
          </p:cNvPr>
          <p:cNvCxnSpPr>
            <a:cxnSpLocks/>
          </p:cNvCxnSpPr>
          <p:nvPr/>
        </p:nvCxnSpPr>
        <p:spPr>
          <a:xfrm>
            <a:off x="625669" y="2247251"/>
            <a:ext cx="9085303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205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데이터 구조 확인하기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상위 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377B1DF-0E5A-4C24-8C63-8BB03C896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942" y="2419334"/>
            <a:ext cx="10631837" cy="168580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C77A50B-19E9-4607-903C-E6094F981C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42" y="4263343"/>
            <a:ext cx="10631837" cy="193975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C537255-C0C8-4EC9-B260-1CFCB653E428}"/>
              </a:ext>
            </a:extLst>
          </p:cNvPr>
          <p:cNvSpPr txBox="1"/>
          <p:nvPr/>
        </p:nvSpPr>
        <p:spPr>
          <a:xfrm>
            <a:off x="522350" y="1829947"/>
            <a:ext cx="90491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대표로 상위 </a:t>
            </a:r>
            <a:r>
              <a:rPr lang="en-US" altLang="ko-KR" sz="1200" dirty="0">
                <a:solidFill>
                  <a:schemeClr val="bg1"/>
                </a:solidFill>
              </a:rPr>
              <a:t>5</a:t>
            </a:r>
            <a:r>
              <a:rPr lang="ko-KR" altLang="en-US" sz="1200" dirty="0">
                <a:solidFill>
                  <a:schemeClr val="bg1"/>
                </a:solidFill>
              </a:rPr>
              <a:t>개의 행을 뽑아서 확인해 봅시다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81028C1C-233C-4FEE-9BCD-BCC62F939EC6}"/>
              </a:ext>
            </a:extLst>
          </p:cNvPr>
          <p:cNvCxnSpPr>
            <a:cxnSpLocks/>
          </p:cNvCxnSpPr>
          <p:nvPr/>
        </p:nvCxnSpPr>
        <p:spPr>
          <a:xfrm>
            <a:off x="526942" y="2262749"/>
            <a:ext cx="10631837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189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3.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자료형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메모리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2800" dirty="0" err="1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결측치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확인하기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5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DEBFFC-8892-4671-9AEB-080861061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07" y="2932608"/>
            <a:ext cx="4001058" cy="342947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95E4932-B908-4126-B997-43E0AEF30F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7539" y="2932609"/>
            <a:ext cx="4020111" cy="34402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A333A51-2F8F-4307-ABFE-0527E9BDA6FC}"/>
              </a:ext>
            </a:extLst>
          </p:cNvPr>
          <p:cNvSpPr txBox="1"/>
          <p:nvPr/>
        </p:nvSpPr>
        <p:spPr>
          <a:xfrm>
            <a:off x="522349" y="2062420"/>
            <a:ext cx="10631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자료형을 확인해 보자면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b="1" dirty="0">
                <a:solidFill>
                  <a:schemeClr val="bg1"/>
                </a:solidFill>
              </a:rPr>
              <a:t>7</a:t>
            </a:r>
            <a:r>
              <a:rPr lang="ko-KR" altLang="en-US" sz="1200" b="1" dirty="0">
                <a:solidFill>
                  <a:schemeClr val="bg1"/>
                </a:solidFill>
              </a:rPr>
              <a:t>개의 </a:t>
            </a:r>
            <a:r>
              <a:rPr lang="en-US" altLang="ko-KR" sz="1200" b="1" dirty="0">
                <a:solidFill>
                  <a:schemeClr val="bg1"/>
                </a:solidFill>
              </a:rPr>
              <a:t>object</a:t>
            </a:r>
            <a:r>
              <a:rPr lang="ko-KR" altLang="en-US" sz="1200" b="1" dirty="0">
                <a:solidFill>
                  <a:schemeClr val="bg1"/>
                </a:solidFill>
              </a:rPr>
              <a:t>형 타입의 컬럼이 있어 나중에 인코딩이 필요할 것 같습니다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메모리는 타입별로 다른데 </a:t>
            </a:r>
            <a:r>
              <a:rPr lang="ko-KR" altLang="en-US" sz="1200" b="1" dirty="0">
                <a:solidFill>
                  <a:schemeClr val="bg1"/>
                </a:solidFill>
              </a:rPr>
              <a:t>기본 </a:t>
            </a:r>
            <a:r>
              <a:rPr lang="en-US" altLang="ko-KR" sz="1200" b="1" dirty="0">
                <a:solidFill>
                  <a:schemeClr val="bg1"/>
                </a:solidFill>
              </a:rPr>
              <a:t>8</a:t>
            </a:r>
            <a:r>
              <a:rPr lang="ko-KR" altLang="en-US" sz="1200" b="1" dirty="0">
                <a:solidFill>
                  <a:schemeClr val="bg1"/>
                </a:solidFill>
              </a:rPr>
              <a:t>바이트인 </a:t>
            </a:r>
            <a:r>
              <a:rPr lang="en-US" altLang="ko-KR" sz="1200" b="1" dirty="0">
                <a:solidFill>
                  <a:schemeClr val="bg1"/>
                </a:solidFill>
              </a:rPr>
              <a:t>int</a:t>
            </a:r>
            <a:r>
              <a:rPr lang="ko-KR" altLang="en-US" sz="1200" b="1" dirty="0">
                <a:solidFill>
                  <a:schemeClr val="bg1"/>
                </a:solidFill>
              </a:rPr>
              <a:t>형</a:t>
            </a:r>
            <a:r>
              <a:rPr lang="en-US" altLang="ko-KR" sz="1200" b="1" dirty="0">
                <a:solidFill>
                  <a:schemeClr val="bg1"/>
                </a:solidFill>
              </a:rPr>
              <a:t>, float</a:t>
            </a:r>
            <a:r>
              <a:rPr lang="ko-KR" altLang="en-US" sz="1200" b="1" dirty="0">
                <a:solidFill>
                  <a:schemeClr val="bg1"/>
                </a:solidFill>
              </a:rPr>
              <a:t>형</a:t>
            </a:r>
            <a:r>
              <a:rPr lang="ko-KR" altLang="en-US" sz="1200" dirty="0">
                <a:solidFill>
                  <a:schemeClr val="bg1"/>
                </a:solidFill>
              </a:rPr>
              <a:t>과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달리 </a:t>
            </a:r>
            <a:r>
              <a:rPr lang="en-US" altLang="ko-KR" sz="1200" b="1" dirty="0">
                <a:solidFill>
                  <a:schemeClr val="bg1"/>
                </a:solidFill>
              </a:rPr>
              <a:t>object</a:t>
            </a:r>
            <a:r>
              <a:rPr lang="ko-KR" altLang="en-US" sz="1200" b="1" dirty="0">
                <a:solidFill>
                  <a:schemeClr val="bg1"/>
                </a:solidFill>
              </a:rPr>
              <a:t>형은 데이터의 크기가 가변</a:t>
            </a:r>
            <a:r>
              <a:rPr lang="ko-KR" altLang="en-US" sz="1200" dirty="0">
                <a:solidFill>
                  <a:schemeClr val="bg1"/>
                </a:solidFill>
              </a:rPr>
              <a:t>하기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때문에 메모리를 많이 잡아먹을 수도 있어 인코딩이 꼭 필요하다고 볼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25368D4-88C4-4BA1-B197-859E72D329AA}"/>
              </a:ext>
            </a:extLst>
          </p:cNvPr>
          <p:cNvCxnSpPr>
            <a:cxnSpLocks/>
          </p:cNvCxnSpPr>
          <p:nvPr/>
        </p:nvCxnSpPr>
        <p:spPr>
          <a:xfrm>
            <a:off x="526942" y="2820679"/>
            <a:ext cx="10631837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58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3.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자료형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메모리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2800" dirty="0" err="1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결측치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확인하기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6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EAE6E16-00F1-46B4-9ECB-39F4B7257C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759" y="2803550"/>
            <a:ext cx="2467319" cy="255305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AFF46B9-CA5F-4E7E-8586-AE098E0ADC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760" y="5356606"/>
            <a:ext cx="2467318" cy="9335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5DF245C-A52A-406F-AE47-61B83143BE4B}"/>
              </a:ext>
            </a:extLst>
          </p:cNvPr>
          <p:cNvSpPr txBox="1"/>
          <p:nvPr/>
        </p:nvSpPr>
        <p:spPr>
          <a:xfrm>
            <a:off x="720134" y="2093416"/>
            <a:ext cx="8851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200" dirty="0" err="1">
                <a:solidFill>
                  <a:schemeClr val="bg1"/>
                </a:solidFill>
              </a:rPr>
              <a:t>결측치를</a:t>
            </a:r>
            <a:r>
              <a:rPr lang="ko-KR" altLang="en-US" sz="1200" dirty="0">
                <a:solidFill>
                  <a:schemeClr val="bg1"/>
                </a:solidFill>
              </a:rPr>
              <a:t> 보자면 </a:t>
            </a:r>
            <a:r>
              <a:rPr lang="en-US" altLang="ko-KR" sz="1200" b="1" dirty="0">
                <a:solidFill>
                  <a:schemeClr val="bg1"/>
                </a:solidFill>
              </a:rPr>
              <a:t>‘</a:t>
            </a:r>
            <a:r>
              <a:rPr lang="en-US" altLang="ko-KR" sz="1200" b="1" dirty="0" err="1">
                <a:solidFill>
                  <a:schemeClr val="bg1"/>
                </a:solidFill>
              </a:rPr>
              <a:t>Item_Weight</a:t>
            </a:r>
            <a:r>
              <a:rPr lang="en-US" altLang="ko-KR" sz="1200" b="1" dirty="0">
                <a:solidFill>
                  <a:schemeClr val="bg1"/>
                </a:solidFill>
              </a:rPr>
              <a:t>’ </a:t>
            </a:r>
            <a:r>
              <a:rPr lang="ko-KR" altLang="en-US" sz="1200" b="1" dirty="0">
                <a:solidFill>
                  <a:schemeClr val="bg1"/>
                </a:solidFill>
              </a:rPr>
              <a:t>와 </a:t>
            </a:r>
            <a:r>
              <a:rPr lang="en-US" altLang="ko-KR" sz="1200" b="1" dirty="0">
                <a:solidFill>
                  <a:schemeClr val="bg1"/>
                </a:solidFill>
              </a:rPr>
              <a:t>‘</a:t>
            </a:r>
            <a:r>
              <a:rPr lang="en-US" altLang="ko-KR" sz="1200" b="1" dirty="0" err="1">
                <a:solidFill>
                  <a:schemeClr val="bg1"/>
                </a:solidFill>
              </a:rPr>
              <a:t>Outlet_Size</a:t>
            </a:r>
            <a:r>
              <a:rPr lang="en-US" altLang="ko-KR" sz="1200" b="1" dirty="0">
                <a:solidFill>
                  <a:schemeClr val="bg1"/>
                </a:solidFill>
              </a:rPr>
              <a:t>’</a:t>
            </a:r>
            <a:r>
              <a:rPr lang="ko-KR" altLang="en-US" sz="1200" b="1" dirty="0">
                <a:solidFill>
                  <a:schemeClr val="bg1"/>
                </a:solidFill>
              </a:rPr>
              <a:t>에서 </a:t>
            </a:r>
            <a:r>
              <a:rPr lang="en-US" altLang="ko-KR" sz="1200" b="1" dirty="0">
                <a:solidFill>
                  <a:schemeClr val="bg1"/>
                </a:solidFill>
              </a:rPr>
              <a:t>train</a:t>
            </a:r>
            <a:r>
              <a:rPr lang="ko-KR" altLang="en-US" sz="1200" b="1" dirty="0">
                <a:solidFill>
                  <a:schemeClr val="bg1"/>
                </a:solidFill>
              </a:rPr>
              <a:t>은 총 </a:t>
            </a:r>
            <a:r>
              <a:rPr lang="en-US" altLang="ko-KR" sz="1200" b="1" dirty="0">
                <a:solidFill>
                  <a:schemeClr val="bg1"/>
                </a:solidFill>
              </a:rPr>
              <a:t>3102</a:t>
            </a:r>
            <a:r>
              <a:rPr lang="ko-KR" altLang="en-US" sz="1200" b="1" dirty="0">
                <a:solidFill>
                  <a:schemeClr val="bg1"/>
                </a:solidFill>
              </a:rPr>
              <a:t>개의 </a:t>
            </a:r>
            <a:r>
              <a:rPr lang="ko-KR" altLang="en-US" sz="1200" b="1" dirty="0" err="1">
                <a:solidFill>
                  <a:schemeClr val="bg1"/>
                </a:solidFill>
              </a:rPr>
              <a:t>결측치가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r>
              <a:rPr lang="en-US" altLang="ko-KR" sz="1200" b="1" dirty="0">
                <a:solidFill>
                  <a:schemeClr val="bg1"/>
                </a:solidFill>
              </a:rPr>
              <a:t>test</a:t>
            </a:r>
            <a:r>
              <a:rPr lang="ko-KR" altLang="en-US" sz="1200" b="1" dirty="0">
                <a:solidFill>
                  <a:schemeClr val="bg1"/>
                </a:solidFill>
              </a:rPr>
              <a:t>는 </a:t>
            </a:r>
            <a:r>
              <a:rPr lang="en-US" altLang="ko-KR" sz="1200" b="1" dirty="0">
                <a:solidFill>
                  <a:schemeClr val="bg1"/>
                </a:solidFill>
              </a:rPr>
              <a:t>771</a:t>
            </a:r>
            <a:r>
              <a:rPr lang="ko-KR" altLang="en-US" sz="1200" b="1" dirty="0">
                <a:solidFill>
                  <a:schemeClr val="bg1"/>
                </a:solidFill>
              </a:rPr>
              <a:t>개의 </a:t>
            </a:r>
            <a:r>
              <a:rPr lang="ko-KR" altLang="en-US" sz="1200" b="1" dirty="0" err="1">
                <a:solidFill>
                  <a:schemeClr val="bg1"/>
                </a:solidFill>
              </a:rPr>
              <a:t>결측치가</a:t>
            </a:r>
            <a:r>
              <a:rPr lang="ko-KR" altLang="en-US" sz="1200" b="1" dirty="0">
                <a:solidFill>
                  <a:schemeClr val="bg1"/>
                </a:solidFill>
              </a:rPr>
              <a:t> 확인</a:t>
            </a:r>
            <a:r>
              <a:rPr lang="ko-KR" altLang="en-US" sz="1200" dirty="0">
                <a:solidFill>
                  <a:schemeClr val="bg1"/>
                </a:solidFill>
              </a:rPr>
              <a:t>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나중에 </a:t>
            </a:r>
            <a:r>
              <a:rPr lang="ko-KR" altLang="en-US" sz="1200" b="1" dirty="0" err="1">
                <a:solidFill>
                  <a:schemeClr val="bg1"/>
                </a:solidFill>
              </a:rPr>
              <a:t>결측치를</a:t>
            </a:r>
            <a:r>
              <a:rPr lang="ko-KR" altLang="en-US" sz="1200" b="1" dirty="0">
                <a:solidFill>
                  <a:schemeClr val="bg1"/>
                </a:solidFill>
              </a:rPr>
              <a:t> 제거를 위해 평균값</a:t>
            </a:r>
            <a:r>
              <a:rPr lang="en-US" altLang="ko-KR" sz="1200" b="1" dirty="0">
                <a:solidFill>
                  <a:schemeClr val="bg1"/>
                </a:solidFill>
              </a:rPr>
              <a:t>, </a:t>
            </a:r>
            <a:r>
              <a:rPr lang="ko-KR" altLang="en-US" sz="1200" b="1" dirty="0" err="1">
                <a:solidFill>
                  <a:schemeClr val="bg1"/>
                </a:solidFill>
              </a:rPr>
              <a:t>최빈값</a:t>
            </a:r>
            <a:r>
              <a:rPr lang="ko-KR" altLang="en-US" sz="1200" b="1" dirty="0">
                <a:solidFill>
                  <a:schemeClr val="bg1"/>
                </a:solidFill>
              </a:rPr>
              <a:t> 등으로 대체</a:t>
            </a:r>
            <a:r>
              <a:rPr lang="ko-KR" altLang="en-US" sz="1200" dirty="0">
                <a:solidFill>
                  <a:schemeClr val="bg1"/>
                </a:solidFill>
              </a:rPr>
              <a:t>해야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1515908-053A-4DDE-BB31-66A136CA64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6866" y="2803077"/>
            <a:ext cx="2362530" cy="255305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7068124-BCFB-43D3-AAD4-98E9C16719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6866" y="5356132"/>
            <a:ext cx="2362530" cy="933580"/>
          </a:xfrm>
          <a:prstGeom prst="rect">
            <a:avLst/>
          </a:prstGeom>
        </p:spPr>
      </p:pic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A8968E41-72BC-4F62-B737-72711BA50F77}"/>
              </a:ext>
            </a:extLst>
          </p:cNvPr>
          <p:cNvCxnSpPr>
            <a:cxnSpLocks/>
          </p:cNvCxnSpPr>
          <p:nvPr/>
        </p:nvCxnSpPr>
        <p:spPr>
          <a:xfrm>
            <a:off x="720135" y="2665698"/>
            <a:ext cx="885135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1168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4.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수치형 통계 요약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7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802B0A-6AFE-4D6C-BB9F-4BA7D3BE64F0}"/>
              </a:ext>
            </a:extLst>
          </p:cNvPr>
          <p:cNvSpPr txBox="1"/>
          <p:nvPr/>
        </p:nvSpPr>
        <p:spPr>
          <a:xfrm>
            <a:off x="892576" y="1773197"/>
            <a:ext cx="7915435" cy="138499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describe()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는 기본적으로 수치형 변수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(numeric columns)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의 통계 요약을 보여줍니다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count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결측치가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아닌 데이터 개수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mean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평균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std: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표준편차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min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최소값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25%, 50%, 75%: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각 사분위수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max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최대값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460C87B-A8BF-4EA4-BA8C-E847565A5A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915" y="3347665"/>
            <a:ext cx="5401429" cy="273405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B05E36-E0CC-4939-B060-B7AC423C2D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6627" y="3347665"/>
            <a:ext cx="4305901" cy="2734057"/>
          </a:xfrm>
          <a:prstGeom prst="rect">
            <a:avLst/>
          </a:prstGeom>
        </p:spPr>
      </p:pic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6DE277C8-A83E-4B9C-9FA0-A4F413D507F9}"/>
              </a:ext>
            </a:extLst>
          </p:cNvPr>
          <p:cNvCxnSpPr>
            <a:cxnSpLocks/>
          </p:cNvCxnSpPr>
          <p:nvPr/>
        </p:nvCxnSpPr>
        <p:spPr>
          <a:xfrm>
            <a:off x="887915" y="3236150"/>
            <a:ext cx="9874613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640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범주형 통계 요약 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&amp;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6.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컬럼별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결측 여부 확인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8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802B0A-6AFE-4D6C-BB9F-4BA7D3BE64F0}"/>
              </a:ext>
            </a:extLst>
          </p:cNvPr>
          <p:cNvSpPr txBox="1"/>
          <p:nvPr/>
        </p:nvSpPr>
        <p:spPr>
          <a:xfrm>
            <a:off x="8053810" y="2044005"/>
            <a:ext cx="3799099" cy="1384995"/>
          </a:xfrm>
          <a:prstGeom prst="rect">
            <a:avLst/>
          </a:prstGeom>
          <a:noFill/>
          <a:ln w="12700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include='O'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object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타입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문자형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범주형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컬럼만 요약합니다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count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결측치가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아닌 데이터 개수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unique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고유값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개수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top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최빈값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가장 자주 나온 값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freq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최빈값의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빈도수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1F3783D-BFB1-42D4-BBDC-D5409863C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1908609"/>
            <a:ext cx="7268589" cy="17718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C033D8B-D9FD-4B55-9E46-5758A353D2F0}"/>
              </a:ext>
            </a:extLst>
          </p:cNvPr>
          <p:cNvSpPr txBox="1"/>
          <p:nvPr/>
        </p:nvSpPr>
        <p:spPr>
          <a:xfrm>
            <a:off x="8053810" y="4781463"/>
            <a:ext cx="3799099" cy="461665"/>
          </a:xfrm>
          <a:prstGeom prst="rect">
            <a:avLst/>
          </a:prstGeom>
          <a:noFill/>
          <a:ln w="12700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각 컬럼마다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(null)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개수를 보여줍니다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결측치가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없으면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있으면 그 개수가 표시됩니다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A6721E8-53AA-42BD-9ACA-31CF121314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40" y="4170267"/>
            <a:ext cx="2619464" cy="22958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F24C72-2081-44A8-A7AC-9E1BC8D2DA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5499" y="4155752"/>
            <a:ext cx="2619464" cy="2295845"/>
          </a:xfrm>
          <a:prstGeom prst="rect">
            <a:avLst/>
          </a:prstGeom>
        </p:spPr>
      </p:pic>
      <p:cxnSp>
        <p:nvCxnSpPr>
          <p:cNvPr id="4" name="연결선: 꺾임 3">
            <a:extLst>
              <a:ext uri="{FF2B5EF4-FFF2-40B4-BE49-F238E27FC236}">
                <a16:creationId xmlns:a16="http://schemas.microsoft.com/office/drawing/2014/main" id="{5C646AF0-FCCF-4441-BACE-8432332C631F}"/>
              </a:ext>
            </a:extLst>
          </p:cNvPr>
          <p:cNvCxnSpPr>
            <a:cxnSpLocks/>
            <a:stCxn id="5" idx="3"/>
            <a:endCxn id="10" idx="1"/>
          </p:cNvCxnSpPr>
          <p:nvPr/>
        </p:nvCxnSpPr>
        <p:spPr>
          <a:xfrm flipV="1">
            <a:off x="7581100" y="2736503"/>
            <a:ext cx="472710" cy="58055"/>
          </a:xfrm>
          <a:prstGeom prst="bentConnector3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30A860D8-97CE-4D13-BA6B-76CA79558CB9}"/>
              </a:ext>
            </a:extLst>
          </p:cNvPr>
          <p:cNvCxnSpPr>
            <a:cxnSpLocks/>
            <a:stCxn id="14" idx="3"/>
            <a:endCxn id="12" idx="1"/>
          </p:cNvCxnSpPr>
          <p:nvPr/>
        </p:nvCxnSpPr>
        <p:spPr>
          <a:xfrm flipV="1">
            <a:off x="6814963" y="5012296"/>
            <a:ext cx="1238847" cy="291379"/>
          </a:xfrm>
          <a:prstGeom prst="bentConnector3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2284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9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FD1E23FA-1DE4-4491-9D37-8ADBE2E30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1429670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en-US" altLang="ko-KR" sz="2000" dirty="0"/>
              <a:t>7. </a:t>
            </a:r>
            <a:r>
              <a:rPr lang="en-US" altLang="ko-KR" sz="2000" dirty="0" err="1"/>
              <a:t>Item_Type</a:t>
            </a:r>
            <a:r>
              <a:rPr lang="en-US" altLang="ko-KR" sz="2000" dirty="0"/>
              <a:t> – </a:t>
            </a:r>
            <a:r>
              <a:rPr lang="en-US" altLang="ko-KR" sz="2000" dirty="0" err="1"/>
              <a:t>Item_Outlet_Sales</a:t>
            </a:r>
            <a:r>
              <a:rPr lang="en-US" altLang="ko-KR" sz="2000" dirty="0"/>
              <a:t> </a:t>
            </a:r>
            <a:r>
              <a:rPr lang="ko-KR" altLang="en-US" sz="2000" dirty="0"/>
              <a:t>값 간의 회귀분석</a:t>
            </a:r>
            <a:r>
              <a:rPr lang="en-US" altLang="ko-KR" sz="2000" dirty="0"/>
              <a:t>(OLS) </a:t>
            </a:r>
            <a:r>
              <a:rPr lang="ko-KR" altLang="en-US" sz="2000" dirty="0"/>
              <a:t>확인</a:t>
            </a:r>
            <a:r>
              <a:rPr lang="en-US" altLang="ko-KR" sz="2000" dirty="0"/>
              <a:t>(Summary</a:t>
            </a:r>
            <a:r>
              <a:rPr lang="ko-KR" altLang="en-US" sz="2000" dirty="0"/>
              <a:t>와 </a:t>
            </a:r>
            <a:r>
              <a:rPr lang="ko-KR" altLang="en-US" sz="2000" dirty="0" err="1"/>
              <a:t>값해석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pic>
        <p:nvPicPr>
          <p:cNvPr id="12" name="그림 11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157CFF6-8B30-498A-AFF6-7B5F24723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31" y="236265"/>
            <a:ext cx="815249" cy="81524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D0FF85B-4CD6-4004-B756-EE7618B297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343" t="38889" r="52422" b="17917"/>
          <a:stretch/>
        </p:blipFill>
        <p:spPr>
          <a:xfrm>
            <a:off x="590550" y="2095500"/>
            <a:ext cx="5181600" cy="4164025"/>
          </a:xfrm>
          <a:prstGeom prst="rect">
            <a:avLst/>
          </a:prstGeom>
        </p:spPr>
      </p:pic>
      <p:sp>
        <p:nvSpPr>
          <p:cNvPr id="14" name="TextBox 21">
            <a:extLst>
              <a:ext uri="{FF2B5EF4-FFF2-40B4-BE49-F238E27FC236}">
                <a16:creationId xmlns:a16="http://schemas.microsoft.com/office/drawing/2014/main" id="{6AA7BE9D-42A4-40FF-89BB-D1FE6A913CB5}"/>
              </a:ext>
            </a:extLst>
          </p:cNvPr>
          <p:cNvSpPr txBox="1"/>
          <p:nvPr/>
        </p:nvSpPr>
        <p:spPr>
          <a:xfrm>
            <a:off x="6065244" y="1987557"/>
            <a:ext cx="5721000" cy="1995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★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회귀 분석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회귀 분석이란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?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한 변수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종속변수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y)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다른 변수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독립변수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X)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로 설명하거나 예측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</a:b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★ 선형 회귀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(Linear Regression)</a:t>
            </a:r>
          </a:p>
          <a:p>
            <a:pPr marL="171450" marR="0" lvl="0" indent="-17145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선형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회귀란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?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회귀 분석의 한 종류로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y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가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x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의 선형결합으로 표현됨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OLS(Ordinary Least Squares) 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계수 추정 방법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오차 제곱합을 최소화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TextBox 36">
            <a:extLst>
              <a:ext uri="{FF2B5EF4-FFF2-40B4-BE49-F238E27FC236}">
                <a16:creationId xmlns:a16="http://schemas.microsoft.com/office/drawing/2014/main" id="{B9E0760C-43AB-4B31-BC9D-79947B9D0193}"/>
              </a:ext>
            </a:extLst>
          </p:cNvPr>
          <p:cNvSpPr txBox="1"/>
          <p:nvPr/>
        </p:nvSpPr>
        <p:spPr>
          <a:xfrm>
            <a:off x="6095999" y="4798614"/>
            <a:ext cx="5597847" cy="1441613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marR="0" lvl="0" indent="-17145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판매액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Item_Outlet_Sales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은 연속형 수치 데이터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  <a:b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</a:b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계산이 간단하고 해석이 직관적인 선형회귀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(Linear Regression)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사용하여</a:t>
            </a:r>
            <a:b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독립변수들로부터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판매액을 예측하고 모델 성능을 평가하기 위해 채택했다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9A68D65A-51DC-432F-A986-D4FC1016934B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5772150" y="4177513"/>
            <a:ext cx="323849" cy="1341908"/>
          </a:xfrm>
          <a:prstGeom prst="bentConnector3">
            <a:avLst/>
          </a:prstGeom>
          <a:ln w="19050">
            <a:solidFill>
              <a:schemeClr val="accent4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84E23B3-DA86-4885-966B-28FD1A11513F}"/>
              </a:ext>
            </a:extLst>
          </p:cNvPr>
          <p:cNvCxnSpPr>
            <a:cxnSpLocks/>
          </p:cNvCxnSpPr>
          <p:nvPr/>
        </p:nvCxnSpPr>
        <p:spPr>
          <a:xfrm>
            <a:off x="6095999" y="2313361"/>
            <a:ext cx="5597847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EFC9F22B-D66A-47F4-9E53-01D16C6E217F}"/>
              </a:ext>
            </a:extLst>
          </p:cNvPr>
          <p:cNvCxnSpPr>
            <a:cxnSpLocks/>
          </p:cNvCxnSpPr>
          <p:nvPr/>
        </p:nvCxnSpPr>
        <p:spPr>
          <a:xfrm>
            <a:off x="6095999" y="3388550"/>
            <a:ext cx="5597847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937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10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DE73F727-C7C6-4A45-B540-FA5D59F5C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1429670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en-US" altLang="ko-KR" sz="2800" dirty="0"/>
              <a:t>8. </a:t>
            </a:r>
            <a:r>
              <a:rPr lang="ko-KR" altLang="en-US" sz="2800" dirty="0"/>
              <a:t>그래프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8C9BE8A-CEB0-474D-BAFD-04852E331E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423" t="16544" r="37733" b="58539"/>
          <a:stretch/>
        </p:blipFill>
        <p:spPr>
          <a:xfrm>
            <a:off x="310427" y="2450734"/>
            <a:ext cx="5467351" cy="1708816"/>
          </a:xfrm>
          <a:prstGeom prst="rect">
            <a:avLst/>
          </a:prstGeom>
        </p:spPr>
      </p:pic>
      <p:sp>
        <p:nvSpPr>
          <p:cNvPr id="14" name="TextBox 36">
            <a:extLst>
              <a:ext uri="{FF2B5EF4-FFF2-40B4-BE49-F238E27FC236}">
                <a16:creationId xmlns:a16="http://schemas.microsoft.com/office/drawing/2014/main" id="{B11283C7-6B63-4A84-979C-FAE06DB79282}"/>
              </a:ext>
            </a:extLst>
          </p:cNvPr>
          <p:cNvSpPr txBox="1"/>
          <p:nvPr/>
        </p:nvSpPr>
        <p:spPr>
          <a:xfrm>
            <a:off x="320131" y="4738749"/>
            <a:ext cx="5457647" cy="1164614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marR="0" lvl="0" indent="-17145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회귀분석에서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독립변수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Item_Type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가 판매액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Item_Outlet_Sales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 어떤 </a:t>
            </a: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  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영향을</a:t>
            </a:r>
            <a:r>
              <a:rPr lang="en-US" altLang="ko-KR" sz="1200" b="1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주는지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이해하기 위한 탐색적 데이터 분석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(EDA)</a:t>
            </a:r>
            <a:b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</a:b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각 상품 종류별 평균 판매액을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시각화하여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회귀분석에서 독립변수</a:t>
            </a:r>
            <a:b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(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Item_Type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가 판매액에 미치는 영향을 직관적으로 이해할 수 있음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1F9ABF78-C959-40F0-AEAC-6B11F72933FF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 rot="16200000" flipH="1">
            <a:off x="2756930" y="4446723"/>
            <a:ext cx="579199" cy="4852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FBAC3107-7111-4941-AA16-63497D9AB3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423" t="41207" r="41021" b="8333"/>
          <a:stretch/>
        </p:blipFill>
        <p:spPr>
          <a:xfrm>
            <a:off x="6096000" y="2299616"/>
            <a:ext cx="5658250" cy="38646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49DA4AB-D0B5-4BBE-9DE0-27FBF7033412}"/>
              </a:ext>
            </a:extLst>
          </p:cNvPr>
          <p:cNvSpPr txBox="1"/>
          <p:nvPr/>
        </p:nvSpPr>
        <p:spPr>
          <a:xfrm>
            <a:off x="8524506" y="2332428"/>
            <a:ext cx="1178528" cy="15998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상품 종류별 평균 판매액</a:t>
            </a:r>
          </a:p>
        </p:txBody>
      </p:sp>
      <p:pic>
        <p:nvPicPr>
          <p:cNvPr id="15" name="그림 14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374C1D-BB64-4FC7-8B06-CC4847FE9C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31" y="236265"/>
            <a:ext cx="815249" cy="81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9031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EDF5F-EEC7-7330-11DA-82489AF6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B105F9C-5F0F-C98D-C444-7E79C05C12A2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254065CC-BAF2-2646-6DC9-CCA2AC58DAD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pic>
        <p:nvPicPr>
          <p:cNvPr id="9" name="그림 8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E723E-4DFB-CCF9-FB66-49713820E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8FCE66-B67E-3DCC-EDC0-BF93D04DBEEA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188F3796-C2DD-4B3B-A779-04A4DEF6B8AF}"/>
              </a:ext>
            </a:extLst>
          </p:cNvPr>
          <p:cNvSpPr txBox="1">
            <a:spLocks/>
          </p:cNvSpPr>
          <p:nvPr/>
        </p:nvSpPr>
        <p:spPr>
          <a:xfrm>
            <a:off x="9707134" y="5409213"/>
            <a:ext cx="2247122" cy="12615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심예진</a:t>
            </a:r>
            <a:endParaRPr lang="ko-KR" altLang="en-US" sz="1400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5548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3015</TotalTime>
  <Words>593</Words>
  <Application>Microsoft Office PowerPoint</Application>
  <PresentationFormat>와이드스크린</PresentationFormat>
  <Paragraphs>72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Calibri</vt:lpstr>
      <vt:lpstr>Office 테마</vt:lpstr>
      <vt:lpstr>PowerPoint 프레젠테이션</vt:lpstr>
      <vt:lpstr>INDEX 및 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7. Item_Type – Item_Outlet_Sales 값 간의 회귀분석(OLS) 확인(Summary와 값해석)</vt:lpstr>
      <vt:lpstr>8. 그래프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Cisco 문제 1번 2. Cisco 문제 2번 3. Jdk설치 + 설정 4. Tomcat 설치 + 설정 5. Eclipse 설치 + 설정</dc:title>
  <dc:creator>FullName</dc:creator>
  <cp:lastModifiedBy>FullName</cp:lastModifiedBy>
  <cp:revision>191</cp:revision>
  <dcterms:created xsi:type="dcterms:W3CDTF">2025-08-05T00:27:28Z</dcterms:created>
  <dcterms:modified xsi:type="dcterms:W3CDTF">2025-10-30T00:01:29Z</dcterms:modified>
</cp:coreProperties>
</file>