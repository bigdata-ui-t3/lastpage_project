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359" r:id="rId3"/>
    <p:sldId id="354" r:id="rId4"/>
    <p:sldId id="356" r:id="rId5"/>
    <p:sldId id="358" r:id="rId6"/>
    <p:sldId id="35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ullName" initials="F" lastIdx="2" clrIdx="0">
    <p:extLst>
      <p:ext uri="{19B8F6BF-5375-455C-9EA6-DF929625EA0E}">
        <p15:presenceInfo xmlns:p15="http://schemas.microsoft.com/office/powerpoint/2012/main" userId="FullNam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64FBC-A603-4149-BCAB-2D4F768B91F6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3FA8-2471-4FD8-B750-534028B4D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0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4400" dirty="0">
                <a:solidFill>
                  <a:schemeClr val="bg1"/>
                </a:solidFill>
              </a:rPr>
              <a:t>PJJPJPJP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00890" y="1665935"/>
            <a:ext cx="11256675" cy="47740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문제 정의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라이브러리 불러오기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------------------------------------------------------------------------------- </a:t>
            </a:r>
            <a:r>
              <a:rPr kumimoji="0" lang="ko-KR" alt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손보금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2p</a:t>
            </a:r>
          </a:p>
          <a:p>
            <a:pPr marL="457200" marR="0" lvl="0" indent="-4572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EDA -------------------------------------------------------------------------------------------------------------- </a:t>
            </a:r>
            <a:r>
              <a:rPr kumimoji="0" lang="ko-KR" alt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손보금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3p</a:t>
            </a:r>
          </a:p>
          <a:p>
            <a:pPr marL="457200" marR="0" lvl="0" indent="-4572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데이터 </a:t>
            </a:r>
            <a:r>
              <a:rPr kumimoji="0" lang="ko-KR" alt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전처리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+ OLS -------------------------------------------------------------------------------------------- </a:t>
            </a:r>
            <a:r>
              <a:rPr kumimoji="0" lang="ko-KR" alt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손보금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4p – 7p</a:t>
            </a:r>
          </a:p>
          <a:p>
            <a:pPr marL="457200" marR="0" lvl="0" indent="-4572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선형 회귀 모델 학습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교차검증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--------------------------------------------------------------------------------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박준형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8p</a:t>
            </a:r>
          </a:p>
          <a:p>
            <a:pPr marL="457200" marR="0" lvl="0" indent="-4572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학습 및 평가 지표 확인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(MSE, MAE, RMSE, R2) /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모델학습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평가지표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지표해석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 -----------------------------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박준형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9p–12p</a:t>
            </a:r>
          </a:p>
          <a:p>
            <a:pPr marL="457200" marR="0" lvl="0" indent="-4572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모델 파일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EXPORT ----------------------------------------------------------------------------------------------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심예진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13p</a:t>
            </a:r>
          </a:p>
          <a:p>
            <a:pPr marL="457200" marR="0" lvl="0" indent="-4572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STREAMLIT UI CODE -------------------------------------------------------------------------------------------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심예진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14p</a:t>
            </a:r>
          </a:p>
          <a:p>
            <a:pPr marL="457200" marR="0" lvl="0" indent="-4572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모델 파일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IMPORT ----------------------------------------------------------------------------------------------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심예진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15p</a:t>
            </a:r>
          </a:p>
          <a:p>
            <a:pPr marL="457200" marR="0" lvl="0" indent="-4572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서비스 동작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------------------------------------------------------------------------------------------------------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심예진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16p</a:t>
            </a:r>
          </a:p>
          <a:p>
            <a:pPr marL="457200" marR="0" lvl="0" indent="-4572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예측 및 분류 확인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-----------------------------------------------------------------------------------------------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심예진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17p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D45BFB45-03A2-4A8E-8F9A-A937A35309A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28351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/>
              <a:t>INDEX </a:t>
            </a:r>
            <a:r>
              <a:rPr lang="ko-KR" altLang="en-US" sz="2800" dirty="0"/>
              <a:t>및 </a:t>
            </a:r>
            <a:r>
              <a:rPr lang="en-US" altLang="ko-KR" sz="2800" dirty="0"/>
              <a:t>CONTENTS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11" name="그림 10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AEFCD7-B5BA-460C-B888-F395B6E1B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775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EEFA8-F15B-4EED-B3B7-92EB7F4B9965}"/>
              </a:ext>
            </a:extLst>
          </p:cNvPr>
          <p:cNvSpPr txBox="1"/>
          <p:nvPr/>
        </p:nvSpPr>
        <p:spPr>
          <a:xfrm>
            <a:off x="1567485" y="2292695"/>
            <a:ext cx="7815456" cy="227261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★ 이 프로젝트의 개발 동기와 주제 선정은 반려동물은 이제 가족이라는 시대적 흐름에서 시작되었습니다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책임감을 끝까지 다할 수 있도록 돕는 서비스가 필요하다고 느껴 이 프로젝트를 기획하게 되었고 동물의 생애를 한 권의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'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책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'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비유했습니다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r>
              <a:rPr lang="en-US" altLang="ko-KR" sz="1200" noProof="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그리고 그 책의 가장 마지막 장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인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 Page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 이별의 순간을 말합니다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저희는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＇Last Page＇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 슬프지만 아름다운 추억으로 마무리될 수 있도록 돕고 싶었습니다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장례라는 행정적 책임부터 심리적 케어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그리고 영속적인 추억까지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반려동물의 마지막 생애 주기를 완벽하게 완성하는 통합 플랫폼을 구축하는 것을 목표로 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EB6F0D35-71B4-4C23-A4F5-DE9CDF6BAA6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28351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개발 동기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/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주제 선정</a:t>
            </a:r>
          </a:p>
        </p:txBody>
      </p:sp>
      <p:pic>
        <p:nvPicPr>
          <p:cNvPr id="11" name="그림 10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7F7C4E-ACB5-4401-A0BE-383211B8F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446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28351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개발 일정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F681812-BD66-44D2-A875-0A7836826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262900"/>
              </p:ext>
            </p:extLst>
          </p:nvPr>
        </p:nvGraphicFramePr>
        <p:xfrm>
          <a:off x="312512" y="1908393"/>
          <a:ext cx="5078528" cy="363673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603630">
                  <a:extLst>
                    <a:ext uri="{9D8B030D-6E8A-4147-A177-3AD203B41FA5}">
                      <a16:colId xmlns:a16="http://schemas.microsoft.com/office/drawing/2014/main" val="569646595"/>
                    </a:ext>
                  </a:extLst>
                </a:gridCol>
                <a:gridCol w="1207256">
                  <a:extLst>
                    <a:ext uri="{9D8B030D-6E8A-4147-A177-3AD203B41FA5}">
                      <a16:colId xmlns:a16="http://schemas.microsoft.com/office/drawing/2014/main" val="3150459634"/>
                    </a:ext>
                  </a:extLst>
                </a:gridCol>
                <a:gridCol w="3267642">
                  <a:extLst>
                    <a:ext uri="{9D8B030D-6E8A-4147-A177-3AD203B41FA5}">
                      <a16:colId xmlns:a16="http://schemas.microsoft.com/office/drawing/2014/main" val="3837662592"/>
                    </a:ext>
                  </a:extLst>
                </a:gridCol>
              </a:tblGrid>
              <a:tr h="1269638">
                <a:tc>
                  <a:txBody>
                    <a:bodyPr/>
                    <a:lstStyle/>
                    <a:p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주차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프로젝트 기획 및 환경 구축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프로젝트 계획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디자인 구상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기술 스택 논의</a:t>
                      </a:r>
                      <a:endParaRPr lang="en-US" altLang="ko-KR" sz="105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GitHub/Notion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구축 및 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Branch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전략 설정</a:t>
                      </a:r>
                      <a:endParaRPr lang="en-US" altLang="ko-KR" sz="105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팀원 별 담당 페이지 지정 및 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Layout(HTML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구조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구현 시작</a:t>
                      </a:r>
                      <a:endParaRPr lang="en-US" altLang="ko-KR" sz="1050" b="0" dirty="0">
                        <a:solidFill>
                          <a:schemeClr val="bg1"/>
                        </a:solidFill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109095656"/>
                  </a:ext>
                </a:extLst>
              </a:tr>
              <a:tr h="696020">
                <a:tc>
                  <a:txBody>
                    <a:bodyPr/>
                    <a:lstStyle/>
                    <a:p>
                      <a:r>
                        <a:rPr lang="en-US" altLang="ko-KR" sz="1050" b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1050" b="0">
                          <a:solidFill>
                            <a:schemeClr val="bg1"/>
                          </a:solidFill>
                        </a:rPr>
                        <a:t>주차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bg1"/>
                          </a:solidFill>
                        </a:rPr>
                        <a:t>Core Layout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완성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팀원 별 담당 페이지 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Layout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 완성</a:t>
                      </a:r>
                      <a:endParaRPr lang="en-US" altLang="ko-KR" sz="105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메인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회원가입 등 기본 페이지 구조 우선 구축</a:t>
                      </a:r>
                      <a:endParaRPr lang="en-US" altLang="ko-KR" sz="1050" b="0" dirty="0">
                        <a:solidFill>
                          <a:schemeClr val="bg1"/>
                        </a:solidFill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396675097"/>
                  </a:ext>
                </a:extLst>
              </a:tr>
              <a:tr h="696020">
                <a:tc>
                  <a:txBody>
                    <a:bodyPr/>
                    <a:lstStyle/>
                    <a:p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주차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bg1"/>
                          </a:solidFill>
                        </a:rPr>
                        <a:t>Design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착수 및 </a:t>
                      </a:r>
                      <a:r>
                        <a:rPr lang="en-US" sz="1050" b="0" dirty="0">
                          <a:solidFill>
                            <a:schemeClr val="bg1"/>
                          </a:solidFill>
                        </a:rPr>
                        <a:t>Styling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주요 서비스 페이지 디자인 및 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Styling(CSS)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 착수</a:t>
                      </a:r>
                      <a:endParaRPr lang="en-US" altLang="ko-KR" sz="105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Layout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과 디자인의 완성도 높이기</a:t>
                      </a:r>
                      <a:endParaRPr lang="en-US" altLang="ko-KR" sz="1050" b="0" dirty="0">
                        <a:solidFill>
                          <a:schemeClr val="bg1"/>
                        </a:solidFill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728778869"/>
                  </a:ext>
                </a:extLst>
              </a:tr>
              <a:tr h="975052">
                <a:tc>
                  <a:txBody>
                    <a:bodyPr/>
                    <a:lstStyle/>
                    <a:p>
                      <a:r>
                        <a:rPr lang="en-US" altLang="ko-KR" sz="1050" b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1050" b="0">
                          <a:solidFill>
                            <a:schemeClr val="bg1"/>
                          </a:solidFill>
                        </a:rPr>
                        <a:t>주차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ko-KR" altLang="en-US" sz="1050" b="0" dirty="0" err="1">
                          <a:solidFill>
                            <a:schemeClr val="bg1"/>
                          </a:solidFill>
                        </a:rPr>
                        <a:t>프론트엔드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차 통합 완료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Design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및 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Styling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최종 완성</a:t>
                      </a:r>
                      <a:endParaRPr lang="en-US" altLang="ko-KR" sz="105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Front-end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파일 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Dev Branch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에 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차 통합 및 최종 디자인 검토</a:t>
                      </a:r>
                      <a:endParaRPr lang="en-US" altLang="ko-KR" sz="1050" b="0" dirty="0">
                        <a:solidFill>
                          <a:schemeClr val="bg1"/>
                        </a:solidFill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185092262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6D0F253-9B8B-453C-81E2-3E14FB647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81007"/>
              </p:ext>
            </p:extLst>
          </p:nvPr>
        </p:nvGraphicFramePr>
        <p:xfrm>
          <a:off x="5587068" y="1908393"/>
          <a:ext cx="6402054" cy="447061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92764">
                  <a:extLst>
                    <a:ext uri="{9D8B030D-6E8A-4147-A177-3AD203B41FA5}">
                      <a16:colId xmlns:a16="http://schemas.microsoft.com/office/drawing/2014/main" val="62630620"/>
                    </a:ext>
                  </a:extLst>
                </a:gridCol>
                <a:gridCol w="1328532">
                  <a:extLst>
                    <a:ext uri="{9D8B030D-6E8A-4147-A177-3AD203B41FA5}">
                      <a16:colId xmlns:a16="http://schemas.microsoft.com/office/drawing/2014/main" val="3422457261"/>
                    </a:ext>
                  </a:extLst>
                </a:gridCol>
                <a:gridCol w="4480758">
                  <a:extLst>
                    <a:ext uri="{9D8B030D-6E8A-4147-A177-3AD203B41FA5}">
                      <a16:colId xmlns:a16="http://schemas.microsoft.com/office/drawing/2014/main" val="2277403672"/>
                    </a:ext>
                  </a:extLst>
                </a:gridCol>
              </a:tblGrid>
              <a:tr h="760413">
                <a:tc>
                  <a:txBody>
                    <a:bodyPr/>
                    <a:lstStyle/>
                    <a:p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5~6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주차</a:t>
                      </a: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Backend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전환 및 환경 설정</a:t>
                      </a: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Front-end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코드를 </a:t>
                      </a:r>
                      <a:r>
                        <a:rPr lang="en-US" altLang="ko-KR" sz="1000" b="0" dirty="0" err="1">
                          <a:solidFill>
                            <a:schemeClr val="bg1"/>
                          </a:solidFill>
                        </a:rPr>
                        <a:t>Springboot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환경에 맞게 전환 배치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JPA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등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DB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연동을 위한 학습 및 환경 설정 집중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Login, DB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연결 등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Backend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기본 개념 복습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/>
                </a:tc>
                <a:extLst>
                  <a:ext uri="{0D108BD9-81ED-4DB2-BD59-A6C34878D82A}">
                    <a16:rowId xmlns:a16="http://schemas.microsoft.com/office/drawing/2014/main" val="4290137116"/>
                  </a:ext>
                </a:extLst>
              </a:tr>
              <a:tr h="440134">
                <a:tc>
                  <a:txBody>
                    <a:bodyPr/>
                    <a:lstStyle/>
                    <a:p>
                      <a:r>
                        <a:rPr lang="en-US" altLang="ko-KR" sz="1000" b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1000" b="0">
                          <a:solidFill>
                            <a:schemeClr val="bg1"/>
                          </a:solidFill>
                        </a:rPr>
                        <a:t>주차</a:t>
                      </a: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Backend CRUD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착수</a:t>
                      </a: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 err="1">
                          <a:solidFill>
                            <a:schemeClr val="bg1"/>
                          </a:solidFill>
                        </a:rPr>
                        <a:t>Springboot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기반의 로그인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예약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00" b="0" dirty="0" err="1">
                          <a:solidFill>
                            <a:schemeClr val="bg1"/>
                          </a:solidFill>
                        </a:rPr>
                        <a:t>굿즈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페이지 등 개인별 최소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개 기능을 구현 목표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/>
                </a:tc>
                <a:extLst>
                  <a:ext uri="{0D108BD9-81ED-4DB2-BD59-A6C34878D82A}">
                    <a16:rowId xmlns:a16="http://schemas.microsoft.com/office/drawing/2014/main" val="2344351533"/>
                  </a:ext>
                </a:extLst>
              </a:tr>
              <a:tr h="406897">
                <a:tc>
                  <a:txBody>
                    <a:bodyPr/>
                    <a:lstStyle/>
                    <a:p>
                      <a:r>
                        <a:rPr lang="en-US" altLang="ko-KR" sz="1000" b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1000" b="0">
                          <a:solidFill>
                            <a:schemeClr val="bg1"/>
                          </a:solidFill>
                        </a:rPr>
                        <a:t>주차</a:t>
                      </a: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b="0">
                          <a:solidFill>
                            <a:schemeClr val="bg1"/>
                          </a:solidFill>
                        </a:rPr>
                        <a:t>회원 관리 </a:t>
                      </a:r>
                      <a:r>
                        <a:rPr lang="en-US" altLang="ko-KR" sz="1000" b="0">
                          <a:solidFill>
                            <a:schemeClr val="bg1"/>
                          </a:solidFill>
                        </a:rPr>
                        <a:t>CRUD </a:t>
                      </a:r>
                      <a:r>
                        <a:rPr lang="ko-KR" altLang="en-US" sz="1000" b="0">
                          <a:solidFill>
                            <a:schemeClr val="bg1"/>
                          </a:solidFill>
                        </a:rPr>
                        <a:t>구현</a:t>
                      </a: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회원가입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로그인 등 회원 관련 기능의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CRUD(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생성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조회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수정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삭제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)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구현 시작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/>
                </a:tc>
                <a:extLst>
                  <a:ext uri="{0D108BD9-81ED-4DB2-BD59-A6C34878D82A}">
                    <a16:rowId xmlns:a16="http://schemas.microsoft.com/office/drawing/2014/main" val="1678496933"/>
                  </a:ext>
                </a:extLst>
              </a:tr>
              <a:tr h="715793">
                <a:tc>
                  <a:txBody>
                    <a:bodyPr/>
                    <a:lstStyle/>
                    <a:p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주차</a:t>
                      </a: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예약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CRUD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구현 및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Backend MVC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정립</a:t>
                      </a: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예약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심리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장례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sz="1000" b="0" dirty="0" err="1">
                          <a:solidFill>
                            <a:schemeClr val="bg1"/>
                          </a:solidFill>
                        </a:rPr>
                        <a:t>굿즈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)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관련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CRUD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구현 완성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 err="1">
                          <a:solidFill>
                            <a:schemeClr val="bg1"/>
                          </a:solidFill>
                        </a:rPr>
                        <a:t>Springboot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의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MVC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패턴으로 </a:t>
                      </a:r>
                      <a:r>
                        <a:rPr lang="ko-KR" altLang="en-US" sz="1000" b="0" dirty="0" err="1">
                          <a:solidFill>
                            <a:schemeClr val="bg1"/>
                          </a:solidFill>
                        </a:rPr>
                        <a:t>백엔드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코드 체계화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/>
                </a:tc>
                <a:extLst>
                  <a:ext uri="{0D108BD9-81ED-4DB2-BD59-A6C34878D82A}">
                    <a16:rowId xmlns:a16="http://schemas.microsoft.com/office/drawing/2014/main" val="1664457287"/>
                  </a:ext>
                </a:extLst>
              </a:tr>
              <a:tr h="715793">
                <a:tc>
                  <a:txBody>
                    <a:bodyPr/>
                    <a:lstStyle/>
                    <a:p>
                      <a:r>
                        <a:rPr lang="en-US" altLang="ko-KR" sz="1000" b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1000" b="0">
                          <a:solidFill>
                            <a:schemeClr val="bg1"/>
                          </a:solidFill>
                        </a:rPr>
                        <a:t>주차</a:t>
                      </a: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b="0">
                          <a:solidFill>
                            <a:schemeClr val="bg1"/>
                          </a:solidFill>
                        </a:rPr>
                        <a:t>View </a:t>
                      </a:r>
                      <a:r>
                        <a:rPr lang="ko-KR" altLang="en-US" sz="1000" b="0">
                          <a:solidFill>
                            <a:schemeClr val="bg1"/>
                          </a:solidFill>
                        </a:rPr>
                        <a:t>연동 및 기능 최종 완성</a:t>
                      </a: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DB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에서 조회한 예약 정보를 </a:t>
                      </a:r>
                      <a:r>
                        <a:rPr lang="en-US" altLang="ko-KR" sz="1000" b="0" dirty="0" err="1">
                          <a:solidFill>
                            <a:schemeClr val="bg1"/>
                          </a:solidFill>
                        </a:rPr>
                        <a:t>MyPage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UI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에 출력하도록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View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연동 구현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모든 기능 구현을 완료하고 </a:t>
                      </a:r>
                      <a:r>
                        <a:rPr lang="ko-KR" altLang="en-US" sz="1000" b="0" dirty="0" err="1">
                          <a:solidFill>
                            <a:schemeClr val="bg1"/>
                          </a:solidFill>
                        </a:rPr>
                        <a:t>브랜치에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올려 최종 합본 준비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/>
                </a:tc>
                <a:extLst>
                  <a:ext uri="{0D108BD9-81ED-4DB2-BD59-A6C34878D82A}">
                    <a16:rowId xmlns:a16="http://schemas.microsoft.com/office/drawing/2014/main" val="1465389795"/>
                  </a:ext>
                </a:extLst>
              </a:tr>
              <a:tr h="715793">
                <a:tc>
                  <a:txBody>
                    <a:bodyPr/>
                    <a:lstStyle/>
                    <a:p>
                      <a:r>
                        <a:rPr lang="en-US" altLang="ko-KR" sz="1000" b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1000" b="0">
                          <a:solidFill>
                            <a:schemeClr val="bg1"/>
                          </a:solidFill>
                        </a:rPr>
                        <a:t>주차</a:t>
                      </a: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b="0">
                          <a:solidFill>
                            <a:schemeClr val="bg1"/>
                          </a:solidFill>
                        </a:rPr>
                        <a:t>보조 기능 구현 및 코드 통합</a:t>
                      </a: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커뮤니티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이용 후기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게시판 기능 및 </a:t>
                      </a:r>
                      <a:r>
                        <a:rPr lang="ko-KR" altLang="en-US" sz="1000" b="0" dirty="0" err="1">
                          <a:solidFill>
                            <a:schemeClr val="bg1"/>
                          </a:solidFill>
                        </a:rPr>
                        <a:t>메모리얼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000" b="0" dirty="0" err="1">
                          <a:solidFill>
                            <a:schemeClr val="bg1"/>
                          </a:solidFill>
                        </a:rPr>
                        <a:t>굿즈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페이지 최종 기능 구현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Front-end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와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Backend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통합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Merge</a:t>
                      </a:r>
                    </a:p>
                  </a:txBody>
                  <a:tcPr marL="43513" marR="43513" marT="21757" marB="21757" anchor="ctr"/>
                </a:tc>
                <a:extLst>
                  <a:ext uri="{0D108BD9-81ED-4DB2-BD59-A6C34878D82A}">
                    <a16:rowId xmlns:a16="http://schemas.microsoft.com/office/drawing/2014/main" val="3531091375"/>
                  </a:ext>
                </a:extLst>
              </a:tr>
              <a:tr h="715793">
                <a:tc>
                  <a:txBody>
                    <a:bodyPr/>
                    <a:lstStyle/>
                    <a:p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주차</a:t>
                      </a: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b="0">
                          <a:solidFill>
                            <a:schemeClr val="bg1"/>
                          </a:solidFill>
                        </a:rPr>
                        <a:t>통합 테스트 및 버그 수정</a:t>
                      </a: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Front-end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와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Backend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기능 연동 테스트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버그 수정 및 완성도 높이기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/>
                </a:tc>
                <a:extLst>
                  <a:ext uri="{0D108BD9-81ED-4DB2-BD59-A6C34878D82A}">
                    <a16:rowId xmlns:a16="http://schemas.microsoft.com/office/drawing/2014/main" val="117071323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A521DAE-21CD-403E-A157-232B5CC15639}"/>
              </a:ext>
            </a:extLst>
          </p:cNvPr>
          <p:cNvSpPr txBox="1"/>
          <p:nvPr/>
        </p:nvSpPr>
        <p:spPr>
          <a:xfrm>
            <a:off x="297442" y="1519072"/>
            <a:ext cx="3221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★ </a:t>
            </a:r>
            <a:r>
              <a:rPr lang="ko-KR" altLang="en-US" sz="1400" dirty="0" err="1">
                <a:solidFill>
                  <a:schemeClr val="bg1"/>
                </a:solidFill>
              </a:rPr>
              <a:t>프론트엔드</a:t>
            </a:r>
            <a:r>
              <a:rPr lang="ko-KR" altLang="en-US" sz="1400" dirty="0">
                <a:solidFill>
                  <a:schemeClr val="bg1"/>
                </a:solidFill>
              </a:rPr>
              <a:t> 집중 및 환경 구축 기간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7621A9-C99E-4327-A25C-BB402CB849BC}"/>
              </a:ext>
            </a:extLst>
          </p:cNvPr>
          <p:cNvSpPr txBox="1"/>
          <p:nvPr/>
        </p:nvSpPr>
        <p:spPr>
          <a:xfrm>
            <a:off x="5475213" y="1478688"/>
            <a:ext cx="2750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★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백엔드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전환 및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DB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연동 기간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28276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>
            <a:extLst>
              <a:ext uri="{FF2B5EF4-FFF2-40B4-BE49-F238E27FC236}">
                <a16:creationId xmlns:a16="http://schemas.microsoft.com/office/drawing/2014/main" id="{CFC9568F-8FFE-4464-953B-4625D7036672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1999" cy="129190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개발 일정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521DAE-21CD-403E-A157-232B5CC15639}"/>
              </a:ext>
            </a:extLst>
          </p:cNvPr>
          <p:cNvSpPr txBox="1"/>
          <p:nvPr/>
        </p:nvSpPr>
        <p:spPr>
          <a:xfrm>
            <a:off x="838199" y="2179706"/>
            <a:ext cx="3221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★ 최종 완성 기간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CE00B8B-944D-43FD-ACCF-6EE887720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194853"/>
              </p:ext>
            </p:extLst>
          </p:nvPr>
        </p:nvGraphicFramePr>
        <p:xfrm>
          <a:off x="838199" y="2865397"/>
          <a:ext cx="10515600" cy="29260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123115">
                  <a:extLst>
                    <a:ext uri="{9D8B030D-6E8A-4147-A177-3AD203B41FA5}">
                      <a16:colId xmlns:a16="http://schemas.microsoft.com/office/drawing/2014/main" val="190336083"/>
                    </a:ext>
                  </a:extLst>
                </a:gridCol>
                <a:gridCol w="3414319">
                  <a:extLst>
                    <a:ext uri="{9D8B030D-6E8A-4147-A177-3AD203B41FA5}">
                      <a16:colId xmlns:a16="http://schemas.microsoft.com/office/drawing/2014/main" val="1022201357"/>
                    </a:ext>
                  </a:extLst>
                </a:gridCol>
                <a:gridCol w="4978166">
                  <a:extLst>
                    <a:ext uri="{9D8B030D-6E8A-4147-A177-3AD203B41FA5}">
                      <a16:colId xmlns:a16="http://schemas.microsoft.com/office/drawing/2014/main" val="38574200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400" b="0">
                          <a:solidFill>
                            <a:schemeClr val="bg1"/>
                          </a:solidFill>
                        </a:rPr>
                        <a:t>13</a:t>
                      </a:r>
                      <a:r>
                        <a:rPr lang="ko-KR" altLang="en-US" sz="1400" b="0">
                          <a:solidFill>
                            <a:schemeClr val="bg1"/>
                          </a:solidFill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최종 기능 통합 및 테스트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Front-end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와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Backend 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기능 연동 테스트를 집중 진행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기능별 버그 수정 및 완성도 높이기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모든 기능이 유기적으로 작동하는지 확인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320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400" b="0">
                          <a:solidFill>
                            <a:schemeClr val="bg1"/>
                          </a:solidFill>
                        </a:rPr>
                        <a:t>14</a:t>
                      </a:r>
                      <a:r>
                        <a:rPr lang="ko-KR" altLang="en-US" sz="1400" b="0">
                          <a:solidFill>
                            <a:schemeClr val="bg1"/>
                          </a:solidFill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시스템 안정화 및 문서화 착수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코드 리뷰 및 최적화를 통한 시스템 안정화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프로젝트 최종 문서화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(Notion 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등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)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 작업 착수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825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400" b="0">
                          <a:solidFill>
                            <a:schemeClr val="bg1"/>
                          </a:solidFill>
                        </a:rPr>
                        <a:t>15</a:t>
                      </a:r>
                      <a:r>
                        <a:rPr lang="ko-KR" altLang="en-US" sz="1400" b="0">
                          <a:solidFill>
                            <a:schemeClr val="bg1"/>
                          </a:solidFill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최종 코드 병합 및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QA 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Front-end/Backend 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코드 최종 병합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(Merge)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 및 통합 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브랜치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 확정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최종 사용자 시나리오 기반의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QA(Quality Assurance)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 완료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4583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16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b="0">
                          <a:solidFill>
                            <a:schemeClr val="bg1"/>
                          </a:solidFill>
                        </a:rPr>
                        <a:t>프로젝트 최종 종료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최종 코드 정리 및 클린업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배포 환경에 맞는 최종 패키지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(Package) 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준비 및 프로젝트 최종 종료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5543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565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팀원 소개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EEFA8-F15B-4EED-B3B7-92EB7F4B9965}"/>
              </a:ext>
            </a:extLst>
          </p:cNvPr>
          <p:cNvSpPr txBox="1"/>
          <p:nvPr/>
        </p:nvSpPr>
        <p:spPr>
          <a:xfrm>
            <a:off x="2242945" y="1734488"/>
            <a:ext cx="7423794" cy="333617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★ 문제 정의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주어진 제품 및 매장 특성들을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(X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값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컬럼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기반으로 판매 금액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Item_Outlet_Sales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을 예측하기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652D2F-066B-4912-AB96-CE2F053A1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679" y="2348711"/>
            <a:ext cx="6992326" cy="173379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1DE1DC8-F300-40C4-A57B-529FFFBD4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8679" y="4350605"/>
            <a:ext cx="6992326" cy="2039004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92D139E-42F9-46B5-9DAF-F333D31B940B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5954842" y="4082503"/>
            <a:ext cx="0" cy="268102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856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3664</TotalTime>
  <Words>651</Words>
  <Application>Microsoft Office PowerPoint</Application>
  <PresentationFormat>와이드스크린</PresentationFormat>
  <Paragraphs>96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252</cp:revision>
  <dcterms:created xsi:type="dcterms:W3CDTF">2025-08-05T00:27:28Z</dcterms:created>
  <dcterms:modified xsi:type="dcterms:W3CDTF">2025-11-27T08:11:29Z</dcterms:modified>
</cp:coreProperties>
</file>