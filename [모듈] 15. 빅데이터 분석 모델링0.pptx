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8" r:id="rId2"/>
    <p:sldId id="257" r:id="rId3"/>
    <p:sldId id="354" r:id="rId4"/>
    <p:sldId id="355" r:id="rId5"/>
    <p:sldId id="356" r:id="rId6"/>
    <p:sldId id="357" r:id="rId7"/>
    <p:sldId id="359" r:id="rId8"/>
    <p:sldId id="360" r:id="rId9"/>
    <p:sldId id="345" r:id="rId10"/>
    <p:sldId id="346" r:id="rId11"/>
    <p:sldId id="347" r:id="rId12"/>
    <p:sldId id="348" r:id="rId13"/>
    <p:sldId id="352" r:id="rId14"/>
    <p:sldId id="350" r:id="rId15"/>
    <p:sldId id="349" r:id="rId16"/>
    <p:sldId id="351" r:id="rId17"/>
    <p:sldId id="353" r:id="rId18"/>
    <p:sldId id="286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64FBC-A603-4149-BCAB-2D4F768B91F6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F3FA8-2471-4FD8-B750-534028B4DD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30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빅데이터 분석 모델링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altLang="ko-KR" sz="2800" dirty="0"/>
              <a:t>INDEX </a:t>
            </a:r>
            <a:r>
              <a:rPr lang="ko-KR" altLang="en-US" sz="2800" dirty="0"/>
              <a:t>및 </a:t>
            </a:r>
            <a:r>
              <a:rPr lang="en-US" altLang="ko-KR" sz="2800" dirty="0"/>
              <a:t>CONTENTS</a:t>
            </a:r>
            <a:endParaRPr lang="ko-KR" altLang="en-US" sz="2800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67662" y="2898474"/>
            <a:ext cx="11256675" cy="23294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컬럼 정보 확인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+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인사이트 도출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문제 정의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)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2p – 4p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데이터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전처리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+ train/</a:t>
            </a:r>
            <a:r>
              <a:rPr lang="en-US" altLang="ko-KR" sz="1500" b="1" dirty="0" err="1">
                <a:solidFill>
                  <a:schemeClr val="bg1"/>
                </a:solidFill>
                <a:latin typeface="+mj-lt"/>
              </a:rPr>
              <a:t>val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분리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(8:2)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5p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–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6p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선형 회귀 모델 학습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+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교차검증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박준형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7p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학습 및 평가지표 확인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박준형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8p – 11p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성능 개선 방안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-------------------------------------------------------------------------------------------------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12p –16p</a:t>
            </a: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컬럼 정보 확인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인사이트 도출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문제 정의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18B9549-A8AA-41D7-867D-993A612D53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12" t="29111" r="42313" b="43444"/>
          <a:stretch/>
        </p:blipFill>
        <p:spPr>
          <a:xfrm>
            <a:off x="504816" y="1904504"/>
            <a:ext cx="5315303" cy="2138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53EEFA8-F15B-4EED-B3B7-92EB7F4B9965}"/>
              </a:ext>
            </a:extLst>
          </p:cNvPr>
          <p:cNvSpPr txBox="1"/>
          <p:nvPr/>
        </p:nvSpPr>
        <p:spPr>
          <a:xfrm>
            <a:off x="504816" y="4266074"/>
            <a:ext cx="6850593" cy="227261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★ 문제 정의 및 인사이트 도출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상품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(Item)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과 매장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(Outlet)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특성을 바탕으로 매출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Item_Outlet_Sales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을 예측하는 회귀 문제이다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해석 인사이트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Item_MRP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상품 가격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는 매출과 직접적인 상관이 있을 가능성이 높다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Outlet_Type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/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Outlet_Location_Type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등 매장 특성은 매출 규모에 유의미한 영향을 줄 수 있다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Item_Weight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및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Outlet_Size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는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존재 → 적절한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처리 필요</a:t>
            </a:r>
          </a:p>
        </p:txBody>
      </p:sp>
    </p:spTree>
    <p:extLst>
      <p:ext uri="{BB962C8B-B14F-4D97-AF65-F5344CB8AC3E}">
        <p14:creationId xmlns:p14="http://schemas.microsoft.com/office/powerpoint/2010/main" val="1181446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컬럼 정보 확인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인사이트 도출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문제 정의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57FC33-07C2-4A0B-8B9F-5E3A18F704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625" t="57644" r="57938" b="18778"/>
          <a:stretch/>
        </p:blipFill>
        <p:spPr>
          <a:xfrm>
            <a:off x="3158808" y="4193272"/>
            <a:ext cx="2735580" cy="161698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94EE935-C037-4807-8EEE-0B223D63CF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625" t="23000" r="57938" b="42800"/>
          <a:stretch/>
        </p:blipFill>
        <p:spPr>
          <a:xfrm>
            <a:off x="273584" y="4193272"/>
            <a:ext cx="2735580" cy="234541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4D39685-3CF9-4336-A05C-D917104EA0D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313" t="17444" r="34577" b="50000"/>
          <a:stretch/>
        </p:blipFill>
        <p:spPr>
          <a:xfrm>
            <a:off x="273584" y="1767549"/>
            <a:ext cx="5621605" cy="22326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85CC1E8-373F-471B-A64D-3A67DD4FE0FA}"/>
              </a:ext>
            </a:extLst>
          </p:cNvPr>
          <p:cNvSpPr txBox="1"/>
          <p:nvPr/>
        </p:nvSpPr>
        <p:spPr>
          <a:xfrm>
            <a:off x="6272530" y="3200939"/>
            <a:ext cx="5631222" cy="1441613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컬럼들의 타입을 확인한 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수치형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범주형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식별자 컬럼으로 구분함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범주형 데이터 비율이 높기 때문에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Label Encoding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필요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Item_Identifier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는 단순 식별자이므로 모델 학습 시 제거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Item_Weight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Outlet_Size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결측치가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확인되어 이후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전처리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단계에서 처리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EC69D112-AABD-4A04-B39B-6DB2F6F24058}"/>
              </a:ext>
            </a:extLst>
          </p:cNvPr>
          <p:cNvCxnSpPr>
            <a:cxnSpLocks/>
            <a:stCxn id="5" idx="3"/>
            <a:endCxn id="15" idx="1"/>
          </p:cNvCxnSpPr>
          <p:nvPr/>
        </p:nvCxnSpPr>
        <p:spPr>
          <a:xfrm flipV="1">
            <a:off x="5894388" y="3921746"/>
            <a:ext cx="378142" cy="1080020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8397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컬럼 정보 확인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인사이트 도출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문제 정의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DD0FAC0-5207-4416-BEAA-EE9B4C65AD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375" t="34667" r="47500" b="37000"/>
          <a:stretch/>
        </p:blipFill>
        <p:spPr>
          <a:xfrm>
            <a:off x="277273" y="1681741"/>
            <a:ext cx="3986422" cy="191799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83DCB38-DAB3-447D-84D1-065F507B9B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375" t="27771" r="49375" b="30889"/>
          <a:stretch/>
        </p:blipFill>
        <p:spPr>
          <a:xfrm>
            <a:off x="277273" y="3732262"/>
            <a:ext cx="3986422" cy="29664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374690-359A-4A20-A837-7D66FDD95CF9}"/>
              </a:ext>
            </a:extLst>
          </p:cNvPr>
          <p:cNvSpPr txBox="1"/>
          <p:nvPr/>
        </p:nvSpPr>
        <p:spPr>
          <a:xfrm>
            <a:off x="4595056" y="3429000"/>
            <a:ext cx="7468313" cy="1164614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수치형 변수의 분포를 확인한 결과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상품 가격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Item_MRP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매출과 양의 상관관계를 보이는 경향이 나타남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Scatter Plot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에서도 가격이 높은 상품일수록 매출이 증가하는 패턴을 확인할 수 있다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변수는 모델에서 중요한 특징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(Feature)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으로 작용할 가능성이 높음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A6A6175D-D00E-4FBD-B909-987DBF39F49D}"/>
              </a:ext>
            </a:extLst>
          </p:cNvPr>
          <p:cNvCxnSpPr>
            <a:cxnSpLocks/>
            <a:stCxn id="12" idx="3"/>
            <a:endCxn id="2" idx="1"/>
          </p:cNvCxnSpPr>
          <p:nvPr/>
        </p:nvCxnSpPr>
        <p:spPr>
          <a:xfrm flipV="1">
            <a:off x="4263695" y="4011307"/>
            <a:ext cx="331361" cy="1204163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919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데이터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전처리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train/</a:t>
            </a:r>
            <a:r>
              <a:rPr kumimoji="0" lang="en-US" altLang="ko-K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val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분리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(8:2)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78099FA-D18F-47A4-BA92-B8D1A8B0FC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376" t="23778" r="41062" b="25555"/>
          <a:stretch/>
        </p:blipFill>
        <p:spPr>
          <a:xfrm>
            <a:off x="548640" y="2481695"/>
            <a:ext cx="4823460" cy="3474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695E13-900D-437E-ACBD-668DE3BEA655}"/>
              </a:ext>
            </a:extLst>
          </p:cNvPr>
          <p:cNvSpPr txBox="1"/>
          <p:nvPr/>
        </p:nvSpPr>
        <p:spPr>
          <a:xfrm>
            <a:off x="6370320" y="2665745"/>
            <a:ext cx="5363969" cy="3380605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1)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결측치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처리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Item_Weight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→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평균값 대체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Outlet_Size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→ </a:t>
            </a: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최빈값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대체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범주형 데이터 정규화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Item_Fat_Content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표기 통일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(Low Fat / Regular)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3) Label Encoding: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-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모든 범주형 데이터를 숫자형으로 변환하여 모델 입력 가능하도록 처리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4)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불필요한 식별자 제거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-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Item_Identifier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컬럼은 예측에 사용되지 않으므로 제거</a:t>
            </a: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D91326C0-AC7C-442D-B9E6-DFA673D39736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372100" y="4219055"/>
            <a:ext cx="998220" cy="136993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688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데이터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전처리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train/</a:t>
            </a:r>
            <a:r>
              <a:rPr kumimoji="0" lang="en-US" altLang="ko-KR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val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분리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(8:2)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3FE162-97F4-45E2-BD44-01FCE76556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375" t="28554" r="41687" b="44545"/>
          <a:stretch/>
        </p:blipFill>
        <p:spPr>
          <a:xfrm>
            <a:off x="468674" y="1904504"/>
            <a:ext cx="5420338" cy="204442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B73FF43-F8D2-4EDF-834D-CAE4D41022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187" t="27024" r="37375" b="8762"/>
          <a:stretch/>
        </p:blipFill>
        <p:spPr>
          <a:xfrm>
            <a:off x="6346889" y="2251182"/>
            <a:ext cx="4958617" cy="39418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B2E1D46-D861-417C-A70B-7D111419220A}"/>
              </a:ext>
            </a:extLst>
          </p:cNvPr>
          <p:cNvSpPr txBox="1"/>
          <p:nvPr/>
        </p:nvSpPr>
        <p:spPr>
          <a:xfrm>
            <a:off x="2500583" y="4314412"/>
            <a:ext cx="3388429" cy="313547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가격과 매장 운영 형태는 매출에 큰 영향을 준다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6108E3F-C2E9-4A7E-BC99-C7001E78E21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375" t="63889" r="68063" b="24556"/>
          <a:stretch/>
        </p:blipFill>
        <p:spPr>
          <a:xfrm>
            <a:off x="468674" y="4054668"/>
            <a:ext cx="1919629" cy="85683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F0AF1E6-5502-42DD-8433-BFB69AA519C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7562" t="29111" r="52188" b="52111"/>
          <a:stretch/>
        </p:blipFill>
        <p:spPr>
          <a:xfrm>
            <a:off x="468674" y="5250904"/>
            <a:ext cx="3688080" cy="128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129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3.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선형 회귀 모델 학습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+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교차검증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7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2C8B1D5-CB15-4666-B997-9E2D97FF72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375" t="28666" r="56875" b="20334"/>
          <a:stretch/>
        </p:blipFill>
        <p:spPr>
          <a:xfrm>
            <a:off x="843231" y="2493910"/>
            <a:ext cx="3139440" cy="349758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72F1C80-45A1-4A2C-9EE7-B668458A89D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500" t="42667" r="65688" b="28000"/>
          <a:stretch/>
        </p:blipFill>
        <p:spPr>
          <a:xfrm>
            <a:off x="4241156" y="3236860"/>
            <a:ext cx="2049780" cy="20116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510993-E0B9-4C3E-AB69-794691260C6B}"/>
              </a:ext>
            </a:extLst>
          </p:cNvPr>
          <p:cNvSpPr txBox="1"/>
          <p:nvPr/>
        </p:nvSpPr>
        <p:spPr>
          <a:xfrm>
            <a:off x="7212642" y="2275398"/>
            <a:ext cx="4243406" cy="3934603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모델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Linear Regression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데이터 분리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Train 80% / Validation 20%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교차검증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K-Fold (5-Fold)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교차검증 결과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R2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평균 ≈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0.50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대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모델이 약 절반 정도의 매출 변동성을 설명 가능함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기본 선형 모델로서 충분히 합리적인 성능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RMSE ≈ (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실제 값과 예측 값 간 오차의 평균 크기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R2 Score ≈ 0.50 ~ 0.60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수준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→ 모델은 매출을 완벽히 예측하진 못하지만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주요 변수들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Item_MRP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Outlet_Type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등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 매출에 미치는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영향을 의미 있게 설명할 수 있음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E891A57-F2A6-4558-AC45-A5B45D18E2AA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6290936" y="4242700"/>
            <a:ext cx="921706" cy="0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3E65B7D-8CE3-421B-9D88-01F0AC01EFAE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3982671" y="4242700"/>
            <a:ext cx="258485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9061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8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46E2D2-5252-49B6-B59F-BE2DFA151D2F}"/>
              </a:ext>
            </a:extLst>
          </p:cNvPr>
          <p:cNvSpPr txBox="1"/>
          <p:nvPr/>
        </p:nvSpPr>
        <p:spPr>
          <a:xfrm>
            <a:off x="557939" y="1865294"/>
            <a:ext cx="109558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MSE(Mean Squared Error : </a:t>
            </a:r>
            <a:r>
              <a:rPr lang="ko-KR" altLang="en-US" sz="1200" b="1" dirty="0" err="1">
                <a:solidFill>
                  <a:schemeClr val="bg1"/>
                </a:solidFill>
              </a:rPr>
              <a:t>평균제곱오차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</a:t>
            </a:r>
            <a:r>
              <a:rPr lang="ko-KR" altLang="en-US" sz="1200" dirty="0">
                <a:solidFill>
                  <a:schemeClr val="bg1"/>
                </a:solidFill>
              </a:rPr>
              <a:t> 오차를 제곱하므로 큰 오차에 더 민감하여 이상치에 대한 영향을 크게 받는 값이다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MSE</a:t>
            </a:r>
            <a:r>
              <a:rPr lang="ko-KR" altLang="en-US" sz="1200" dirty="0">
                <a:solidFill>
                  <a:schemeClr val="bg1"/>
                </a:solidFill>
              </a:rPr>
              <a:t>의 값이 작을수록 </a:t>
            </a:r>
            <a:r>
              <a:rPr lang="ko-KR" altLang="en-US" sz="1200" dirty="0" err="1">
                <a:solidFill>
                  <a:schemeClr val="bg1"/>
                </a:solidFill>
              </a:rPr>
              <a:t>실제값과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예측값의</a:t>
            </a:r>
            <a:r>
              <a:rPr lang="ko-KR" altLang="en-US" sz="1200" dirty="0">
                <a:solidFill>
                  <a:schemeClr val="bg1"/>
                </a:solidFill>
              </a:rPr>
              <a:t> 차이가 작다</a:t>
            </a:r>
            <a:r>
              <a:rPr lang="en-US" altLang="ko-KR" sz="1200" dirty="0">
                <a:solidFill>
                  <a:schemeClr val="bg1"/>
                </a:solidFill>
              </a:rPr>
              <a:t>. -&gt; </a:t>
            </a:r>
            <a:r>
              <a:rPr lang="ko-KR" altLang="en-US" sz="1200" dirty="0">
                <a:solidFill>
                  <a:schemeClr val="bg1"/>
                </a:solidFill>
              </a:rPr>
              <a:t>값이 작을수록 좋음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0 ~ </a:t>
            </a:r>
            <a:r>
              <a:rPr lang="ko-KR" altLang="en-US" sz="1200" dirty="0">
                <a:solidFill>
                  <a:schemeClr val="bg1"/>
                </a:solidFill>
              </a:rPr>
              <a:t>무한대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MAE(Mean Absolute Error : </a:t>
            </a:r>
            <a:r>
              <a:rPr lang="ko-KR" altLang="en-US" sz="1200" b="1" dirty="0">
                <a:solidFill>
                  <a:schemeClr val="bg1"/>
                </a:solidFill>
              </a:rPr>
              <a:t>평균절대오차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회귀 모델의 </a:t>
            </a:r>
            <a:r>
              <a:rPr lang="ko-KR" altLang="en-US" sz="1200" dirty="0" err="1">
                <a:solidFill>
                  <a:schemeClr val="bg1"/>
                </a:solidFill>
              </a:rPr>
              <a:t>예측값이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실제값과</a:t>
            </a:r>
            <a:r>
              <a:rPr lang="ko-KR" altLang="en-US" sz="1200" dirty="0">
                <a:solidFill>
                  <a:schemeClr val="bg1"/>
                </a:solidFill>
              </a:rPr>
              <a:t> 얼마나 차이가 나는지를 측정하는 가장 직관적인 오차 지표이다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모든 예측이 </a:t>
            </a:r>
            <a:r>
              <a:rPr lang="ko-KR" altLang="en-US" sz="1200" dirty="0" err="1">
                <a:solidFill>
                  <a:schemeClr val="bg1"/>
                </a:solidFill>
              </a:rPr>
              <a:t>실제값에서</a:t>
            </a:r>
            <a:r>
              <a:rPr lang="ko-KR" altLang="en-US" sz="1200" dirty="0">
                <a:solidFill>
                  <a:schemeClr val="bg1"/>
                </a:solidFill>
              </a:rPr>
              <a:t> 평균적으로 얼마나 벗어났는가를 절댓값 기준으로 계산한다</a:t>
            </a:r>
            <a:r>
              <a:rPr lang="en-US" altLang="ko-KR" sz="1200" dirty="0">
                <a:solidFill>
                  <a:schemeClr val="bg1"/>
                </a:solidFill>
              </a:rPr>
              <a:t>.!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제곱이 아닌 절댓값이므로 큰 오차에 대해 과도하게 </a:t>
            </a:r>
            <a:r>
              <a:rPr lang="ko-KR" altLang="en-US" sz="1200" dirty="0" err="1">
                <a:solidFill>
                  <a:schemeClr val="bg1"/>
                </a:solidFill>
              </a:rPr>
              <a:t>영향받지</a:t>
            </a:r>
            <a:r>
              <a:rPr lang="ko-KR" altLang="en-US" sz="1200" dirty="0">
                <a:solidFill>
                  <a:schemeClr val="bg1"/>
                </a:solidFill>
              </a:rPr>
              <a:t> 않는다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그래서 이상치가 포함된 데이터에서 안정적인 지표로 자주 사용된다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0 ~ </a:t>
            </a:r>
            <a:r>
              <a:rPr lang="ko-KR" altLang="en-US" sz="1200" dirty="0">
                <a:solidFill>
                  <a:schemeClr val="bg1"/>
                </a:solidFill>
              </a:rPr>
              <a:t>무한대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RMSE(Root Mean Squared Error : </a:t>
            </a:r>
            <a:r>
              <a:rPr lang="ko-KR" altLang="en-US" sz="1200" b="1" dirty="0" err="1">
                <a:solidFill>
                  <a:schemeClr val="bg1"/>
                </a:solidFill>
              </a:rPr>
              <a:t>평균제곱근오차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예측 오차를 제곱해 평균</a:t>
            </a:r>
            <a:r>
              <a:rPr lang="en-US" altLang="ko-KR" sz="1200" dirty="0">
                <a:solidFill>
                  <a:schemeClr val="bg1"/>
                </a:solidFill>
              </a:rPr>
              <a:t>(MSE)</a:t>
            </a:r>
            <a:r>
              <a:rPr lang="ko-KR" altLang="en-US" sz="1200" dirty="0">
                <a:solidFill>
                  <a:schemeClr val="bg1"/>
                </a:solidFill>
              </a:rPr>
              <a:t>을 낸 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다시 제곱근을 취한 값이다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타깃 변수와 같은 단위로 표현되는 </a:t>
            </a:r>
            <a:r>
              <a:rPr lang="en-US" altLang="ko-KR" sz="1200" dirty="0">
                <a:solidFill>
                  <a:schemeClr val="bg1"/>
                </a:solidFill>
              </a:rPr>
              <a:t>“</a:t>
            </a:r>
            <a:r>
              <a:rPr lang="ko-KR" altLang="en-US" sz="1200" dirty="0">
                <a:solidFill>
                  <a:schemeClr val="bg1"/>
                </a:solidFill>
              </a:rPr>
              <a:t>평균적인 오차 규모</a:t>
            </a:r>
            <a:r>
              <a:rPr lang="en-US" altLang="ko-KR" sz="1200" dirty="0">
                <a:solidFill>
                  <a:schemeClr val="bg1"/>
                </a:solidFill>
              </a:rPr>
              <a:t>＂</a:t>
            </a:r>
            <a:r>
              <a:rPr lang="ko-KR" altLang="en-US" sz="1200" dirty="0">
                <a:solidFill>
                  <a:schemeClr val="bg1"/>
                </a:solidFill>
              </a:rPr>
              <a:t>로 값이 작을수록 예측이 정확하다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제곱근을 취하므로 원 데이터와 동일한 단위라 해석이 직관적이다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제곱을 사용하므로 이상치가 클 수록 지표에 영향이 크다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오차 분포가 대략 정상분포일 때</a:t>
            </a:r>
            <a:r>
              <a:rPr lang="en-US" altLang="ko-KR" sz="1200" dirty="0">
                <a:solidFill>
                  <a:schemeClr val="bg1"/>
                </a:solidFill>
              </a:rPr>
              <a:t>, RMSE</a:t>
            </a:r>
            <a:r>
              <a:rPr lang="ko-KR" altLang="en-US" sz="1200" dirty="0">
                <a:solidFill>
                  <a:schemeClr val="bg1"/>
                </a:solidFill>
              </a:rPr>
              <a:t>는 오차의 전형적 크기를 잘 대표한다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0 ~ </a:t>
            </a:r>
            <a:r>
              <a:rPr lang="ko-KR" altLang="en-US" sz="1200" dirty="0">
                <a:solidFill>
                  <a:schemeClr val="bg1"/>
                </a:solidFill>
              </a:rPr>
              <a:t>무한대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. R2(Coefficient of Determination : </a:t>
            </a:r>
            <a:r>
              <a:rPr lang="ko-KR" altLang="en-US" sz="1200" b="1" dirty="0">
                <a:solidFill>
                  <a:schemeClr val="bg1"/>
                </a:solidFill>
              </a:rPr>
              <a:t>결정계수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모델이 실제 데이터를 얼마나 잘 설명하는지를 나타내는 계수로 </a:t>
            </a:r>
            <a:r>
              <a:rPr lang="en-US" altLang="ko-KR" sz="1200" dirty="0">
                <a:solidFill>
                  <a:schemeClr val="bg1"/>
                </a:solidFill>
              </a:rPr>
              <a:t>1</a:t>
            </a:r>
            <a:r>
              <a:rPr lang="ko-KR" altLang="en-US" sz="1200" dirty="0">
                <a:solidFill>
                  <a:schemeClr val="bg1"/>
                </a:solidFill>
              </a:rPr>
              <a:t>에 가까울 수록 완벽한 예측이라고 판단한다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변수를 추가할수록 자동으로 증가하기 때문에 주의해야한다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-</a:t>
            </a:r>
            <a:r>
              <a:rPr lang="ko-KR" altLang="en-US" sz="1200" dirty="0">
                <a:solidFill>
                  <a:schemeClr val="bg1"/>
                </a:solidFill>
              </a:rPr>
              <a:t>무한대 </a:t>
            </a:r>
            <a:r>
              <a:rPr lang="en-US" altLang="ko-KR" sz="1200" dirty="0">
                <a:solidFill>
                  <a:schemeClr val="bg1"/>
                </a:solidFill>
              </a:rPr>
              <a:t>~ 1</a:t>
            </a:r>
          </a:p>
        </p:txBody>
      </p:sp>
    </p:spTree>
    <p:extLst>
      <p:ext uri="{BB962C8B-B14F-4D97-AF65-F5344CB8AC3E}">
        <p14:creationId xmlns:p14="http://schemas.microsoft.com/office/powerpoint/2010/main" val="38846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 –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학습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9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4AFDAE1-0942-4923-80DE-D01A2A20C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59" y="2373410"/>
            <a:ext cx="4858427" cy="124794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95B618C-12F0-4E76-8347-0FE888FBC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60" y="4799992"/>
            <a:ext cx="4858428" cy="647790"/>
          </a:xfrm>
          <a:prstGeom prst="rect">
            <a:avLst/>
          </a:prstGeom>
        </p:spPr>
      </p:pic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DFEFC739-17BF-47BF-A615-A4209378A963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16200000" flipH="1">
            <a:off x="2967657" y="4210674"/>
            <a:ext cx="1178633" cy="1"/>
          </a:xfrm>
          <a:prstGeom prst="bentConnector3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F8B5B5-573B-48AA-8B28-25B66C243EC6}"/>
              </a:ext>
            </a:extLst>
          </p:cNvPr>
          <p:cNvSpPr txBox="1"/>
          <p:nvPr/>
        </p:nvSpPr>
        <p:spPr>
          <a:xfrm>
            <a:off x="6788261" y="2136353"/>
            <a:ext cx="4997983" cy="3472938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&lt;</a:t>
            </a:r>
            <a:r>
              <a:rPr lang="ko-KR" altLang="en-US" sz="1200" dirty="0">
                <a:solidFill>
                  <a:schemeClr val="bg1"/>
                </a:solidFill>
              </a:rPr>
              <a:t>선형회귀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LinearRegression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 사용하여 학습</a:t>
            </a:r>
            <a:r>
              <a:rPr lang="en-US" altLang="ko-KR" sz="1200" dirty="0">
                <a:solidFill>
                  <a:schemeClr val="bg1"/>
                </a:solidFill>
              </a:rPr>
              <a:t>&gt;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모델 학습을 위한 라이브러리를 불러옵니다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이름이 </a:t>
            </a:r>
            <a:r>
              <a:rPr lang="en-US" altLang="ko-KR" sz="1200" dirty="0" err="1">
                <a:solidFill>
                  <a:schemeClr val="bg1"/>
                </a:solidFill>
              </a:rPr>
              <a:t>lr</a:t>
            </a:r>
            <a:r>
              <a:rPr lang="ko-KR" altLang="en-US" sz="1200" dirty="0">
                <a:solidFill>
                  <a:schemeClr val="bg1"/>
                </a:solidFill>
              </a:rPr>
              <a:t>인 선형회귀 모델 인스턴스를 생성해줍니다</a:t>
            </a:r>
            <a:r>
              <a:rPr lang="en-US" altLang="ko-KR" sz="1200" dirty="0">
                <a:solidFill>
                  <a:schemeClr val="bg1"/>
                </a:solidFill>
              </a:rPr>
              <a:t>. ( </a:t>
            </a:r>
            <a:r>
              <a:rPr lang="ko-KR" altLang="en-US" sz="1200" dirty="0">
                <a:solidFill>
                  <a:schemeClr val="bg1"/>
                </a:solidFill>
              </a:rPr>
              <a:t>기본적으로 절편을 포함하고 정규화는 하지 않음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학습데이터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X_train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</a:rPr>
              <a:t>y_train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를 사용하여 모델학습을 진행합니다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ko-KR" altLang="en-US" sz="1200" dirty="0">
                <a:solidFill>
                  <a:schemeClr val="bg1"/>
                </a:solidFill>
              </a:rPr>
              <a:t>여기서 </a:t>
            </a:r>
            <a:r>
              <a:rPr lang="en-US" altLang="ko-KR" sz="1200" dirty="0" err="1">
                <a:solidFill>
                  <a:schemeClr val="bg1"/>
                </a:solidFill>
              </a:rPr>
              <a:t>X_train</a:t>
            </a:r>
            <a:r>
              <a:rPr lang="ko-KR" altLang="en-US" sz="1200" dirty="0">
                <a:solidFill>
                  <a:schemeClr val="bg1"/>
                </a:solidFill>
              </a:rPr>
              <a:t>은 독립변수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입력값</a:t>
            </a:r>
            <a:r>
              <a:rPr lang="en-US" altLang="ko-KR" sz="1200" dirty="0">
                <a:solidFill>
                  <a:schemeClr val="bg1"/>
                </a:solidFill>
              </a:rPr>
              <a:t>), </a:t>
            </a:r>
            <a:r>
              <a:rPr lang="en-US" altLang="ko-KR" sz="1200" dirty="0" err="1">
                <a:solidFill>
                  <a:schemeClr val="bg1"/>
                </a:solidFill>
              </a:rPr>
              <a:t>y_train</a:t>
            </a:r>
            <a:r>
              <a:rPr lang="ko-KR" altLang="en-US" sz="1200" dirty="0">
                <a:solidFill>
                  <a:schemeClr val="bg1"/>
                </a:solidFill>
              </a:rPr>
              <a:t>은 종속변수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정답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및 </a:t>
            </a:r>
            <a:r>
              <a:rPr lang="en-US" altLang="ko-KR" sz="1200" dirty="0">
                <a:solidFill>
                  <a:schemeClr val="bg1"/>
                </a:solidFill>
              </a:rPr>
              <a:t>target)</a:t>
            </a:r>
            <a:r>
              <a:rPr lang="ko-KR" altLang="en-US" sz="1200" dirty="0">
                <a:solidFill>
                  <a:schemeClr val="bg1"/>
                </a:solidFill>
              </a:rPr>
              <a:t>를 의미합니다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검증용 데이터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X_val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에 대해 학습된 모델로 예측을 수행합니다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 err="1">
                <a:solidFill>
                  <a:schemeClr val="bg1"/>
                </a:solidFill>
              </a:rPr>
              <a:t>X_val</a:t>
            </a:r>
            <a:r>
              <a:rPr lang="ko-KR" altLang="en-US" sz="1200" dirty="0">
                <a:solidFill>
                  <a:schemeClr val="bg1"/>
                </a:solidFill>
              </a:rPr>
              <a:t>는 정답을 모르는 테스트 데이터를 의미합니다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ko-KR" altLang="en-US" sz="1200" dirty="0">
                <a:solidFill>
                  <a:schemeClr val="bg1"/>
                </a:solidFill>
              </a:rPr>
              <a:t>결과로 각 샘플의 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y_pred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예측값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 반환합니다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y_pred</a:t>
            </a:r>
            <a:r>
              <a:rPr lang="ko-KR" altLang="en-US" sz="1200" dirty="0">
                <a:solidFill>
                  <a:schemeClr val="bg1"/>
                </a:solidFill>
              </a:rPr>
              <a:t>로 </a:t>
            </a:r>
            <a:r>
              <a:rPr lang="ko-KR" altLang="en-US" sz="1200" dirty="0" err="1">
                <a:solidFill>
                  <a:schemeClr val="bg1"/>
                </a:solidFill>
              </a:rPr>
              <a:t>예측값들을</a:t>
            </a:r>
            <a:r>
              <a:rPr lang="ko-KR" altLang="en-US" sz="1200" dirty="0">
                <a:solidFill>
                  <a:schemeClr val="bg1"/>
                </a:solidFill>
              </a:rPr>
              <a:t> 확인해 봅니다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ko-KR" altLang="en-US" sz="1200" dirty="0">
                <a:solidFill>
                  <a:schemeClr val="bg1"/>
                </a:solidFill>
              </a:rPr>
              <a:t>우리는 </a:t>
            </a:r>
            <a:r>
              <a:rPr lang="en-US" altLang="ko-KR" sz="1200" dirty="0">
                <a:solidFill>
                  <a:schemeClr val="bg1"/>
                </a:solidFill>
              </a:rPr>
              <a:t>'</a:t>
            </a:r>
            <a:r>
              <a:rPr lang="en-US" altLang="ko-KR" sz="1200" dirty="0" err="1">
                <a:solidFill>
                  <a:schemeClr val="bg1"/>
                </a:solidFill>
              </a:rPr>
              <a:t>Item_Outlet_Sales</a:t>
            </a:r>
            <a:r>
              <a:rPr lang="en-US" altLang="ko-KR" sz="1200" dirty="0">
                <a:solidFill>
                  <a:schemeClr val="bg1"/>
                </a:solidFill>
              </a:rPr>
              <a:t>’ </a:t>
            </a:r>
            <a:r>
              <a:rPr lang="ko-KR" altLang="en-US" sz="1200" dirty="0">
                <a:solidFill>
                  <a:schemeClr val="bg1"/>
                </a:solidFill>
              </a:rPr>
              <a:t>이 </a:t>
            </a:r>
            <a:r>
              <a:rPr lang="ko-KR" altLang="en-US" sz="1200" dirty="0" err="1">
                <a:solidFill>
                  <a:schemeClr val="bg1"/>
                </a:solidFill>
              </a:rPr>
              <a:t>타겟값입니다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5948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 –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 지표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10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BE0F0E-D3A2-4F8B-BA45-FF1726347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16" y="2223821"/>
            <a:ext cx="4058216" cy="36581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661DEE-CF4A-41CB-8760-2B4E35F2DF79}"/>
                  </a:ext>
                </a:extLst>
              </p:cNvPr>
              <p:cNvSpPr txBox="1"/>
              <p:nvPr/>
            </p:nvSpPr>
            <p:spPr>
              <a:xfrm>
                <a:off x="5611894" y="1688707"/>
                <a:ext cx="5522517" cy="5043112"/>
              </a:xfrm>
              <a:prstGeom prst="rect">
                <a:avLst/>
              </a:prstGeom>
              <a:noFill/>
              <a:ln>
                <a:solidFill>
                  <a:schemeClr val="accent4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ko-KR" altLang="en-US" sz="1200" dirty="0">
                    <a:solidFill>
                      <a:schemeClr val="bg1"/>
                    </a:solidFill>
                  </a:rPr>
                  <a:t>평가 지수 관련 함수를 불러옵니다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1. MSE(Mean Squared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 err="1">
                    <a:solidFill>
                      <a:schemeClr val="bg1"/>
                    </a:solidFill>
                  </a:rPr>
                  <a:t>실제값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y_val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과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예측값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y_pred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차이를 제곱하여 평균을 낸 값으로 오차가 클수록 제곱으로 인해 지표가 급격하게 커지는 이상치에 민감한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1,228,220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2. MAE(Mean Absolute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 err="1">
                    <a:solidFill>
                      <a:schemeClr val="bg1"/>
                    </a:solidFill>
                  </a:rPr>
                  <a:t>실제값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y_val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과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예측값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y_pred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차이의 절대값을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평균낸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 값으로 오차의 평균적인 크기를 직관적으로 확인할 수 있고 그만큼 이상치의 영향이 적은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MAE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858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3. RMSE(Root Mean Squared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en-US" altLang="ko-KR" sz="1200" dirty="0">
                    <a:solidFill>
                      <a:schemeClr val="bg1"/>
                    </a:solidFill>
                  </a:rPr>
                  <a:t>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에 제곱근을 취한 값으로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,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원래 데이터 단위로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환산가능합니다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>
                    <a:solidFill>
                      <a:schemeClr val="bg1"/>
                    </a:solidFill>
                  </a:rPr>
                  <a:t>큰 오차에 민감하고 오차의 전형적 크기를 보여주는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RMSE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1,121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4. R2(Coefficient of Determination,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결정계수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>
                    <a:solidFill>
                      <a:schemeClr val="bg1"/>
                    </a:solidFill>
                  </a:rPr>
                  <a:t>모델이 실제 데이터의 분산을 얼마나 잘 설명하는지 보여주는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en-US" altLang="ko-KR" sz="1200" dirty="0">
                    <a:solidFill>
                      <a:schemeClr val="bg1"/>
                    </a:solidFill>
                  </a:rPr>
                  <a:t>1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에 가까울수록 설명력이 높은 지표라고 볼 수 있습니다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R2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0.51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661DEE-CF4A-41CB-8760-2B4E35F2D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894" y="1688707"/>
                <a:ext cx="5522517" cy="5043112"/>
              </a:xfrm>
              <a:prstGeom prst="rect">
                <a:avLst/>
              </a:prstGeom>
              <a:blipFill>
                <a:blip r:embed="rId4"/>
                <a:stretch>
                  <a:fillRect l="-110" r="-220"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EF4A54A9-92BE-42FC-B375-B47AF655F9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9398" y="5998292"/>
            <a:ext cx="1857634" cy="733527"/>
          </a:xfrm>
          <a:prstGeom prst="rect">
            <a:avLst/>
          </a:prstGeom>
        </p:spPr>
      </p:pic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CA61E70D-3730-477F-A562-961D91853A96}"/>
              </a:ext>
            </a:extLst>
          </p:cNvPr>
          <p:cNvCxnSpPr>
            <a:cxnSpLocks/>
            <a:stCxn id="4" idx="2"/>
            <a:endCxn id="6" idx="1"/>
          </p:cNvCxnSpPr>
          <p:nvPr/>
        </p:nvCxnSpPr>
        <p:spPr>
          <a:xfrm rot="16200000" flipH="1">
            <a:off x="2632099" y="6037757"/>
            <a:ext cx="483124" cy="171474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860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 –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지표 해석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53A1665-8A3C-48B2-9A11-4A0862B51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82" y="5105925"/>
            <a:ext cx="2903290" cy="11464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5039BE-340B-416A-A500-8B8117E61741}"/>
              </a:ext>
            </a:extLst>
          </p:cNvPr>
          <p:cNvSpPr txBox="1"/>
          <p:nvPr/>
        </p:nvSpPr>
        <p:spPr>
          <a:xfrm>
            <a:off x="5640925" y="2223618"/>
            <a:ext cx="5522517" cy="3657604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&lt;</a:t>
            </a:r>
            <a:r>
              <a:rPr lang="ko-KR" altLang="en-US" sz="1200" b="1" dirty="0">
                <a:solidFill>
                  <a:schemeClr val="bg1"/>
                </a:solidFill>
              </a:rPr>
              <a:t>지표 해석</a:t>
            </a:r>
            <a:r>
              <a:rPr lang="en-US" altLang="ko-KR" sz="1200" b="1" dirty="0">
                <a:solidFill>
                  <a:schemeClr val="bg1"/>
                </a:solidFill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en-US" altLang="ko-KR" sz="1200" dirty="0" err="1">
                <a:solidFill>
                  <a:schemeClr val="bg1"/>
                </a:solidFill>
              </a:rPr>
              <a:t>Item_Outlet_Sales</a:t>
            </a:r>
            <a:r>
              <a:rPr lang="ko-KR" altLang="en-US" sz="1200" dirty="0">
                <a:solidFill>
                  <a:schemeClr val="bg1"/>
                </a:solidFill>
              </a:rPr>
              <a:t>의 평균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표준편차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최소값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최대값을 근거로 해석해봅니다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평균 매출이 약 </a:t>
            </a:r>
            <a:r>
              <a:rPr lang="en-US" altLang="ko-KR" sz="1200" dirty="0">
                <a:solidFill>
                  <a:schemeClr val="bg1"/>
                </a:solidFill>
              </a:rPr>
              <a:t>2,190, </a:t>
            </a:r>
            <a:r>
              <a:rPr lang="ko-KR" altLang="en-US" sz="1200" dirty="0">
                <a:solidFill>
                  <a:schemeClr val="bg1"/>
                </a:solidFill>
              </a:rPr>
              <a:t>표준편차가 </a:t>
            </a:r>
            <a:r>
              <a:rPr lang="en-US" altLang="ko-KR" sz="1200" dirty="0">
                <a:solidFill>
                  <a:schemeClr val="bg1"/>
                </a:solidFill>
              </a:rPr>
              <a:t>1,706 </a:t>
            </a:r>
            <a:r>
              <a:rPr lang="ko-KR" altLang="en-US" sz="1200" dirty="0">
                <a:solidFill>
                  <a:schemeClr val="bg1"/>
                </a:solidFill>
              </a:rPr>
              <a:t>정도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1. MAE = 858.96</a:t>
            </a:r>
            <a:r>
              <a:rPr lang="ko-KR" altLang="en-US" sz="1200" dirty="0">
                <a:solidFill>
                  <a:schemeClr val="bg1"/>
                </a:solidFill>
              </a:rPr>
              <a:t>으로 평균적으로 예측이 약 </a:t>
            </a:r>
            <a:r>
              <a:rPr lang="en-US" altLang="ko-KR" sz="1200" dirty="0">
                <a:solidFill>
                  <a:schemeClr val="bg1"/>
                </a:solidFill>
              </a:rPr>
              <a:t>859</a:t>
            </a:r>
            <a:r>
              <a:rPr lang="ko-KR" altLang="en-US" sz="1200" dirty="0">
                <a:solidFill>
                  <a:schemeClr val="bg1"/>
                </a:solidFill>
              </a:rPr>
              <a:t>정도 틀리고 전체 매출 평균에 비해 약 </a:t>
            </a:r>
            <a:r>
              <a:rPr lang="en-US" altLang="ko-KR" sz="1200" dirty="0">
                <a:solidFill>
                  <a:schemeClr val="bg1"/>
                </a:solidFill>
              </a:rPr>
              <a:t>39%</a:t>
            </a:r>
            <a:r>
              <a:rPr lang="ko-KR" altLang="en-US" sz="1200" dirty="0">
                <a:solidFill>
                  <a:schemeClr val="bg1"/>
                </a:solidFill>
              </a:rPr>
              <a:t>의 오차가 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2. RMSE = 1,121.70</a:t>
            </a:r>
            <a:r>
              <a:rPr lang="ko-KR" altLang="en-US" sz="1200" dirty="0">
                <a:solidFill>
                  <a:schemeClr val="bg1"/>
                </a:solidFill>
              </a:rPr>
              <a:t>으로 평균적으로 약 </a:t>
            </a:r>
            <a:r>
              <a:rPr lang="en-US" altLang="ko-KR" sz="1200" dirty="0">
                <a:solidFill>
                  <a:schemeClr val="bg1"/>
                </a:solidFill>
              </a:rPr>
              <a:t>1,121</a:t>
            </a:r>
            <a:r>
              <a:rPr lang="ko-KR" altLang="en-US" sz="1200" dirty="0">
                <a:solidFill>
                  <a:schemeClr val="bg1"/>
                </a:solidFill>
              </a:rPr>
              <a:t>정도의 예측 오차가 납니다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ko-KR" altLang="en-US" sz="1200" dirty="0">
                <a:solidFill>
                  <a:schemeClr val="bg1"/>
                </a:solidFill>
              </a:rPr>
              <a:t>표준편차보다 작으므로 나쁘지 않은 편이라고 볼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3. MSE = 1,228,220 </a:t>
            </a:r>
            <a:r>
              <a:rPr lang="ko-KR" altLang="en-US" sz="1200" dirty="0">
                <a:solidFill>
                  <a:schemeClr val="bg1"/>
                </a:solidFill>
              </a:rPr>
              <a:t>대충 </a:t>
            </a:r>
            <a:r>
              <a:rPr lang="en-US" altLang="ko-KR" sz="1200" dirty="0">
                <a:solidFill>
                  <a:schemeClr val="bg1"/>
                </a:solidFill>
              </a:rPr>
              <a:t>RMSE</a:t>
            </a:r>
            <a:r>
              <a:rPr lang="ko-KR" altLang="en-US" sz="1200" dirty="0">
                <a:solidFill>
                  <a:schemeClr val="bg1"/>
                </a:solidFill>
              </a:rPr>
              <a:t>와 비슷한 지표해석을 한다고 볼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4. R2 = 0,5153</a:t>
            </a:r>
            <a:r>
              <a:rPr lang="ko-KR" altLang="en-US" sz="1200" dirty="0">
                <a:solidFill>
                  <a:schemeClr val="bg1"/>
                </a:solidFill>
              </a:rPr>
              <a:t>으로 이 회귀모델이 매출 변동의 약 </a:t>
            </a:r>
            <a:r>
              <a:rPr lang="en-US" altLang="ko-KR" sz="1200" dirty="0">
                <a:solidFill>
                  <a:schemeClr val="bg1"/>
                </a:solidFill>
              </a:rPr>
              <a:t>51.5%</a:t>
            </a:r>
            <a:r>
              <a:rPr lang="ko-KR" altLang="en-US" sz="1200" dirty="0">
                <a:solidFill>
                  <a:schemeClr val="bg1"/>
                </a:solidFill>
              </a:rPr>
              <a:t>정도를 설명한다고 볼 수 있고 절반정도의 설명력을 갖기때문에 그냥 저냥 적당한 수준의 설명력이라고 볼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992C98-41E2-4E2A-B1E3-BF310E821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82" y="2356144"/>
            <a:ext cx="533474" cy="2553056"/>
          </a:xfrm>
          <a:prstGeom prst="rect">
            <a:avLst/>
          </a:prstGeom>
          <a:ln>
            <a:solidFill>
              <a:schemeClr val="accent4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3BA1BB9-39F9-4E12-BBE1-C211C7183A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9756" y="2356144"/>
            <a:ext cx="1181265" cy="2553056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5966181-BC86-4E9C-8B43-7860E907398A}"/>
              </a:ext>
            </a:extLst>
          </p:cNvPr>
          <p:cNvSpPr txBox="1"/>
          <p:nvPr/>
        </p:nvSpPr>
        <p:spPr>
          <a:xfrm>
            <a:off x="758815" y="1890001"/>
            <a:ext cx="2759300" cy="3537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300" b="1" dirty="0">
                <a:solidFill>
                  <a:schemeClr val="bg1"/>
                </a:solidFill>
              </a:rPr>
              <a:t>&lt;</a:t>
            </a:r>
            <a:r>
              <a:rPr lang="en-US" altLang="ko-KR" sz="1300" b="1" dirty="0" err="1">
                <a:solidFill>
                  <a:schemeClr val="bg1"/>
                </a:solidFill>
              </a:rPr>
              <a:t>Item_Outlet_Sales</a:t>
            </a:r>
            <a:r>
              <a:rPr lang="ko-KR" altLang="en-US" sz="1300" b="1" dirty="0">
                <a:solidFill>
                  <a:schemeClr val="bg1"/>
                </a:solidFill>
              </a:rPr>
              <a:t>의 </a:t>
            </a:r>
            <a:r>
              <a:rPr lang="en-US" altLang="ko-KR" sz="1300" b="1" dirty="0">
                <a:solidFill>
                  <a:schemeClr val="bg1"/>
                </a:solidFill>
              </a:rPr>
              <a:t>describe&gt;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4B9AF5A-61C7-43B9-A039-8AEF836220CE}"/>
              </a:ext>
            </a:extLst>
          </p:cNvPr>
          <p:cNvCxnSpPr>
            <a:cxnSpLocks/>
          </p:cNvCxnSpPr>
          <p:nvPr/>
        </p:nvCxnSpPr>
        <p:spPr>
          <a:xfrm>
            <a:off x="926282" y="2261278"/>
            <a:ext cx="248334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852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성능개선방안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20E497-DBB8-4DF0-B98A-86257023FBC7}"/>
              </a:ext>
            </a:extLst>
          </p:cNvPr>
          <p:cNvSpPr txBox="1"/>
          <p:nvPr/>
        </p:nvSpPr>
        <p:spPr>
          <a:xfrm>
            <a:off x="573482" y="1695707"/>
            <a:ext cx="10504826" cy="144161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&lt;</a:t>
            </a:r>
            <a:r>
              <a:rPr lang="ko-KR" altLang="en-US" sz="1200" b="1" dirty="0">
                <a:solidFill>
                  <a:schemeClr val="bg1"/>
                </a:solidFill>
              </a:rPr>
              <a:t>성능개선방안 </a:t>
            </a:r>
            <a:r>
              <a:rPr lang="en-US" altLang="ko-KR" sz="1200" b="1" dirty="0">
                <a:solidFill>
                  <a:schemeClr val="bg1"/>
                </a:solidFill>
              </a:rPr>
              <a:t>– </a:t>
            </a:r>
            <a:r>
              <a:rPr lang="en-US" altLang="ko-KR" sz="1200" b="1" dirty="0" err="1">
                <a:solidFill>
                  <a:schemeClr val="bg1"/>
                </a:solidFill>
              </a:rPr>
              <a:t>LightGBM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사용</a:t>
            </a:r>
            <a:r>
              <a:rPr lang="en-US" altLang="ko-KR" sz="1200" b="1" dirty="0">
                <a:solidFill>
                  <a:schemeClr val="bg1"/>
                </a:solidFill>
              </a:rPr>
              <a:t>&gt;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LightGBM</a:t>
            </a:r>
            <a:r>
              <a:rPr lang="ko-KR" altLang="en-US" sz="1200" dirty="0">
                <a:solidFill>
                  <a:schemeClr val="bg1"/>
                </a:solidFill>
              </a:rPr>
              <a:t>을 사용하면 수많은 비선형 모델을 조합하여 변수간 비선형 관계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상호작용까지 자동 학습이 가능합니다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스케일에 거의 영향 받지 않기때문에 입력 변수에 크기에 대한 민감도도 줄어들어 예측력이 높아질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1. </a:t>
            </a:r>
            <a:r>
              <a:rPr lang="ko-KR" altLang="en-US" sz="1200" b="1" dirty="0">
                <a:solidFill>
                  <a:schemeClr val="bg1"/>
                </a:solidFill>
              </a:rPr>
              <a:t>데이터 </a:t>
            </a:r>
            <a:r>
              <a:rPr lang="ko-KR" altLang="en-US" sz="1200" b="1" dirty="0" err="1">
                <a:solidFill>
                  <a:schemeClr val="bg1"/>
                </a:solidFill>
              </a:rPr>
              <a:t>전처리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endParaRPr lang="en-US" altLang="ko-KR" sz="1200" b="1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679BD9-7A3D-4BF9-9901-C62FA49F3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53" y="3246278"/>
            <a:ext cx="2207258" cy="6344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1D742B6-3558-45F8-950B-2827070D5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3650" y="3252015"/>
            <a:ext cx="3543795" cy="62873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221983B-0DAC-4A8E-8C55-F677A60AB6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2779" y="3229359"/>
            <a:ext cx="5142581" cy="130278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EA60441-6758-4A68-96AC-251B0C6682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137" y="5109377"/>
            <a:ext cx="5142581" cy="104767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6A1D890-A67C-423F-9526-766507048C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338" y="4527509"/>
            <a:ext cx="4448796" cy="1629002"/>
          </a:xfrm>
          <a:prstGeom prst="rect">
            <a:avLst/>
          </a:prstGeom>
        </p:spPr>
      </p:pic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B4DA9DB4-B3E5-448F-8A9B-7095A46A41F6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2631811" y="3563516"/>
            <a:ext cx="171839" cy="2868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5EE0C947-6555-43E1-BF56-EE9CC2FD42AB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6347445" y="3566384"/>
            <a:ext cx="185334" cy="314369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B0A4B2A2-34F7-4352-AF68-00125DDEBCDF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rot="16200000" flipH="1">
            <a:off x="8828134" y="4808082"/>
            <a:ext cx="577231" cy="25358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277D724C-35AE-48DD-A423-777C46698F21}"/>
              </a:ext>
            </a:extLst>
          </p:cNvPr>
          <p:cNvCxnSpPr>
            <a:cxnSpLocks/>
            <a:stCxn id="13" idx="1"/>
            <a:endCxn id="15" idx="3"/>
          </p:cNvCxnSpPr>
          <p:nvPr/>
        </p:nvCxnSpPr>
        <p:spPr>
          <a:xfrm rot="10800000">
            <a:off x="5247135" y="5342010"/>
            <a:ext cx="1311003" cy="291206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9AE2FB0-C6CD-447B-8DF0-2076CB0A4500}"/>
              </a:ext>
            </a:extLst>
          </p:cNvPr>
          <p:cNvCxnSpPr>
            <a:cxnSpLocks/>
          </p:cNvCxnSpPr>
          <p:nvPr/>
        </p:nvCxnSpPr>
        <p:spPr>
          <a:xfrm>
            <a:off x="424553" y="3137320"/>
            <a:ext cx="1125080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555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성능개선방안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D709F65-D9DB-4207-86EB-B68B2FB05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86" y="1636285"/>
            <a:ext cx="5690244" cy="304133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798D28D-1DE1-4D96-925E-A744BB56DC50}"/>
              </a:ext>
            </a:extLst>
          </p:cNvPr>
          <p:cNvSpPr txBox="1"/>
          <p:nvPr/>
        </p:nvSpPr>
        <p:spPr>
          <a:xfrm>
            <a:off x="6449060" y="1869375"/>
            <a:ext cx="5522517" cy="338060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&lt;</a:t>
            </a:r>
            <a:r>
              <a:rPr lang="ko-KR" altLang="en-US" sz="1200" b="1" dirty="0">
                <a:solidFill>
                  <a:schemeClr val="bg1"/>
                </a:solidFill>
              </a:rPr>
              <a:t>상관계수</a:t>
            </a:r>
            <a:r>
              <a:rPr lang="en-US" altLang="ko-KR" sz="1200" b="1" dirty="0">
                <a:solidFill>
                  <a:schemeClr val="bg1"/>
                </a:solidFill>
              </a:rPr>
              <a:t>(x</a:t>
            </a:r>
            <a:r>
              <a:rPr lang="ko-KR" altLang="en-US" sz="1200" b="1" dirty="0">
                <a:solidFill>
                  <a:schemeClr val="bg1"/>
                </a:solidFill>
              </a:rPr>
              <a:t>후보들 </a:t>
            </a:r>
            <a:r>
              <a:rPr lang="en-US" altLang="ko-KR" sz="1200" b="1" dirty="0">
                <a:solidFill>
                  <a:schemeClr val="bg1"/>
                </a:solidFill>
              </a:rPr>
              <a:t>– y</a:t>
            </a:r>
            <a:r>
              <a:rPr lang="ko-KR" altLang="en-US" sz="1200" b="1" dirty="0">
                <a:solidFill>
                  <a:schemeClr val="bg1"/>
                </a:solidFill>
              </a:rPr>
              <a:t>값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r>
              <a:rPr lang="ko-KR" altLang="en-US" sz="1200" b="1" dirty="0">
                <a:solidFill>
                  <a:schemeClr val="bg1"/>
                </a:solidFill>
              </a:rPr>
              <a:t>가 낮은 컬럼들 제거</a:t>
            </a:r>
            <a:r>
              <a:rPr lang="en-US" altLang="ko-KR" sz="1200" b="1" dirty="0">
                <a:solidFill>
                  <a:schemeClr val="bg1"/>
                </a:solidFill>
              </a:rPr>
              <a:t>&gt;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상관계수 절대값이 </a:t>
            </a:r>
            <a:r>
              <a:rPr lang="en-US" altLang="ko-KR" sz="1200" dirty="0">
                <a:solidFill>
                  <a:schemeClr val="bg1"/>
                </a:solidFill>
              </a:rPr>
              <a:t>0.03 </a:t>
            </a:r>
            <a:r>
              <a:rPr lang="ko-KR" altLang="en-US" sz="1200" dirty="0">
                <a:solidFill>
                  <a:schemeClr val="bg1"/>
                </a:solidFill>
              </a:rPr>
              <a:t>미만이면 거의 상관이 없는 수준으로 변수를 간주합니다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원본 데이터를 복사하여 </a:t>
            </a:r>
            <a:r>
              <a:rPr lang="en-US" altLang="ko-KR" sz="1200" dirty="0" err="1">
                <a:solidFill>
                  <a:schemeClr val="bg1"/>
                </a:solidFill>
              </a:rPr>
              <a:t>df_corr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생성하고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타깃값을</a:t>
            </a:r>
            <a:r>
              <a:rPr lang="ko-KR" altLang="en-US" sz="1200" dirty="0">
                <a:solidFill>
                  <a:schemeClr val="bg1"/>
                </a:solidFill>
              </a:rPr>
              <a:t> 새로운 컬럼으로 추가해 줍니다</a:t>
            </a:r>
            <a:r>
              <a:rPr lang="en-US" altLang="ko-KR" sz="1200" dirty="0">
                <a:solidFill>
                  <a:schemeClr val="bg1"/>
                </a:solidFill>
              </a:rPr>
              <a:t>.(</a:t>
            </a:r>
            <a:r>
              <a:rPr lang="ko-KR" altLang="en-US" sz="1200" dirty="0">
                <a:solidFill>
                  <a:schemeClr val="bg1"/>
                </a:solidFill>
              </a:rPr>
              <a:t>상관계수 계산용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Numeric_only</a:t>
            </a:r>
            <a:r>
              <a:rPr lang="en-US" altLang="ko-KR" sz="1200" dirty="0">
                <a:solidFill>
                  <a:schemeClr val="bg1"/>
                </a:solidFill>
              </a:rPr>
              <a:t>=True</a:t>
            </a:r>
            <a:r>
              <a:rPr lang="ko-KR" altLang="en-US" sz="1200" dirty="0">
                <a:solidFill>
                  <a:schemeClr val="bg1"/>
                </a:solidFill>
              </a:rPr>
              <a:t>를 통해 숫자형 변수만 상관계수를 계산합니다</a:t>
            </a:r>
            <a:r>
              <a:rPr lang="en-US" altLang="ko-KR" sz="1200" dirty="0">
                <a:solidFill>
                  <a:schemeClr val="bg1"/>
                </a:solidFill>
              </a:rPr>
              <a:t>.(</a:t>
            </a:r>
            <a:r>
              <a:rPr lang="ko-KR" altLang="en-US" sz="1200" dirty="0">
                <a:solidFill>
                  <a:schemeClr val="bg1"/>
                </a:solidFill>
              </a:rPr>
              <a:t>문자형 컬럼은 제외함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__target__</a:t>
            </a:r>
            <a:r>
              <a:rPr lang="ko-KR" altLang="en-US" sz="1200" dirty="0">
                <a:solidFill>
                  <a:schemeClr val="bg1"/>
                </a:solidFill>
              </a:rPr>
              <a:t>과의 상관계수만 추출하고 지웁니다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남길 컬럼과 제거할 컬럼을 구분 한 후 제거할 컬럼 </a:t>
            </a:r>
            <a:r>
              <a:rPr lang="en-US" altLang="ko-KR" sz="1200" dirty="0" err="1">
                <a:solidFill>
                  <a:schemeClr val="bg1"/>
                </a:solidFill>
              </a:rPr>
              <a:t>Item_Fat_Content</a:t>
            </a:r>
            <a:r>
              <a:rPr lang="ko-KR" altLang="en-US" sz="1200" dirty="0">
                <a:solidFill>
                  <a:schemeClr val="bg1"/>
                </a:solidFill>
              </a:rPr>
              <a:t>와 </a:t>
            </a:r>
            <a:r>
              <a:rPr lang="en-US" altLang="ko-KR" sz="1200" dirty="0" err="1">
                <a:solidFill>
                  <a:schemeClr val="bg1"/>
                </a:solidFill>
              </a:rPr>
              <a:t>Item_Type</a:t>
            </a:r>
            <a:r>
              <a:rPr lang="ko-KR" altLang="en-US" sz="1200" dirty="0">
                <a:solidFill>
                  <a:schemeClr val="bg1"/>
                </a:solidFill>
              </a:rPr>
              <a:t>을 제거합니다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필요 없는 컬럼들과 상관계수가 낮은 컬럼들을 제거하고 </a:t>
            </a:r>
            <a:r>
              <a:rPr lang="en-US" altLang="ko-KR" sz="1200" dirty="0">
                <a:solidFill>
                  <a:schemeClr val="bg1"/>
                </a:solidFill>
              </a:rPr>
              <a:t>train</a:t>
            </a:r>
            <a:r>
              <a:rPr lang="ko-KR" altLang="en-US" sz="1200" dirty="0">
                <a:solidFill>
                  <a:schemeClr val="bg1"/>
                </a:solidFill>
              </a:rPr>
              <a:t>과 </a:t>
            </a:r>
            <a:r>
              <a:rPr lang="en-US" altLang="ko-KR" sz="1200" dirty="0">
                <a:solidFill>
                  <a:schemeClr val="bg1"/>
                </a:solidFill>
              </a:rPr>
              <a:t>test</a:t>
            </a:r>
            <a:r>
              <a:rPr lang="ko-KR" altLang="en-US" sz="1200" dirty="0">
                <a:solidFill>
                  <a:schemeClr val="bg1"/>
                </a:solidFill>
              </a:rPr>
              <a:t>의 </a:t>
            </a:r>
            <a:r>
              <a:rPr lang="en-US" altLang="ko-KR" sz="1200" dirty="0">
                <a:solidFill>
                  <a:schemeClr val="bg1"/>
                </a:solidFill>
              </a:rPr>
              <a:t>shape</a:t>
            </a:r>
            <a:r>
              <a:rPr lang="ko-KR" altLang="en-US" sz="1200" dirty="0">
                <a:solidFill>
                  <a:schemeClr val="bg1"/>
                </a:solidFill>
              </a:rPr>
              <a:t>을 확인해보고 컬럼들이 잘 삭제 되었는지 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0256EF8-7733-40B3-83FE-6DEEE5C73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786" y="4860026"/>
            <a:ext cx="3505689" cy="147658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653D24C-D49F-48B5-8DE6-EF51B93227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6475" y="5193447"/>
            <a:ext cx="1905266" cy="1143160"/>
          </a:xfrm>
          <a:prstGeom prst="rect">
            <a:avLst/>
          </a:prstGeom>
        </p:spPr>
      </p:pic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DA7EAA62-4B70-440F-B513-59DD51741E8B}"/>
              </a:ext>
            </a:extLst>
          </p:cNvPr>
          <p:cNvCxnSpPr>
            <a:cxnSpLocks/>
            <a:stCxn id="24" idx="3"/>
            <a:endCxn id="21" idx="2"/>
          </p:cNvCxnSpPr>
          <p:nvPr/>
        </p:nvCxnSpPr>
        <p:spPr>
          <a:xfrm flipV="1">
            <a:off x="5761741" y="5249980"/>
            <a:ext cx="3448578" cy="515047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665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성능개선방안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8B2D37-16F8-4928-8169-3BFBEC1BEE1A}"/>
              </a:ext>
            </a:extLst>
          </p:cNvPr>
          <p:cNvSpPr txBox="1"/>
          <p:nvPr/>
        </p:nvSpPr>
        <p:spPr>
          <a:xfrm>
            <a:off x="479213" y="4767057"/>
            <a:ext cx="11034605" cy="1718612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b="1" dirty="0">
                <a:solidFill>
                  <a:schemeClr val="bg1"/>
                </a:solidFill>
              </a:rPr>
              <a:t>Train</a:t>
            </a:r>
            <a:r>
              <a:rPr lang="ko-KR" altLang="en-US" sz="1200" b="1" dirty="0">
                <a:solidFill>
                  <a:schemeClr val="bg1"/>
                </a:solidFill>
              </a:rPr>
              <a:t>과 </a:t>
            </a:r>
            <a:r>
              <a:rPr lang="en-US" altLang="ko-KR" sz="1200" b="1" dirty="0">
                <a:solidFill>
                  <a:schemeClr val="bg1"/>
                </a:solidFill>
              </a:rPr>
              <a:t>test </a:t>
            </a:r>
            <a:r>
              <a:rPr lang="ko-KR" altLang="en-US" sz="1200" b="1" dirty="0">
                <a:solidFill>
                  <a:schemeClr val="bg1"/>
                </a:solidFill>
              </a:rPr>
              <a:t>데이터를 </a:t>
            </a:r>
            <a:r>
              <a:rPr lang="en-US" altLang="ko-KR" sz="1200" b="1" dirty="0">
                <a:solidFill>
                  <a:schemeClr val="bg1"/>
                </a:solidFill>
              </a:rPr>
              <a:t>8:2 </a:t>
            </a:r>
            <a:r>
              <a:rPr lang="ko-KR" altLang="en-US" sz="1200" b="1" dirty="0">
                <a:solidFill>
                  <a:schemeClr val="bg1"/>
                </a:solidFill>
              </a:rPr>
              <a:t>비율로 나누며 검증데이터 분할해줍니다</a:t>
            </a:r>
            <a:r>
              <a:rPr lang="en-US" altLang="ko-KR" sz="1200" b="1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b="1" dirty="0" err="1">
                <a:solidFill>
                  <a:schemeClr val="bg1"/>
                </a:solidFill>
              </a:rPr>
              <a:t>LightGBM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라이브러리를 불러옵니다</a:t>
            </a:r>
            <a:r>
              <a:rPr lang="en-US" altLang="ko-KR" sz="1200" b="1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LGBMRegressor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객체를 만들어줍니다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ko-KR" altLang="en-US" sz="1200" dirty="0">
                <a:solidFill>
                  <a:schemeClr val="bg1"/>
                </a:solidFill>
              </a:rPr>
              <a:t>재현 가능한 결과를 위해 난수를 고정시키고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학습 시 출력 메시지를 숨깁니다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X_train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입력값</a:t>
            </a:r>
            <a:r>
              <a:rPr lang="en-US" altLang="ko-KR" sz="1200" dirty="0">
                <a:solidFill>
                  <a:schemeClr val="bg1"/>
                </a:solidFill>
              </a:rPr>
              <a:t>), </a:t>
            </a:r>
            <a:r>
              <a:rPr lang="en-US" altLang="ko-KR" sz="1200" dirty="0" err="1">
                <a:solidFill>
                  <a:schemeClr val="bg1"/>
                </a:solidFill>
              </a:rPr>
              <a:t>y_train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타겟값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</a:t>
            </a:r>
            <a:r>
              <a:rPr lang="en-US" altLang="ko-KR" sz="1200" dirty="0">
                <a:solidFill>
                  <a:schemeClr val="bg1"/>
                </a:solidFill>
              </a:rPr>
              <a:t> fit()</a:t>
            </a:r>
            <a:r>
              <a:rPr lang="ko-KR" altLang="en-US" sz="1200" dirty="0">
                <a:solidFill>
                  <a:schemeClr val="bg1"/>
                </a:solidFill>
              </a:rPr>
              <a:t>을 통해 모델이 데이터의 패턴을 학습할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X_val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검증용 입력 데이터</a:t>
            </a:r>
            <a:r>
              <a:rPr lang="en-US" altLang="ko-KR" sz="1200" dirty="0">
                <a:solidFill>
                  <a:schemeClr val="bg1"/>
                </a:solidFill>
              </a:rPr>
              <a:t>), predict()</a:t>
            </a:r>
            <a:r>
              <a:rPr lang="ko-KR" altLang="en-US" sz="1200" dirty="0">
                <a:solidFill>
                  <a:schemeClr val="bg1"/>
                </a:solidFill>
              </a:rPr>
              <a:t>를 사용하여 </a:t>
            </a:r>
            <a:r>
              <a:rPr lang="en-US" altLang="ko-KR" sz="1200" dirty="0" err="1">
                <a:solidFill>
                  <a:schemeClr val="bg1"/>
                </a:solidFill>
              </a:rPr>
              <a:t>y_pred_lgb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예측값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 생성합니다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9FDDF1CE-8F0E-4C40-A90B-184978FE7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80" y="3429000"/>
            <a:ext cx="4672762" cy="119731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FC6EE07-C9EA-4991-A30F-45236D499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214" y="1780945"/>
            <a:ext cx="4677428" cy="1648055"/>
          </a:xfrm>
          <a:prstGeom prst="rect">
            <a:avLst/>
          </a:prstGeom>
        </p:spPr>
      </p:pic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0BCA7A8D-5F3D-41B0-885D-F67E14551DCE}"/>
              </a:ext>
            </a:extLst>
          </p:cNvPr>
          <p:cNvCxnSpPr>
            <a:cxnSpLocks/>
            <a:stCxn id="28" idx="3"/>
            <a:endCxn id="12" idx="0"/>
          </p:cNvCxnSpPr>
          <p:nvPr/>
        </p:nvCxnSpPr>
        <p:spPr>
          <a:xfrm>
            <a:off x="5156642" y="2604973"/>
            <a:ext cx="839874" cy="2162084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1519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성능개선방안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 지표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15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E500A03-4917-4FA7-8BF8-E7658BB1A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511" y="1773197"/>
            <a:ext cx="5287886" cy="32792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146B2E-AA69-4297-BF8D-73CBBE09C452}"/>
                  </a:ext>
                </a:extLst>
              </p:cNvPr>
              <p:cNvSpPr txBox="1"/>
              <p:nvPr/>
            </p:nvSpPr>
            <p:spPr>
              <a:xfrm>
                <a:off x="5991302" y="1649566"/>
                <a:ext cx="5522517" cy="5043112"/>
              </a:xfrm>
              <a:prstGeom prst="rect">
                <a:avLst/>
              </a:prstGeom>
              <a:noFill/>
              <a:ln>
                <a:solidFill>
                  <a:schemeClr val="accent4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ko-KR" altLang="en-US" sz="1200" dirty="0">
                    <a:solidFill>
                      <a:schemeClr val="bg1"/>
                    </a:solidFill>
                  </a:rPr>
                  <a:t>평가 지수 관련 함수를 불러옵니다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1. MSE(Mean Squared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 err="1">
                    <a:solidFill>
                      <a:schemeClr val="bg1"/>
                    </a:solidFill>
                  </a:rPr>
                  <a:t>실제값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y_val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과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예측값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y_pred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차이를 제곱하여 평균을 낸 값으로 오차가 클수록 제곱으로 인해 지표가 급격하게 커지는 이상치에 민감한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1,095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2. MAE(Mean Absolute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 err="1">
                    <a:solidFill>
                      <a:schemeClr val="bg1"/>
                    </a:solidFill>
                  </a:rPr>
                  <a:t>실제값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y_val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과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예측값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y_pred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차이의 절대값을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평균낸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 값으로 오차의 평균적인 크기를 직관적으로 확인할 수 있고 그만큼 이상치의 영향이 적은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MAE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732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3. RMSE(Root Mean Squared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en-US" altLang="ko-KR" sz="1200" dirty="0">
                    <a:solidFill>
                      <a:schemeClr val="bg1"/>
                    </a:solidFill>
                  </a:rPr>
                  <a:t>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에 제곱근을 취한 값으로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,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원래 데이터 단위로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환산가능합니다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>
                    <a:solidFill>
                      <a:schemeClr val="bg1"/>
                    </a:solidFill>
                  </a:rPr>
                  <a:t>큰 오차에 민감하고 오차의 전형적 크기를 보여주는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RMSE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1,046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4. R2(Coefficient of Determination,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결정계수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>
                    <a:solidFill>
                      <a:schemeClr val="bg1"/>
                    </a:solidFill>
                  </a:rPr>
                  <a:t>모델이 실제 데이터의 분산을 얼마나 잘 설명하는지 보여주는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en-US" altLang="ko-KR" sz="1200" dirty="0">
                    <a:solidFill>
                      <a:schemeClr val="bg1"/>
                    </a:solidFill>
                  </a:rPr>
                  <a:t>1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에 가까울수록 설명력이 높은 지표라고 볼 수 있습니다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R2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0.57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endParaRPr lang="en-US" altLang="ko-KR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146B2E-AA69-4297-BF8D-73CBBE09C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1302" y="1649566"/>
                <a:ext cx="5522517" cy="5043112"/>
              </a:xfrm>
              <a:prstGeom prst="rect">
                <a:avLst/>
              </a:prstGeom>
              <a:blipFill>
                <a:blip r:embed="rId4"/>
                <a:stretch>
                  <a:fillRect l="-110" r="-220"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E4545C6A-650B-46D1-96A0-6E06ECEB2F4C}"/>
              </a:ext>
            </a:extLst>
          </p:cNvPr>
          <p:cNvCxnSpPr>
            <a:cxnSpLocks/>
            <a:stCxn id="14" idx="2"/>
            <a:endCxn id="9" idx="1"/>
          </p:cNvCxnSpPr>
          <p:nvPr/>
        </p:nvCxnSpPr>
        <p:spPr>
          <a:xfrm rot="5400000" flipH="1" flipV="1">
            <a:off x="4033215" y="3094361"/>
            <a:ext cx="881325" cy="3034848"/>
          </a:xfrm>
          <a:prstGeom prst="bentConnector4">
            <a:avLst>
              <a:gd name="adj1" fmla="val -25938"/>
              <a:gd name="adj2" fmla="val 9356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500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성능개선방안 지표 해석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16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F5E348-AF06-4F1D-81C9-423E55AD5498}"/>
              </a:ext>
            </a:extLst>
          </p:cNvPr>
          <p:cNvSpPr txBox="1"/>
          <p:nvPr/>
        </p:nvSpPr>
        <p:spPr>
          <a:xfrm>
            <a:off x="3334740" y="1806333"/>
            <a:ext cx="5522517" cy="3537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300" b="1" dirty="0">
                <a:solidFill>
                  <a:schemeClr val="bg1"/>
                </a:solidFill>
              </a:rPr>
              <a:t>&lt;</a:t>
            </a:r>
            <a:r>
              <a:rPr lang="ko-KR" altLang="en-US" sz="1300" b="1" dirty="0">
                <a:solidFill>
                  <a:schemeClr val="bg1"/>
                </a:solidFill>
              </a:rPr>
              <a:t>성능개선방안 지표해석</a:t>
            </a:r>
            <a:r>
              <a:rPr lang="en-US" altLang="ko-KR" sz="1300" b="1" dirty="0">
                <a:solidFill>
                  <a:schemeClr val="bg1"/>
                </a:solidFill>
              </a:rPr>
              <a:t>&gt;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A4AB97E-A02B-4A1A-AD68-2D115875F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26859"/>
              </p:ext>
            </p:extLst>
          </p:nvPr>
        </p:nvGraphicFramePr>
        <p:xfrm>
          <a:off x="2031999" y="2244188"/>
          <a:ext cx="8128000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7248488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2809776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629279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039274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선형회귀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LightGBM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변화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85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MSE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1,258,220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1,095,162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약 </a:t>
                      </a:r>
                      <a:r>
                        <a:rPr lang="en-US" altLang="ko-KR" sz="1200" dirty="0"/>
                        <a:t>12.9% </a:t>
                      </a:r>
                      <a:r>
                        <a:rPr lang="ko-KR" altLang="en-US" sz="1200" dirty="0"/>
                        <a:t>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4870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MAE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858.96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732,98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약 </a:t>
                      </a:r>
                      <a:r>
                        <a:rPr lang="en-US" altLang="ko-KR" sz="1200" dirty="0"/>
                        <a:t>14.7% </a:t>
                      </a:r>
                      <a:r>
                        <a:rPr lang="ko-KR" altLang="en-US" sz="1200" dirty="0"/>
                        <a:t>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6784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RMSE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1,121,70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1,046.05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약 </a:t>
                      </a:r>
                      <a:r>
                        <a:rPr lang="en-US" altLang="ko-KR" sz="1200" dirty="0"/>
                        <a:t>6.8% </a:t>
                      </a:r>
                      <a:r>
                        <a:rPr lang="ko-KR" altLang="en-US" sz="1200" dirty="0"/>
                        <a:t>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87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0.5153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0.5781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약 </a:t>
                      </a:r>
                      <a:r>
                        <a:rPr lang="en-US" altLang="ko-KR" sz="1200" dirty="0"/>
                        <a:t>12.2% </a:t>
                      </a:r>
                      <a:r>
                        <a:rPr lang="ko-KR" altLang="en-US" sz="1200" dirty="0"/>
                        <a:t>향상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984923"/>
                  </a:ext>
                </a:extLst>
              </a:tr>
            </a:tbl>
          </a:graphicData>
        </a:graphic>
      </p:graphicFrame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7734B76E-B3F7-4F0A-98D5-846F08DE5A8F}"/>
              </a:ext>
            </a:extLst>
          </p:cNvPr>
          <p:cNvSpPr/>
          <p:nvPr/>
        </p:nvSpPr>
        <p:spPr>
          <a:xfrm>
            <a:off x="8524821" y="2734206"/>
            <a:ext cx="108703" cy="163593"/>
          </a:xfrm>
          <a:prstGeom prst="downArrow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C08AF3DB-30B9-49AB-B3FC-8BC6039E869D}"/>
              </a:ext>
            </a:extLst>
          </p:cNvPr>
          <p:cNvSpPr/>
          <p:nvPr/>
        </p:nvSpPr>
        <p:spPr>
          <a:xfrm>
            <a:off x="8524820" y="3134427"/>
            <a:ext cx="108703" cy="163593"/>
          </a:xfrm>
          <a:prstGeom prst="downArrow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8A19882E-A643-421B-83F0-F18A49297B85}"/>
              </a:ext>
            </a:extLst>
          </p:cNvPr>
          <p:cNvSpPr/>
          <p:nvPr/>
        </p:nvSpPr>
        <p:spPr>
          <a:xfrm>
            <a:off x="8524819" y="3459553"/>
            <a:ext cx="108703" cy="163593"/>
          </a:xfrm>
          <a:prstGeom prst="downArrow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DEB783FF-663F-4AFF-8029-DB81BE03DBD3}"/>
              </a:ext>
            </a:extLst>
          </p:cNvPr>
          <p:cNvSpPr/>
          <p:nvPr/>
        </p:nvSpPr>
        <p:spPr>
          <a:xfrm rot="10800000">
            <a:off x="8524819" y="3800753"/>
            <a:ext cx="108703" cy="16359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127AE4-EF4E-4D1B-AB97-70232BCF8C30}"/>
              </a:ext>
            </a:extLst>
          </p:cNvPr>
          <p:cNvSpPr txBox="1"/>
          <p:nvPr/>
        </p:nvSpPr>
        <p:spPr>
          <a:xfrm>
            <a:off x="2031998" y="4341718"/>
            <a:ext cx="8128000" cy="144161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b="1" dirty="0">
                <a:solidFill>
                  <a:schemeClr val="bg1"/>
                </a:solidFill>
              </a:rPr>
              <a:t>모든 오차 지표</a:t>
            </a:r>
            <a:r>
              <a:rPr lang="en-US" altLang="ko-KR" sz="1200" b="1" dirty="0">
                <a:solidFill>
                  <a:schemeClr val="bg1"/>
                </a:solidFill>
              </a:rPr>
              <a:t>(MSE, MAE,RMSE)</a:t>
            </a:r>
            <a:r>
              <a:rPr lang="ko-KR" altLang="en-US" sz="1200" b="1" dirty="0">
                <a:solidFill>
                  <a:schemeClr val="bg1"/>
                </a:solidFill>
              </a:rPr>
              <a:t>가 감소</a:t>
            </a:r>
            <a:r>
              <a:rPr lang="ko-KR" altLang="en-US" sz="1200" dirty="0">
                <a:solidFill>
                  <a:schemeClr val="bg1"/>
                </a:solidFill>
              </a:rPr>
              <a:t>했기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때문에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모델의 예측 정확도가 명확히 개선되었다는 것을 볼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b="1" dirty="0">
                <a:solidFill>
                  <a:schemeClr val="bg1"/>
                </a:solidFill>
              </a:rPr>
              <a:t>특히 </a:t>
            </a:r>
            <a:r>
              <a:rPr lang="en-US" altLang="ko-KR" sz="1200" b="1" dirty="0">
                <a:solidFill>
                  <a:schemeClr val="bg1"/>
                </a:solidFill>
              </a:rPr>
              <a:t>MAE</a:t>
            </a:r>
            <a:r>
              <a:rPr lang="ko-KR" altLang="en-US" sz="1200" b="1" dirty="0">
                <a:solidFill>
                  <a:schemeClr val="bg1"/>
                </a:solidFill>
              </a:rPr>
              <a:t>가 약 </a:t>
            </a:r>
            <a:r>
              <a:rPr lang="en-US" altLang="ko-KR" sz="1200" b="1" dirty="0">
                <a:solidFill>
                  <a:schemeClr val="bg1"/>
                </a:solidFill>
              </a:rPr>
              <a:t>15% </a:t>
            </a:r>
            <a:r>
              <a:rPr lang="ko-KR" altLang="en-US" sz="1200" b="1" dirty="0">
                <a:solidFill>
                  <a:schemeClr val="bg1"/>
                </a:solidFill>
              </a:rPr>
              <a:t>감소한 것은</a:t>
            </a:r>
            <a:r>
              <a:rPr lang="en-US" altLang="ko-KR" sz="1200" b="1" dirty="0">
                <a:solidFill>
                  <a:schemeClr val="bg1"/>
                </a:solidFill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</a:rPr>
              <a:t>모델이 전반적으로 큰 오차를 덜 내고 있다는 것</a:t>
            </a:r>
            <a:r>
              <a:rPr lang="ko-KR" altLang="en-US" sz="1200" dirty="0">
                <a:solidFill>
                  <a:schemeClr val="bg1"/>
                </a:solidFill>
              </a:rPr>
              <a:t>을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보여줍니다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b="1" dirty="0">
                <a:solidFill>
                  <a:schemeClr val="bg1"/>
                </a:solidFill>
              </a:rPr>
              <a:t>R2</a:t>
            </a:r>
            <a:r>
              <a:rPr lang="ko-KR" altLang="en-US" sz="1200" b="1" dirty="0">
                <a:solidFill>
                  <a:schemeClr val="bg1"/>
                </a:solidFill>
              </a:rPr>
              <a:t>가 약 </a:t>
            </a:r>
            <a:r>
              <a:rPr lang="en-US" altLang="ko-KR" sz="1200" b="1" dirty="0">
                <a:solidFill>
                  <a:schemeClr val="bg1"/>
                </a:solidFill>
              </a:rPr>
              <a:t>12% </a:t>
            </a:r>
            <a:r>
              <a:rPr lang="ko-KR" altLang="en-US" sz="1200" b="1" dirty="0">
                <a:solidFill>
                  <a:schemeClr val="bg1"/>
                </a:solidFill>
              </a:rPr>
              <a:t>향상되었고</a:t>
            </a:r>
            <a:r>
              <a:rPr lang="en-US" altLang="ko-KR" sz="1200" b="1" dirty="0">
                <a:solidFill>
                  <a:schemeClr val="bg1"/>
                </a:solidFill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</a:rPr>
              <a:t>이는 모델이 데이터의 변동성을 더 잘 설명하고 있다는 뜻</a:t>
            </a:r>
            <a:r>
              <a:rPr lang="ko-KR" altLang="en-US" sz="1200" dirty="0">
                <a:solidFill>
                  <a:schemeClr val="bg1"/>
                </a:solidFill>
              </a:rPr>
              <a:t>으로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</a:rPr>
              <a:t>모델의 설명력과 일반화 성능이 향상</a:t>
            </a:r>
            <a:r>
              <a:rPr lang="ko-KR" altLang="en-US" sz="1200" dirty="0">
                <a:solidFill>
                  <a:schemeClr val="bg1"/>
                </a:solidFill>
              </a:rPr>
              <a:t>되었다고 볼 수 있겠습니다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9734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3219</TotalTime>
  <Words>1811</Words>
  <Application>Microsoft Office PowerPoint</Application>
  <PresentationFormat>와이드스크린</PresentationFormat>
  <Paragraphs>167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Arial</vt:lpstr>
      <vt:lpstr>Calibri</vt:lpstr>
      <vt:lpstr>Cambria Math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212</cp:revision>
  <dcterms:created xsi:type="dcterms:W3CDTF">2025-08-05T00:27:28Z</dcterms:created>
  <dcterms:modified xsi:type="dcterms:W3CDTF">2025-11-10T00:16:26Z</dcterms:modified>
</cp:coreProperties>
</file>