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7" r:id="rId3"/>
    <p:sldId id="337" r:id="rId4"/>
    <p:sldId id="338" r:id="rId5"/>
    <p:sldId id="339" r:id="rId6"/>
    <p:sldId id="340" r:id="rId7"/>
    <p:sldId id="342" r:id="rId8"/>
    <p:sldId id="345" r:id="rId9"/>
    <p:sldId id="343" r:id="rId10"/>
    <p:sldId id="346" r:id="rId11"/>
    <p:sldId id="318" r:id="rId12"/>
    <p:sldId id="344" r:id="rId13"/>
    <p:sldId id="341" r:id="rId14"/>
    <p:sldId id="28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B2C5D7-43FA-4465-BE4A-D493765FE88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06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활용기획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품질 관리 기획하기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(2p-3p)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품질 이슈 분석 및 근본 원인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생명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품질 관리 계획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조직 수립하기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(6p-9p)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조직 역할 및 책임 할당표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(RACI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분석가를 위한 역량 교육 체계 설계 보고서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보안 관리 기획하기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(4p-5p)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개인 정보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비식별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조치 계획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수명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위협 요소 분석 및 대응방안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4157238"/>
            <a:ext cx="5726365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운영 관리 기획하기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(10p-12p)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장애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가용성 관리 분석 보고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수준 협약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(SLA)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및 변경 관리 계획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품질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FB33C3-DC0A-41D3-8044-B9ED3F1B4398}"/>
              </a:ext>
            </a:extLst>
          </p:cNvPr>
          <p:cNvSpPr txBox="1"/>
          <p:nvPr/>
        </p:nvSpPr>
        <p:spPr>
          <a:xfrm>
            <a:off x="607695" y="1452574"/>
            <a:ext cx="58627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품질 이슈 분석 및 근본 원인 보고서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5B88C2-2BE0-41F9-90AE-026EB05837CC}"/>
              </a:ext>
            </a:extLst>
          </p:cNvPr>
          <p:cNvCxnSpPr>
            <a:cxnSpLocks/>
          </p:cNvCxnSpPr>
          <p:nvPr/>
        </p:nvCxnSpPr>
        <p:spPr>
          <a:xfrm>
            <a:off x="666750" y="1770680"/>
            <a:ext cx="111194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E735FC-FCE4-4BBF-83AE-BA83A68E73D4}"/>
              </a:ext>
            </a:extLst>
          </p:cNvPr>
          <p:cNvSpPr txBox="1"/>
          <p:nvPr/>
        </p:nvSpPr>
        <p:spPr>
          <a:xfrm>
            <a:off x="584059" y="1791530"/>
            <a:ext cx="9617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과제는 반려동물 추모 플랫폼 “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”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품질 관리 프로세스를 통해 품질 관리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이슈 도출 및 분석 단계를 수행하는 것입니다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보호자의 감정 케어와 서비스 완성도를 높이기 위해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품질과 서비스 프로세스의 품질을 함께 고려합니다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EDD77-B213-489D-9F99-01A016B94896}"/>
              </a:ext>
            </a:extLst>
          </p:cNvPr>
          <p:cNvSpPr txBox="1"/>
          <p:nvPr/>
        </p:nvSpPr>
        <p:spPr>
          <a:xfrm>
            <a:off x="584060" y="2250679"/>
            <a:ext cx="2530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품질 기준 정의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보고서 도입부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6C1EFE-C47F-4FE4-8F40-296B2E5D2638}"/>
              </a:ext>
            </a:extLst>
          </p:cNvPr>
          <p:cNvCxnSpPr>
            <a:cxnSpLocks/>
          </p:cNvCxnSpPr>
          <p:nvPr/>
        </p:nvCxnSpPr>
        <p:spPr>
          <a:xfrm flipV="1">
            <a:off x="666750" y="2750280"/>
            <a:ext cx="11119494" cy="199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3BFEE19-3306-4501-BA1D-5F58C3E8A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447276"/>
              </p:ext>
            </p:extLst>
          </p:nvPr>
        </p:nvGraphicFramePr>
        <p:xfrm>
          <a:off x="666750" y="2854079"/>
          <a:ext cx="10847069" cy="15739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9853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4405854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4991362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품질 기준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관점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NCS </a:t>
                      </a:r>
                      <a:r>
                        <a:rPr lang="ko-KR" altLang="en-US" sz="1300"/>
                        <a:t>정의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/>
                        <a:t>Lastpage</a:t>
                      </a:r>
                      <a:r>
                        <a:rPr lang="en-US" altLang="ko-KR" sz="1300" dirty="0"/>
                        <a:t> Project </a:t>
                      </a:r>
                      <a:r>
                        <a:rPr lang="ko-KR" altLang="en-US" sz="1300" dirty="0"/>
                        <a:t>적용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6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유용성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사용자가 서비스 요구 사항에 맞는 데이터를 제공받고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활용에 도움이 되어야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보호자가 반려동물 장례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상담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추모 </a:t>
                      </a:r>
                      <a:r>
                        <a:rPr lang="ko-KR" altLang="en-US" sz="1050" dirty="0" err="1"/>
                        <a:t>굿즈</a:t>
                      </a:r>
                      <a:r>
                        <a:rPr lang="ko-KR" altLang="en-US" sz="1050" dirty="0"/>
                        <a:t> 제작 과정을 쉽게 확인하고 예약할 수 있도록 직관적인 마이페이지를 제공하고 있는가</a:t>
                      </a:r>
                      <a:r>
                        <a:rPr lang="en-US" altLang="ko-KR" sz="1050" dirty="0"/>
                        <a:t>?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정확성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제공되는 데이터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정보</a:t>
                      </a:r>
                      <a:r>
                        <a:rPr lang="en-US" altLang="ko-KR" sz="1050" dirty="0"/>
                        <a:t>)</a:t>
                      </a:r>
                      <a:r>
                        <a:rPr lang="ko-KR" altLang="en-US" sz="1050" dirty="0"/>
                        <a:t>가 신뢰할 수 있는지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최신 상태로 유지되어야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장례 및 상담 예약 일정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굿즈</a:t>
                      </a:r>
                      <a:r>
                        <a:rPr lang="ko-KR" altLang="en-US" sz="1050" dirty="0"/>
                        <a:t> 제작 상태 등의 정보가 실시간으로 정확하게 반영되는가</a:t>
                      </a:r>
                      <a:r>
                        <a:rPr lang="en-US" altLang="ko-KR" sz="1050" dirty="0"/>
                        <a:t>?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접근성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사용자가 필요한 정보를 편리하게 접근할 수 있어야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고령층 사용자나 디지털 취약 계층도 손쉽게 서비스를 이용할 수 있도록 </a:t>
                      </a:r>
                      <a:r>
                        <a:rPr lang="en-US" altLang="ko-KR" sz="1050" dirty="0"/>
                        <a:t>UI/UX</a:t>
                      </a:r>
                      <a:r>
                        <a:rPr lang="ko-KR" altLang="en-US" sz="1050" dirty="0"/>
                        <a:t>가 구성되어 있는가</a:t>
                      </a:r>
                      <a:r>
                        <a:rPr lang="en-US" altLang="ko-KR" sz="1050" dirty="0"/>
                        <a:t>?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2C85B45-D6DA-47B0-B94E-AD714B2A1941}"/>
              </a:ext>
            </a:extLst>
          </p:cNvPr>
          <p:cNvSpPr txBox="1"/>
          <p:nvPr/>
        </p:nvSpPr>
        <p:spPr>
          <a:xfrm>
            <a:off x="584058" y="4545997"/>
            <a:ext cx="2751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품질 관리 이슈 분석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핵심 제출물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064A96A-59D5-4088-8640-E831065C2FC6}"/>
              </a:ext>
            </a:extLst>
          </p:cNvPr>
          <p:cNvCxnSpPr>
            <a:cxnSpLocks/>
          </p:cNvCxnSpPr>
          <p:nvPr/>
        </p:nvCxnSpPr>
        <p:spPr>
          <a:xfrm>
            <a:off x="607695" y="5038565"/>
            <a:ext cx="111785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C72A8B0-AF2F-45EA-82EA-293959A26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322159"/>
              </p:ext>
            </p:extLst>
          </p:nvPr>
        </p:nvGraphicFramePr>
        <p:xfrm>
          <a:off x="666748" y="5093831"/>
          <a:ext cx="10766436" cy="17331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66032">
                  <a:extLst>
                    <a:ext uri="{9D8B030D-6E8A-4147-A177-3AD203B41FA5}">
                      <a16:colId xmlns:a16="http://schemas.microsoft.com/office/drawing/2014/main" val="1347987947"/>
                    </a:ext>
                  </a:extLst>
                </a:gridCol>
                <a:gridCol w="1023266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1766678">
                  <a:extLst>
                    <a:ext uri="{9D8B030D-6E8A-4147-A177-3AD203B41FA5}">
                      <a16:colId xmlns:a16="http://schemas.microsoft.com/office/drawing/2014/main" val="305396414"/>
                    </a:ext>
                  </a:extLst>
                </a:gridCol>
                <a:gridCol w="4122469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3187991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4788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/>
                        <a:t>번호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품질 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품질 이슈 </a:t>
                      </a:r>
                      <a:endParaRPr lang="en-US" altLang="ko-KR" sz="1300" dirty="0"/>
                    </a:p>
                    <a:p>
                      <a:pPr algn="ctr" latinLnBrk="1"/>
                      <a:r>
                        <a:rPr lang="en-US" altLang="ko-KR" sz="1300" dirty="0"/>
                        <a:t>(</a:t>
                      </a:r>
                      <a:r>
                        <a:rPr lang="en-US" altLang="ko-KR" sz="1300" dirty="0" err="1"/>
                        <a:t>Lastpage</a:t>
                      </a:r>
                      <a:r>
                        <a:rPr lang="en-US" altLang="ko-KR" sz="1300" dirty="0"/>
                        <a:t> Project)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원인 분석 </a:t>
                      </a:r>
                      <a:r>
                        <a:rPr lang="en-US" altLang="ko-KR" sz="1300" dirty="0"/>
                        <a:t>(NCS </a:t>
                      </a:r>
                      <a:r>
                        <a:rPr lang="ko-KR" altLang="en-US" sz="1300" dirty="0"/>
                        <a:t>기준 적용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업무 영향도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9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정확성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마이페이지 내 예약 정보가 즉시 갱신되지 않음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실시간 데이터 연동 지연 </a:t>
                      </a:r>
                      <a:r>
                        <a:rPr lang="en-US" altLang="ko-KR" sz="1000" dirty="0"/>
                        <a:t>(API </a:t>
                      </a:r>
                      <a:r>
                        <a:rPr lang="ko-KR" altLang="en-US" sz="1000" dirty="0"/>
                        <a:t>서버 응답 속도 및 </a:t>
                      </a:r>
                      <a:r>
                        <a:rPr lang="en-US" altLang="ko-KR" sz="1000" dirty="0"/>
                        <a:t>DB </a:t>
                      </a:r>
                      <a:r>
                        <a:rPr lang="ko-KR" altLang="en-US" sz="1000" dirty="0"/>
                        <a:t>동기화 문제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1" dirty="0"/>
                        <a:t>상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 혼란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 중복 및 신뢰도 하락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53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유용성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상담사 매칭이 사용자 상황에 적합하지 않음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상담사 데이터의 세부 분류 기준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전문분야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시간대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경험치 등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불명확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1" dirty="0"/>
                        <a:t>중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상담 품질 저하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사용자 불만 증가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389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3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접근성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모바일 환경에서 일부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결제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 확인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이용 불가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반응형 디자인 미흡 및 모바일 전용 </a:t>
                      </a:r>
                      <a:r>
                        <a:rPr lang="en-US" altLang="ko-KR" sz="1000" dirty="0"/>
                        <a:t>UI </a:t>
                      </a:r>
                      <a:r>
                        <a:rPr lang="ko-KR" altLang="en-US" sz="1000" dirty="0"/>
                        <a:t>최적화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1" dirty="0"/>
                        <a:t>중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모바일 사용자 경험 저하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서비스 </a:t>
                      </a:r>
                      <a:r>
                        <a:rPr lang="ko-KR" altLang="en-US" sz="1000" dirty="0" err="1"/>
                        <a:t>이탈률</a:t>
                      </a:r>
                      <a:r>
                        <a:rPr lang="ko-KR" altLang="en-US" sz="1000" dirty="0"/>
                        <a:t> 상승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2146D06-2C44-46B1-95D1-E8B13C452B21}"/>
              </a:ext>
            </a:extLst>
          </p:cNvPr>
          <p:cNvSpPr txBox="1"/>
          <p:nvPr/>
        </p:nvSpPr>
        <p:spPr>
          <a:xfrm>
            <a:off x="584059" y="2497768"/>
            <a:ext cx="8950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서비스의 품질 기준을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NCS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학습 모듈의 기준에 따라 정의하고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프로젝트에서 가장 중요한 기준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가지를 선정하십시오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26B372-765B-422A-A3BD-AA2BE758ECEA}"/>
              </a:ext>
            </a:extLst>
          </p:cNvPr>
          <p:cNvSpPr txBox="1"/>
          <p:nvPr/>
        </p:nvSpPr>
        <p:spPr>
          <a:xfrm>
            <a:off x="584058" y="4792344"/>
            <a:ext cx="10941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서비스에서 발생할 가능성이 높은 품질 이슈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3~5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가지를 선정하고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NCS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학습 모듈의 분석 기준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(&lt;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1-10&gt;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참조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따라 근본 원인 및 업무 영향을 분석하십시오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품질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ACAF83A-280E-4AD5-9190-43A2C8D1564F}"/>
              </a:ext>
            </a:extLst>
          </p:cNvPr>
          <p:cNvGraphicFramePr>
            <a:graphicFrameLocks noGrp="1"/>
          </p:cNvGraphicFramePr>
          <p:nvPr/>
        </p:nvGraphicFramePr>
        <p:xfrm>
          <a:off x="666750" y="3952720"/>
          <a:ext cx="9458715" cy="24126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3832542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4665418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수명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비정형 데이터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이미지</a:t>
                      </a:r>
                      <a:r>
                        <a:rPr lang="en-US" altLang="ko-KR" sz="1300" dirty="0"/>
                        <a:t>·</a:t>
                      </a:r>
                      <a:r>
                        <a:rPr lang="ko-KR" altLang="en-US" sz="1300" dirty="0"/>
                        <a:t>텍스트 등</a:t>
                      </a:r>
                      <a:r>
                        <a:rPr lang="en-US" altLang="ko-KR" sz="1300" dirty="0"/>
                        <a:t>) </a:t>
                      </a:r>
                      <a:r>
                        <a:rPr lang="ko-KR" altLang="en-US" sz="1300" dirty="0"/>
                        <a:t>품질 관리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정형 데이터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예약</a:t>
                      </a:r>
                      <a:r>
                        <a:rPr lang="en-US" altLang="ko-KR" sz="1300" dirty="0"/>
                        <a:t>·</a:t>
                      </a:r>
                      <a:r>
                        <a:rPr lang="ko-KR" altLang="en-US" sz="1300" dirty="0"/>
                        <a:t>상담 정보 등</a:t>
                      </a:r>
                      <a:r>
                        <a:rPr lang="en-US" altLang="ko-KR" sz="1300" dirty="0"/>
                        <a:t>) </a:t>
                      </a:r>
                      <a:r>
                        <a:rPr lang="ko-KR" altLang="en-US" sz="1300" dirty="0"/>
                        <a:t>품질 관리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6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이미지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메시지 업로드 시 파일 무결성 및 중복 검증 수행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예약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상담 입력 시 형식 유효성 검사 및 자동 오류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개인정보 포함 데이터 암호화 및 클라우드 백업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예약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상담 정보 주기적 백업 및 로그 기록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추모 이미지 로딩 최적화 및 개인정보 </a:t>
                      </a:r>
                      <a:r>
                        <a:rPr lang="ko-KR" altLang="en-US" sz="1050" dirty="0" err="1"/>
                        <a:t>마스킹</a:t>
                      </a:r>
                      <a:r>
                        <a:rPr lang="ko-KR" altLang="en-US" sz="1050" dirty="0"/>
                        <a:t>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관리자 접근 권한 구분 및 익명화 후 통계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635800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공유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50" dirty="0"/>
                        <a:t>SNS </a:t>
                      </a:r>
                      <a:r>
                        <a:rPr lang="ko-KR" altLang="en-US" sz="1050" dirty="0"/>
                        <a:t>공유 시 사용자 동의 기반 공개 설정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외부 연동 시 </a:t>
                      </a:r>
                      <a:r>
                        <a:rPr lang="en-US" altLang="ko-KR" sz="1050" dirty="0"/>
                        <a:t>API </a:t>
                      </a:r>
                      <a:r>
                        <a:rPr lang="ko-KR" altLang="en-US" sz="1050" dirty="0"/>
                        <a:t>인증키 및 암호화 통신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32951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폐기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서비스 탈퇴 시 이미지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메시지 완전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보존 기간 후 </a:t>
                      </a:r>
                      <a:r>
                        <a:rPr lang="ko-KR" altLang="en-US" sz="1050" dirty="0" err="1"/>
                        <a:t>비식별</a:t>
                      </a:r>
                      <a:r>
                        <a:rPr lang="ko-KR" altLang="en-US" sz="1050" dirty="0"/>
                        <a:t> 처리 및 폐기 이력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8BA76AB-659F-4F01-94E2-A4915365C2B5}"/>
              </a:ext>
            </a:extLst>
          </p:cNvPr>
          <p:cNvSpPr txBox="1"/>
          <p:nvPr/>
        </p:nvSpPr>
        <p:spPr>
          <a:xfrm>
            <a:off x="560070" y="1842828"/>
            <a:ext cx="565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Project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생명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주기별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품질 관리 계획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0CFF39A-11F7-429E-8052-CD806E394581}"/>
              </a:ext>
            </a:extLst>
          </p:cNvPr>
          <p:cNvCxnSpPr>
            <a:cxnSpLocks/>
          </p:cNvCxnSpPr>
          <p:nvPr/>
        </p:nvCxnSpPr>
        <p:spPr>
          <a:xfrm>
            <a:off x="647700" y="2223529"/>
            <a:ext cx="111194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27AD77-7DC2-4750-950C-98F4C2940E57}"/>
              </a:ext>
            </a:extLst>
          </p:cNvPr>
          <p:cNvSpPr txBox="1"/>
          <p:nvPr/>
        </p:nvSpPr>
        <p:spPr>
          <a:xfrm>
            <a:off x="565009" y="2293635"/>
            <a:ext cx="975886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과제는 데이터의 수명 주기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(Life Cycle)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단계별 품질 관리 방안에 중점을 둡니다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Project”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서비스에 필요한 데이터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보호자 정보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예약 내역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기록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추모 이미지 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생성 → 저장 → 활용 → 공유 → 폐기되는 전 과정에서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품질 이슈를 예방하기 위한 구체적인 관리 방안을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NCS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학습 모듈의 기준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(&lt;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1-14&gt;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참고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따라 계획해야 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F63A94-6E69-49B7-89FE-FECF1EB61931}"/>
              </a:ext>
            </a:extLst>
          </p:cNvPr>
          <p:cNvSpPr txBox="1"/>
          <p:nvPr/>
        </p:nvSpPr>
        <p:spPr>
          <a:xfrm>
            <a:off x="569595" y="3048687"/>
            <a:ext cx="565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생명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주기별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품질 관리 방안 계획표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CD65BDF-70C2-42A9-A97F-60D437FA3AFA}"/>
              </a:ext>
            </a:extLst>
          </p:cNvPr>
          <p:cNvCxnSpPr>
            <a:cxnSpLocks/>
          </p:cNvCxnSpPr>
          <p:nvPr/>
        </p:nvCxnSpPr>
        <p:spPr>
          <a:xfrm>
            <a:off x="657225" y="3426139"/>
            <a:ext cx="111194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0D0FD3-F8D4-4C46-8C71-7DF08AEC5E71}"/>
              </a:ext>
            </a:extLst>
          </p:cNvPr>
          <p:cNvSpPr txBox="1"/>
          <p:nvPr/>
        </p:nvSpPr>
        <p:spPr>
          <a:xfrm>
            <a:off x="565009" y="3459588"/>
            <a:ext cx="9617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프로젝트의 주요 데이터 유형을 기준으로 각 수명 주기 별 품질 관리 절차를 구체적으로 기술하고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,NCS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학습 모듈의 품질 관리 기준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정확성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유용성 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맞게 작성하십시오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75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보안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28F3D-4E48-4A9A-934D-AFBFF7FBE785}"/>
              </a:ext>
            </a:extLst>
          </p:cNvPr>
          <p:cNvSpPr txBox="1"/>
          <p:nvPr/>
        </p:nvSpPr>
        <p:spPr>
          <a:xfrm>
            <a:off x="232003" y="1662243"/>
            <a:ext cx="1189530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1. </a:t>
            </a:r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en-US" altLang="ko-KR" sz="1400" b="1" dirty="0">
                <a:solidFill>
                  <a:schemeClr val="bg1"/>
                </a:solidFill>
              </a:rPr>
              <a:t> Project </a:t>
            </a:r>
            <a:r>
              <a:rPr lang="ko-KR" altLang="en-US" sz="1400" b="1" dirty="0">
                <a:solidFill>
                  <a:schemeClr val="bg1"/>
                </a:solidFill>
              </a:rPr>
              <a:t>개인 정보 </a:t>
            </a:r>
            <a:r>
              <a:rPr lang="ko-KR" altLang="en-US" sz="1400" b="1" dirty="0" err="1">
                <a:solidFill>
                  <a:schemeClr val="bg1"/>
                </a:solidFill>
              </a:rPr>
              <a:t>비식별</a:t>
            </a:r>
            <a:r>
              <a:rPr lang="ko-KR" altLang="en-US" sz="1400" b="1" dirty="0">
                <a:solidFill>
                  <a:schemeClr val="bg1"/>
                </a:solidFill>
              </a:rPr>
              <a:t> 조치 계획 보고서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ko-KR" altLang="en-US" sz="1200" b="1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Lastpage</a:t>
            </a:r>
            <a:r>
              <a:rPr lang="en-US" altLang="ko-KR" sz="1200" dirty="0">
                <a:solidFill>
                  <a:schemeClr val="bg1"/>
                </a:solidFill>
              </a:rPr>
              <a:t> Project(</a:t>
            </a:r>
            <a:r>
              <a:rPr lang="ko-KR" altLang="en-US" sz="1200" dirty="0">
                <a:solidFill>
                  <a:schemeClr val="bg1"/>
                </a:solidFill>
              </a:rPr>
              <a:t>반려동물 장례식장 예약 및 관리 시스템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에서 수집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처리되는 개인정보의 보호 및 </a:t>
            </a:r>
            <a:r>
              <a:rPr lang="ko-KR" altLang="en-US" sz="1200" dirty="0" err="1">
                <a:solidFill>
                  <a:schemeClr val="bg1"/>
                </a:solidFill>
              </a:rPr>
              <a:t>비식별</a:t>
            </a:r>
            <a:r>
              <a:rPr lang="ko-KR" altLang="en-US" sz="1200" dirty="0">
                <a:solidFill>
                  <a:schemeClr val="bg1"/>
                </a:solidFill>
              </a:rPr>
              <a:t> 처리를 위한 계획을 제시한다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서비스 이용자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보호자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의 정보를 안전하게 관리하기 위해 필요한 구체적 조치 방안을 아래에 정리하였다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9AB526-67B5-4B60-84A7-74F246386EF8}"/>
              </a:ext>
            </a:extLst>
          </p:cNvPr>
          <p:cNvCxnSpPr>
            <a:cxnSpLocks/>
          </p:cNvCxnSpPr>
          <p:nvPr/>
        </p:nvCxnSpPr>
        <p:spPr>
          <a:xfrm>
            <a:off x="318676" y="2003131"/>
            <a:ext cx="1154283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표 21">
            <a:extLst>
              <a:ext uri="{FF2B5EF4-FFF2-40B4-BE49-F238E27FC236}">
                <a16:creationId xmlns:a16="http://schemas.microsoft.com/office/drawing/2014/main" id="{0973A91B-2866-4230-A9F0-E9452C830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33127"/>
              </p:ext>
            </p:extLst>
          </p:nvPr>
        </p:nvGraphicFramePr>
        <p:xfrm>
          <a:off x="312972" y="2623190"/>
          <a:ext cx="11554241" cy="30296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44677">
                  <a:extLst>
                    <a:ext uri="{9D8B030D-6E8A-4147-A177-3AD203B41FA5}">
                      <a16:colId xmlns:a16="http://schemas.microsoft.com/office/drawing/2014/main" val="1445723481"/>
                    </a:ext>
                  </a:extLst>
                </a:gridCol>
                <a:gridCol w="2062363">
                  <a:extLst>
                    <a:ext uri="{9D8B030D-6E8A-4147-A177-3AD203B41FA5}">
                      <a16:colId xmlns:a16="http://schemas.microsoft.com/office/drawing/2014/main" val="2035797503"/>
                    </a:ext>
                  </a:extLst>
                </a:gridCol>
                <a:gridCol w="2016869">
                  <a:extLst>
                    <a:ext uri="{9D8B030D-6E8A-4147-A177-3AD203B41FA5}">
                      <a16:colId xmlns:a16="http://schemas.microsoft.com/office/drawing/2014/main" val="3085994116"/>
                    </a:ext>
                  </a:extLst>
                </a:gridCol>
                <a:gridCol w="3048050">
                  <a:extLst>
                    <a:ext uri="{9D8B030D-6E8A-4147-A177-3AD203B41FA5}">
                      <a16:colId xmlns:a16="http://schemas.microsoft.com/office/drawing/2014/main" val="2257262026"/>
                    </a:ext>
                  </a:extLst>
                </a:gridCol>
                <a:gridCol w="2282282">
                  <a:extLst>
                    <a:ext uri="{9D8B030D-6E8A-4147-A177-3AD203B41FA5}">
                      <a16:colId xmlns:a16="http://schemas.microsoft.com/office/drawing/2014/main" val="3771425732"/>
                    </a:ext>
                  </a:extLst>
                </a:gridCol>
              </a:tblGrid>
              <a:tr h="4693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수집 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빅데이터 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개인정보 여부</a:t>
                      </a:r>
                      <a:endParaRPr lang="en-US" altLang="ko-KR" sz="12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식별자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민감 정보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NCS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기준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</a:rPr>
                        <a:t>비식별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 조치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bg1"/>
                          </a:solidFill>
                        </a:rPr>
                        <a:t>LastPage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 적용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160358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보호자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가명 처리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데이터 </a:t>
                      </a:r>
                      <a:r>
                        <a:rPr lang="ko-KR" altLang="en-US" sz="1100" dirty="0" err="1"/>
                        <a:t>마스킹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/>
                        <a:t>이름 일부를 홍*동 형태로</a:t>
                      </a:r>
                      <a:endParaRPr lang="en-US" altLang="ko-KR" sz="1100" dirty="0"/>
                    </a:p>
                    <a:p>
                      <a:pPr algn="ctr"/>
                      <a:r>
                        <a:rPr lang="ko-KR" altLang="en-US" sz="1100" dirty="0" err="1"/>
                        <a:t>마스킹하여</a:t>
                      </a:r>
                      <a:r>
                        <a:rPr lang="ko-KR" altLang="en-US" sz="1100" dirty="0"/>
                        <a:t>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25186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보호자 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가명 처리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부분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뒷자리 </a:t>
                      </a: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자리를 ****으로 표시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 010-1234-****)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736953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보호자 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일반화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범주화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구 </a:t>
                      </a:r>
                      <a:r>
                        <a:rPr lang="ko-KR" altLang="en-US" sz="1100" dirty="0" err="1"/>
                        <a:t>단위까지만</a:t>
                      </a:r>
                      <a:r>
                        <a:rPr lang="ko-KR" altLang="en-US" sz="1100" dirty="0"/>
                        <a:t> 저장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서울시 마포구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142235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결제 정보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카드번호 등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민감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부분 삭제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결제 관련 데이터는 별도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서버에 암호화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16198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장례 후기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텍스트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비정형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 포함 가능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자유기입란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텍스트 </a:t>
                      </a:r>
                      <a:r>
                        <a:rPr lang="ko-KR" altLang="en-US" sz="1100" dirty="0" err="1"/>
                        <a:t>마스킹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민감 단어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필터링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이름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연락처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특정 </a:t>
                      </a:r>
                      <a:r>
                        <a:rPr lang="ko-KR" altLang="en-US" sz="1100" dirty="0" err="1"/>
                        <a:t>장소명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자동 필터링 후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708337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이용자 연령대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일반화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연령을 </a:t>
                      </a:r>
                      <a:r>
                        <a:rPr lang="en-US" altLang="ko-KR" sz="1100" dirty="0"/>
                        <a:t>10</a:t>
                      </a:r>
                      <a:r>
                        <a:rPr lang="ko-KR" altLang="en-US" sz="1100" dirty="0"/>
                        <a:t>년 단위로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구간화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 30~39</a:t>
                      </a:r>
                      <a:r>
                        <a:rPr lang="ko-KR" altLang="en-US" sz="1100" dirty="0"/>
                        <a:t>세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78599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541DE28-4618-473B-B0D8-BCD7635DC798}"/>
              </a:ext>
            </a:extLst>
          </p:cNvPr>
          <p:cNvSpPr txBox="1"/>
          <p:nvPr/>
        </p:nvSpPr>
        <p:spPr>
          <a:xfrm>
            <a:off x="232003" y="5819477"/>
            <a:ext cx="118953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개인정보 관리 요건 요약 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본 시스템은 「개인정보 보호법」 및 「</a:t>
            </a:r>
            <a:r>
              <a:rPr lang="ko-KR" altLang="en-US" sz="1200" dirty="0" err="1">
                <a:solidFill>
                  <a:schemeClr val="bg1"/>
                </a:solidFill>
              </a:rPr>
              <a:t>정보통신망법」에</a:t>
            </a:r>
            <a:r>
              <a:rPr lang="ko-KR" altLang="en-US" sz="1200" dirty="0">
                <a:solidFill>
                  <a:schemeClr val="bg1"/>
                </a:solidFill>
              </a:rPr>
              <a:t> 따라 최소한의 개인정보만 수집하며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  <a:r>
              <a:rPr lang="ko-KR" altLang="en-US" sz="1200" dirty="0">
                <a:solidFill>
                  <a:schemeClr val="bg1"/>
                </a:solidFill>
              </a:rPr>
              <a:t>서비스 운영 및 통계 분석 시에는 반드시 </a:t>
            </a:r>
            <a:r>
              <a:rPr lang="ko-KR" altLang="en-US" sz="1200" dirty="0" err="1">
                <a:solidFill>
                  <a:schemeClr val="bg1"/>
                </a:solidFill>
              </a:rPr>
              <a:t>비식별</a:t>
            </a:r>
            <a:r>
              <a:rPr lang="ko-KR" altLang="en-US" sz="1200" dirty="0">
                <a:solidFill>
                  <a:schemeClr val="bg1"/>
                </a:solidFill>
              </a:rPr>
              <a:t> 처리 후 활용한다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모든 개인정보는 암호화 저장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전송되며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분석 목적의 데이터는 재식별이 불가능하도록 별도의 데이터베이스에서 관리된다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F746D57-C2A2-4395-86B0-0C20E985219A}"/>
              </a:ext>
            </a:extLst>
          </p:cNvPr>
          <p:cNvCxnSpPr>
            <a:cxnSpLocks/>
          </p:cNvCxnSpPr>
          <p:nvPr/>
        </p:nvCxnSpPr>
        <p:spPr>
          <a:xfrm>
            <a:off x="318676" y="6151976"/>
            <a:ext cx="1154283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21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보안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9F1874E-4567-4EA8-9185-F97D71334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42016"/>
              </p:ext>
            </p:extLst>
          </p:nvPr>
        </p:nvGraphicFramePr>
        <p:xfrm>
          <a:off x="573547" y="2796962"/>
          <a:ext cx="11027427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41148">
                  <a:extLst>
                    <a:ext uri="{9D8B030D-6E8A-4147-A177-3AD203B41FA5}">
                      <a16:colId xmlns:a16="http://schemas.microsoft.com/office/drawing/2014/main" val="3903911090"/>
                    </a:ext>
                  </a:extLst>
                </a:gridCol>
                <a:gridCol w="1599359">
                  <a:extLst>
                    <a:ext uri="{9D8B030D-6E8A-4147-A177-3AD203B41FA5}">
                      <a16:colId xmlns:a16="http://schemas.microsoft.com/office/drawing/2014/main" val="139078065"/>
                    </a:ext>
                  </a:extLst>
                </a:gridCol>
                <a:gridCol w="2313051">
                  <a:extLst>
                    <a:ext uri="{9D8B030D-6E8A-4147-A177-3AD203B41FA5}">
                      <a16:colId xmlns:a16="http://schemas.microsoft.com/office/drawing/2014/main" val="3526349659"/>
                    </a:ext>
                  </a:extLst>
                </a:gridCol>
                <a:gridCol w="1447829">
                  <a:extLst>
                    <a:ext uri="{9D8B030D-6E8A-4147-A177-3AD203B41FA5}">
                      <a16:colId xmlns:a16="http://schemas.microsoft.com/office/drawing/2014/main" val="2233504506"/>
                    </a:ext>
                  </a:extLst>
                </a:gridCol>
                <a:gridCol w="958885">
                  <a:extLst>
                    <a:ext uri="{9D8B030D-6E8A-4147-A177-3AD203B41FA5}">
                      <a16:colId xmlns:a16="http://schemas.microsoft.com/office/drawing/2014/main" val="3729632315"/>
                    </a:ext>
                  </a:extLst>
                </a:gridCol>
                <a:gridCol w="1736522">
                  <a:extLst>
                    <a:ext uri="{9D8B030D-6E8A-4147-A177-3AD203B41FA5}">
                      <a16:colId xmlns:a16="http://schemas.microsoft.com/office/drawing/2014/main" val="855647679"/>
                    </a:ext>
                  </a:extLst>
                </a:gridCol>
                <a:gridCol w="2030633">
                  <a:extLst>
                    <a:ext uri="{9D8B030D-6E8A-4147-A177-3AD203B41FA5}">
                      <a16:colId xmlns:a16="http://schemas.microsoft.com/office/drawing/2014/main" val="3609783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수명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보안 대상 자산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주요 위험 요소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위협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취약점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발생 가능성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손실 영향도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위험 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 관점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대응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수집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웹 예약 페이지 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입력 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사용자 입력 데이터의 전송 중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유출 </a:t>
                      </a:r>
                      <a:r>
                        <a:rPr lang="en-US" altLang="ko-KR" sz="1100" dirty="0"/>
                        <a:t>(HTTPS </a:t>
                      </a:r>
                      <a:r>
                        <a:rPr lang="ko-KR" altLang="en-US" sz="1100" dirty="0"/>
                        <a:t>미적용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인증 미비 등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중간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기술적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데이터 수집 및 전송 시 </a:t>
                      </a:r>
                      <a:r>
                        <a:rPr lang="en-US" altLang="ko-KR" sz="1100" b="0" dirty="0"/>
                        <a:t>SSL(HTTPS)</a:t>
                      </a:r>
                      <a:r>
                        <a:rPr lang="ko-KR" altLang="en-US" sz="1100" b="0" dirty="0"/>
                        <a:t> 암호화 적용</a:t>
                      </a:r>
                      <a:r>
                        <a:rPr lang="en-US" altLang="ko-KR" sz="1100" b="0" dirty="0"/>
                        <a:t>, reCAPTCHA</a:t>
                      </a:r>
                      <a:r>
                        <a:rPr lang="ko-KR" altLang="en-US" sz="1100" b="0" dirty="0"/>
                        <a:t> 도입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관리자</a:t>
                      </a:r>
                      <a:endParaRPr lang="en-US" altLang="ko-KR" sz="11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인증 절차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169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DB </a:t>
                      </a:r>
                      <a:r>
                        <a:rPr lang="ko-KR" altLang="en-US" sz="1100" dirty="0"/>
                        <a:t>서버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예약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회원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개인정보 저장 시 암호화 미흡</a:t>
                      </a:r>
                      <a:r>
                        <a:rPr lang="en-US" altLang="ko-KR" sz="1100" dirty="0"/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접근 권한 과다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기술적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개인정보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DB </a:t>
                      </a:r>
                      <a:r>
                        <a:rPr lang="ko-KR" altLang="en-US" sz="1100" b="0" dirty="0"/>
                        <a:t>내 개인정보 필드 </a:t>
                      </a:r>
                      <a:r>
                        <a:rPr lang="en-US" altLang="ko-KR" sz="1100" b="0" dirty="0"/>
                        <a:t>AES256 </a:t>
                      </a:r>
                      <a:r>
                        <a:rPr lang="ko-KR" altLang="en-US" sz="1100" b="0" dirty="0"/>
                        <a:t>암호화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비밀번호 해시 처리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en-US" altLang="ko-KR" sz="1100" b="0" dirty="0" err="1"/>
                        <a:t>BCrypt</a:t>
                      </a:r>
                      <a:r>
                        <a:rPr lang="en-US" altLang="ko-KR" sz="1100" b="0" dirty="0"/>
                        <a:t>), </a:t>
                      </a:r>
                      <a:r>
                        <a:rPr lang="ko-KR" altLang="en-US" sz="1100" b="0" dirty="0"/>
                        <a:t>접근권한 최소화 및 로그 기록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48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내부 관리자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운영자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로그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내부 인력에 의한 정보 유출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분석용 데이터의 </a:t>
                      </a:r>
                      <a:r>
                        <a:rPr lang="ko-KR" altLang="en-US" sz="1100" dirty="0" err="1"/>
                        <a:t>재식별</a:t>
                      </a:r>
                      <a:r>
                        <a:rPr lang="ko-KR" altLang="en-US" sz="1100" dirty="0"/>
                        <a:t> 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중간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인적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관리적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내부 인원 대상 보안 의식 교육 및 데이터 접근 권한 분리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분석용 데이터는 비식별화</a:t>
                      </a:r>
                      <a:endParaRPr lang="en-US" altLang="ko-KR" sz="11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처리 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87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웹 서비스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예약 관리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· </a:t>
                      </a:r>
                      <a:r>
                        <a:rPr lang="ko-KR" altLang="en-US" sz="1100" dirty="0"/>
                        <a:t>후기 게시 등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외부 공격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웹 해킹</a:t>
                      </a:r>
                      <a:r>
                        <a:rPr lang="en-US" altLang="ko-KR" sz="1100" dirty="0"/>
                        <a:t>, SQL </a:t>
                      </a:r>
                      <a:r>
                        <a:rPr lang="ko-KR" altLang="en-US" sz="1100" dirty="0" err="1"/>
                        <a:t>인젝션</a:t>
                      </a:r>
                      <a:r>
                        <a:rPr lang="en-US" altLang="ko-KR" sz="1100" dirty="0"/>
                        <a:t>, XSS </a:t>
                      </a:r>
                      <a:r>
                        <a:rPr lang="ko-KR" altLang="en-US" sz="1100" dirty="0"/>
                        <a:t>등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으로 인한 서비스 마비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및 데이터 손실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기술적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관리적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정기 보안 점검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웹 방화벽</a:t>
                      </a:r>
                      <a:r>
                        <a:rPr lang="en-US" altLang="ko-KR" sz="1100" b="0" dirty="0"/>
                        <a:t>(WAF)</a:t>
                      </a:r>
                      <a:r>
                        <a:rPr lang="ko-KR" altLang="en-US" sz="1100" b="0" dirty="0"/>
                        <a:t> 적용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입력값</a:t>
                      </a:r>
                      <a:r>
                        <a:rPr lang="ko-KR" altLang="en-US" sz="1100" b="0" dirty="0"/>
                        <a:t> 유효성 검증 강화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보안 로그</a:t>
                      </a:r>
                      <a:endParaRPr lang="en-US" altLang="ko-KR" sz="1100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/>
                        <a:t>모니터링 수행</a:t>
                      </a:r>
                      <a:endParaRPr lang="ko-KR" altLang="en-US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35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9215DC-24CE-43CA-A3FE-B2F2319EA836}"/>
              </a:ext>
            </a:extLst>
          </p:cNvPr>
          <p:cNvSpPr txBox="1"/>
          <p:nvPr/>
        </p:nvSpPr>
        <p:spPr>
          <a:xfrm>
            <a:off x="522214" y="1766629"/>
            <a:ext cx="1113009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2. </a:t>
            </a:r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en-US" altLang="ko-KR" sz="1400" b="1" dirty="0">
                <a:solidFill>
                  <a:schemeClr val="bg1"/>
                </a:solidFill>
              </a:rPr>
              <a:t> Project</a:t>
            </a:r>
            <a:r>
              <a:rPr lang="ko-KR" altLang="en-US" sz="1400" b="1" dirty="0">
                <a:solidFill>
                  <a:schemeClr val="bg1"/>
                </a:solidFill>
              </a:rPr>
              <a:t> 수명 </a:t>
            </a:r>
            <a:r>
              <a:rPr lang="ko-KR" altLang="en-US" sz="1400" b="1" dirty="0" err="1">
                <a:solidFill>
                  <a:schemeClr val="bg1"/>
                </a:solidFill>
              </a:rPr>
              <a:t>주기별</a:t>
            </a:r>
            <a:r>
              <a:rPr lang="ko-KR" altLang="en-US" sz="1400" b="1" dirty="0">
                <a:solidFill>
                  <a:schemeClr val="bg1"/>
                </a:solidFill>
              </a:rPr>
              <a:t> 보안 위험 요소 분석 및 대응 방안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ko-KR" altLang="en-US" sz="1400" b="1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본 시스템은 서비스 이용자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보호자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의 개인정보를 포함한 예약 및 장례 데이터 등을 처리하므로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각 데이터 생명주기 단계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수집</a:t>
            </a:r>
            <a:r>
              <a:rPr lang="en-US" altLang="ko-KR" sz="1200" dirty="0">
                <a:solidFill>
                  <a:schemeClr val="bg1"/>
                </a:solidFill>
              </a:rPr>
              <a:t>–</a:t>
            </a:r>
            <a:r>
              <a:rPr lang="ko-KR" altLang="en-US" sz="1200" dirty="0">
                <a:solidFill>
                  <a:schemeClr val="bg1"/>
                </a:solidFill>
              </a:rPr>
              <a:t>저장</a:t>
            </a:r>
            <a:r>
              <a:rPr lang="en-US" altLang="ko-KR" sz="1200" dirty="0">
                <a:solidFill>
                  <a:schemeClr val="bg1"/>
                </a:solidFill>
              </a:rPr>
              <a:t>–</a:t>
            </a:r>
            <a:r>
              <a:rPr lang="ko-KR" altLang="en-US" sz="1200" dirty="0">
                <a:solidFill>
                  <a:schemeClr val="bg1"/>
                </a:solidFill>
              </a:rPr>
              <a:t>분석</a:t>
            </a:r>
            <a:r>
              <a:rPr lang="en-US" altLang="ko-KR" sz="1200" dirty="0">
                <a:solidFill>
                  <a:schemeClr val="bg1"/>
                </a:solidFill>
              </a:rPr>
              <a:t>–</a:t>
            </a:r>
            <a:r>
              <a:rPr lang="ko-KR" altLang="en-US" sz="1200" dirty="0">
                <a:solidFill>
                  <a:schemeClr val="bg1"/>
                </a:solidFill>
              </a:rPr>
              <a:t>활용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에서 발생할 수 있는 보안 위험요소를 사전에 식별하고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이에 대한 기술적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관리적 대응책을 수립한다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5C134D6-3BD2-45B6-B2B3-320E11912CF1}"/>
              </a:ext>
            </a:extLst>
          </p:cNvPr>
          <p:cNvCxnSpPr>
            <a:cxnSpLocks/>
          </p:cNvCxnSpPr>
          <p:nvPr/>
        </p:nvCxnSpPr>
        <p:spPr>
          <a:xfrm>
            <a:off x="573896" y="2137355"/>
            <a:ext cx="110442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58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조직 수립하기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530335-5458-4AA9-9CE2-9CE43315749A}"/>
              </a:ext>
            </a:extLst>
          </p:cNvPr>
          <p:cNvCxnSpPr>
            <a:cxnSpLocks/>
          </p:cNvCxnSpPr>
          <p:nvPr/>
        </p:nvCxnSpPr>
        <p:spPr>
          <a:xfrm>
            <a:off x="720135" y="2182254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44A1EA-55E6-4F06-A727-EF9AFBD694E3}"/>
              </a:ext>
            </a:extLst>
          </p:cNvPr>
          <p:cNvSpPr txBox="1"/>
          <p:nvPr/>
        </p:nvSpPr>
        <p:spPr>
          <a:xfrm>
            <a:off x="681454" y="2223821"/>
            <a:ext cx="11027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과제는 반려동물 장례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통합 플랫폼의 역할과 책임을 각 업무에 할당하는 단계에 중점을 둡니다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팀 구성원은 서비스 운영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 개발 등 핵심 업무를 중심으로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RACI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기준에 따라 역할을 구분합니다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AA858-01D5-4FB6-BFE9-9CEB50FDD5F1}"/>
              </a:ext>
            </a:extLst>
          </p:cNvPr>
          <p:cNvSpPr txBox="1"/>
          <p:nvPr/>
        </p:nvSpPr>
        <p:spPr>
          <a:xfrm>
            <a:off x="681454" y="3036457"/>
            <a:ext cx="1102742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조직 구성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가정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데이터 기반 추모 서비스 플랫폼으로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다음 네가지 핵심 직무를 중심으로 운영된다고 가정합니다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CF53A100-AC2B-4C6C-B0D2-DE28C8770FE2}"/>
              </a:ext>
            </a:extLst>
          </p:cNvPr>
          <p:cNvGraphicFramePr>
            <a:graphicFrameLocks noGrp="1"/>
          </p:cNvGraphicFramePr>
          <p:nvPr/>
        </p:nvGraphicFramePr>
        <p:xfrm>
          <a:off x="758816" y="3821933"/>
          <a:ext cx="10674368" cy="2370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37184">
                  <a:extLst>
                    <a:ext uri="{9D8B030D-6E8A-4147-A177-3AD203B41FA5}">
                      <a16:colId xmlns:a16="http://schemas.microsoft.com/office/drawing/2014/main" val="1422211651"/>
                    </a:ext>
                  </a:extLst>
                </a:gridCol>
                <a:gridCol w="5337184">
                  <a:extLst>
                    <a:ext uri="{9D8B030D-6E8A-4147-A177-3AD203B41FA5}">
                      <a16:colId xmlns:a16="http://schemas.microsoft.com/office/drawing/2014/main" val="288969016"/>
                    </a:ext>
                  </a:extLst>
                </a:gridCol>
              </a:tblGrid>
              <a:tr h="474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직무 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NCS </a:t>
                      </a:r>
                      <a:r>
                        <a:rPr lang="ko-KR" altLang="en-US" sz="1200" b="1" dirty="0"/>
                        <a:t>직무 역할 및 개발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76414"/>
                  </a:ext>
                </a:extLst>
              </a:tr>
              <a:tr h="474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 관리자</a:t>
                      </a:r>
                      <a:r>
                        <a:rPr lang="en-US" altLang="ko-KR" sz="1200" b="1" dirty="0"/>
                        <a:t>(PM)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플랫폼 전체 운영 및 서비스 품질 총괄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각 모듈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장례예약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상담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 err="1"/>
                        <a:t>굿즈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커뮤니티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진행 일정 및 리스크 관리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최종 의사결정 담당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242946"/>
                  </a:ext>
                </a:extLst>
              </a:tr>
              <a:tr h="474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서비스 기획자</a:t>
                      </a:r>
                      <a:r>
                        <a:rPr lang="en-US" altLang="ko-KR" sz="1200" b="1" dirty="0"/>
                        <a:t>(Planner)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서비스 요구사항 분석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사용자 경험</a:t>
                      </a:r>
                      <a:r>
                        <a:rPr lang="en-US" altLang="ko-KR" sz="1200" b="0" dirty="0"/>
                        <a:t>(UX/UI) </a:t>
                      </a:r>
                      <a:r>
                        <a:rPr lang="ko-KR" altLang="en-US" sz="1200" b="0" dirty="0"/>
                        <a:t>설계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결제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상담 프로세스 설계 및 신규 기능 제안 담당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946139"/>
                  </a:ext>
                </a:extLst>
              </a:tr>
              <a:tr h="474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데이터 분석가</a:t>
                      </a:r>
                      <a:r>
                        <a:rPr lang="en-US" altLang="ko-KR" sz="1200" b="1" dirty="0"/>
                        <a:t>(Analyst)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상담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결제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커뮤니티 로그 기반 데이터 수집 및 분석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이용자 행동 통계 및 개선 인사이트 도출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356471"/>
                  </a:ext>
                </a:extLst>
              </a:tr>
              <a:tr h="474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백엔드</a:t>
                      </a:r>
                      <a:r>
                        <a:rPr lang="ko-KR" altLang="en-US" sz="1200" b="1" dirty="0"/>
                        <a:t> 엔지니어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en-US" altLang="ko-KR" sz="1200" b="1" dirty="0" err="1"/>
                        <a:t>Enginner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장례 예약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상담 매칭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결제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커뮤니티 등 각 기능의 서버 로직 설계 및 데이터 연동 구현 담당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79613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6ADFDDF-28BA-430E-BACC-41B1821FADB5}"/>
              </a:ext>
            </a:extLst>
          </p:cNvPr>
          <p:cNvSpPr txBox="1"/>
          <p:nvPr/>
        </p:nvSpPr>
        <p:spPr>
          <a:xfrm>
            <a:off x="681454" y="1767969"/>
            <a:ext cx="110274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조직 역할 및 책임 할당표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(RACI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407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조직 수립하기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530335-5458-4AA9-9CE2-9CE43315749A}"/>
              </a:ext>
            </a:extLst>
          </p:cNvPr>
          <p:cNvCxnSpPr>
            <a:cxnSpLocks/>
          </p:cNvCxnSpPr>
          <p:nvPr/>
        </p:nvCxnSpPr>
        <p:spPr>
          <a:xfrm>
            <a:off x="758818" y="2609065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FAA858-01D5-4FB6-BFE9-9CEB50FDD5F1}"/>
              </a:ext>
            </a:extLst>
          </p:cNvPr>
          <p:cNvSpPr txBox="1"/>
          <p:nvPr/>
        </p:nvSpPr>
        <p:spPr>
          <a:xfrm>
            <a:off x="720135" y="2181697"/>
            <a:ext cx="110274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핵심 업무의 역할 및 책임 할당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(RACI)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분석표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DA15EB82-207D-4AFC-AB4C-C69144B135F8}"/>
              </a:ext>
            </a:extLst>
          </p:cNvPr>
          <p:cNvGraphicFramePr>
            <a:graphicFrameLocks noGrp="1"/>
          </p:cNvGraphicFramePr>
          <p:nvPr/>
        </p:nvGraphicFramePr>
        <p:xfrm>
          <a:off x="758816" y="2805193"/>
          <a:ext cx="10674370" cy="34518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4874">
                  <a:extLst>
                    <a:ext uri="{9D8B030D-6E8A-4147-A177-3AD203B41FA5}">
                      <a16:colId xmlns:a16="http://schemas.microsoft.com/office/drawing/2014/main" val="19974226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3810875908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223032456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1507582885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2087376777"/>
                    </a:ext>
                  </a:extLst>
                </a:gridCol>
              </a:tblGrid>
              <a:tr h="5753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업무 항목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en-US" altLang="ko-KR" sz="1200" b="1" dirty="0" err="1"/>
                        <a:t>Lastpage</a:t>
                      </a:r>
                      <a:r>
                        <a:rPr lang="en-US" altLang="ko-KR" sz="1200" b="1" dirty="0"/>
                        <a:t> Project)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PM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서비스 기획자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데이터 분석가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백엔드</a:t>
                      </a:r>
                      <a:r>
                        <a:rPr lang="ko-KR" altLang="en-US" sz="1200" b="1" dirty="0"/>
                        <a:t> 엔지니어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711045"/>
                  </a:ext>
                </a:extLst>
              </a:tr>
              <a:tr h="575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1. </a:t>
                      </a:r>
                      <a:r>
                        <a:rPr lang="ko-KR" altLang="en-US" sz="1200" b="1" dirty="0"/>
                        <a:t>반려동물 장례 예약 및 상담 서비스 전략 수립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61213"/>
                  </a:ext>
                </a:extLst>
              </a:tr>
              <a:tr h="575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2. </a:t>
                      </a:r>
                      <a:r>
                        <a:rPr lang="ko-KR" altLang="en-US" sz="1200" b="1" dirty="0"/>
                        <a:t>상담 매칭 시스템 및 결제 모듈 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I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R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564490"/>
                  </a:ext>
                </a:extLst>
              </a:tr>
              <a:tr h="575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3. </a:t>
                      </a:r>
                      <a:r>
                        <a:rPr lang="ko-KR" altLang="en-US" sz="1200" b="1" dirty="0"/>
                        <a:t>사용자 행동 데이터 분석 및 리포트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I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858310"/>
                  </a:ext>
                </a:extLst>
              </a:tr>
              <a:tr h="575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4. </a:t>
                      </a:r>
                      <a:r>
                        <a:rPr lang="ko-KR" altLang="en-US" sz="1200" b="1" dirty="0" err="1"/>
                        <a:t>굿즈</a:t>
                      </a:r>
                      <a:r>
                        <a:rPr lang="ko-KR" altLang="en-US" sz="1200" b="1" dirty="0"/>
                        <a:t> 주문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배송 연동 및 커뮤니티 확장 기획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182027"/>
                  </a:ext>
                </a:extLst>
              </a:tr>
              <a:tr h="575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5. </a:t>
                      </a:r>
                      <a:r>
                        <a:rPr lang="ko-KR" altLang="en-US" sz="1200" b="1" dirty="0"/>
                        <a:t>사용자 만족도</a:t>
                      </a:r>
                      <a:r>
                        <a:rPr lang="en-US" altLang="ko-KR" sz="1200" b="1" dirty="0"/>
                        <a:t>(KPI) </a:t>
                      </a:r>
                      <a:r>
                        <a:rPr lang="ko-KR" altLang="en-US" sz="1200" b="1" dirty="0"/>
                        <a:t>추적 및 개선 전략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I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93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47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조직 수립하기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F8B0E-C00C-46B9-B70E-22AAADAAD48D}"/>
              </a:ext>
            </a:extLst>
          </p:cNvPr>
          <p:cNvSpPr txBox="1"/>
          <p:nvPr/>
        </p:nvSpPr>
        <p:spPr>
          <a:xfrm>
            <a:off x="758816" y="2050120"/>
            <a:ext cx="10793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과제는 조직 구성원의 역량 강화를 위해 데이터 기반 서비스의 분석 및 운영 인력을 대상으로 한 역량 모델 개발 및 교육 체계 설계 단계에 중점을 둡니다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Project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핵심 인력인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분석가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직무 역량을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NCS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태도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따라 정의하고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이를 강화하기 위해 교육 체계 및 평가 지표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(KPI)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제시합니다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FA1B7BC-0A2C-411E-8280-150089792A6A}"/>
              </a:ext>
            </a:extLst>
          </p:cNvPr>
          <p:cNvCxnSpPr>
            <a:cxnSpLocks/>
          </p:cNvCxnSpPr>
          <p:nvPr/>
        </p:nvCxnSpPr>
        <p:spPr>
          <a:xfrm>
            <a:off x="788240" y="1989489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FCDE88-A3CE-4F12-8FFA-D77489112E38}"/>
              </a:ext>
            </a:extLst>
          </p:cNvPr>
          <p:cNvSpPr txBox="1"/>
          <p:nvPr/>
        </p:nvSpPr>
        <p:spPr>
          <a:xfrm>
            <a:off x="720135" y="2907085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Project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데이터 분석가 직무 역량 및 교육 체계 </a:t>
            </a:r>
            <a:r>
              <a:rPr kumimoji="0" lang="ko-KR" alt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설계표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D7D03FD6-1641-47A8-ACB3-AC260C45D50A}"/>
              </a:ext>
            </a:extLst>
          </p:cNvPr>
          <p:cNvGraphicFramePr>
            <a:graphicFrameLocks noGrp="1"/>
          </p:cNvGraphicFramePr>
          <p:nvPr/>
        </p:nvGraphicFramePr>
        <p:xfrm>
          <a:off x="720135" y="3334073"/>
          <a:ext cx="10644945" cy="3011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48315">
                  <a:extLst>
                    <a:ext uri="{9D8B030D-6E8A-4147-A177-3AD203B41FA5}">
                      <a16:colId xmlns:a16="http://schemas.microsoft.com/office/drawing/2014/main" val="597931880"/>
                    </a:ext>
                  </a:extLst>
                </a:gridCol>
                <a:gridCol w="3548315">
                  <a:extLst>
                    <a:ext uri="{9D8B030D-6E8A-4147-A177-3AD203B41FA5}">
                      <a16:colId xmlns:a16="http://schemas.microsoft.com/office/drawing/2014/main" val="3141331000"/>
                    </a:ext>
                  </a:extLst>
                </a:gridCol>
                <a:gridCol w="3548315">
                  <a:extLst>
                    <a:ext uri="{9D8B030D-6E8A-4147-A177-3AD203B41FA5}">
                      <a16:colId xmlns:a16="http://schemas.microsoft.com/office/drawing/2014/main" val="1202545342"/>
                    </a:ext>
                  </a:extLst>
                </a:gridCol>
              </a:tblGrid>
              <a:tr h="752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데이터 분석가</a:t>
                      </a:r>
                      <a:r>
                        <a:rPr lang="en-US" altLang="ko-KR" sz="1200" b="1" dirty="0"/>
                        <a:t>(Analyst) </a:t>
                      </a:r>
                      <a:r>
                        <a:rPr lang="ko-KR" altLang="en-US" sz="1200" b="1" dirty="0"/>
                        <a:t>직무 역량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역량 교육 과정 설계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407580"/>
                  </a:ext>
                </a:extLst>
              </a:tr>
              <a:tr h="752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지식</a:t>
                      </a:r>
                      <a:r>
                        <a:rPr lang="en-US" altLang="ko-KR" sz="1200" b="1" dirty="0"/>
                        <a:t>(Knowledge)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상담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결제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예약 데이터의 패턴 분석 및 통계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기본 교육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데이터 분석 및 시각화 입문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en-US" altLang="ko-KR" sz="1200" b="0" dirty="0"/>
                        <a:t>(Python, Excel, Tableau)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133944"/>
                  </a:ext>
                </a:extLst>
              </a:tr>
              <a:tr h="752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스킬</a:t>
                      </a:r>
                      <a:r>
                        <a:rPr lang="en-US" altLang="ko-KR" sz="1200" b="1" dirty="0"/>
                        <a:t>(Skill)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사용자 피드백 기반 분석 모델링 능력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전문 교육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사용자 행동 로그 분석 및 예측 모델 실습</a:t>
                      </a:r>
                      <a:r>
                        <a:rPr lang="en-US" altLang="ko-KR" sz="1200" b="0" dirty="0"/>
                        <a:t>(Scikit-learn, Pandas)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55948"/>
                  </a:ext>
                </a:extLst>
              </a:tr>
              <a:tr h="752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태도</a:t>
                      </a:r>
                      <a:r>
                        <a:rPr lang="en-US" altLang="ko-KR" sz="1200" b="1" dirty="0"/>
                        <a:t>(Attitude)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서비스 품질 개선을 위한 통합적 사고 및 문제 </a:t>
                      </a:r>
                      <a:r>
                        <a:rPr lang="ko-KR" altLang="en-US" sz="1200" b="0" dirty="0" err="1"/>
                        <a:t>해결력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향상 교육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사용자 만족도 개선 워크숍 및 데이터 윤리 실천 교육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68521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042E619-B193-4C77-A78C-5D3AE5ACAABB}"/>
              </a:ext>
            </a:extLst>
          </p:cNvPr>
          <p:cNvSpPr txBox="1"/>
          <p:nvPr/>
        </p:nvSpPr>
        <p:spPr>
          <a:xfrm>
            <a:off x="720135" y="1619078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분석가를 위한 역량 교육 체계 설계 보고서</a:t>
            </a:r>
          </a:p>
        </p:txBody>
      </p:sp>
    </p:spTree>
    <p:extLst>
      <p:ext uri="{BB962C8B-B14F-4D97-AF65-F5344CB8AC3E}">
        <p14:creationId xmlns:p14="http://schemas.microsoft.com/office/powerpoint/2010/main" val="108302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조직 수립하기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FA1B7BC-0A2C-411E-8280-150089792A6A}"/>
              </a:ext>
            </a:extLst>
          </p:cNvPr>
          <p:cNvCxnSpPr>
            <a:cxnSpLocks/>
          </p:cNvCxnSpPr>
          <p:nvPr/>
        </p:nvCxnSpPr>
        <p:spPr>
          <a:xfrm>
            <a:off x="758816" y="2373577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FCDE88-A3CE-4F12-8FFA-D77489112E38}"/>
              </a:ext>
            </a:extLst>
          </p:cNvPr>
          <p:cNvSpPr txBox="1"/>
          <p:nvPr/>
        </p:nvSpPr>
        <p:spPr>
          <a:xfrm>
            <a:off x="720135" y="2040647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조직 구성원의 활동 평가 기준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(KPI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예시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5E6859B-A2FC-403D-8EBD-920B7EC14630}"/>
              </a:ext>
            </a:extLst>
          </p:cNvPr>
          <p:cNvGraphicFramePr>
            <a:graphicFrameLocks noGrp="1"/>
          </p:cNvGraphicFramePr>
          <p:nvPr/>
        </p:nvGraphicFramePr>
        <p:xfrm>
          <a:off x="758819" y="2584879"/>
          <a:ext cx="10674365" cy="318825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4873">
                  <a:extLst>
                    <a:ext uri="{9D8B030D-6E8A-4147-A177-3AD203B41FA5}">
                      <a16:colId xmlns:a16="http://schemas.microsoft.com/office/drawing/2014/main" val="3876793574"/>
                    </a:ext>
                  </a:extLst>
                </a:gridCol>
                <a:gridCol w="2134873">
                  <a:extLst>
                    <a:ext uri="{9D8B030D-6E8A-4147-A177-3AD203B41FA5}">
                      <a16:colId xmlns:a16="http://schemas.microsoft.com/office/drawing/2014/main" val="1305870343"/>
                    </a:ext>
                  </a:extLst>
                </a:gridCol>
                <a:gridCol w="2134873">
                  <a:extLst>
                    <a:ext uri="{9D8B030D-6E8A-4147-A177-3AD203B41FA5}">
                      <a16:colId xmlns:a16="http://schemas.microsoft.com/office/drawing/2014/main" val="1845023694"/>
                    </a:ext>
                  </a:extLst>
                </a:gridCol>
                <a:gridCol w="2134873">
                  <a:extLst>
                    <a:ext uri="{9D8B030D-6E8A-4147-A177-3AD203B41FA5}">
                      <a16:colId xmlns:a16="http://schemas.microsoft.com/office/drawing/2014/main" val="4043212877"/>
                    </a:ext>
                  </a:extLst>
                </a:gridCol>
                <a:gridCol w="2134873">
                  <a:extLst>
                    <a:ext uri="{9D8B030D-6E8A-4147-A177-3AD203B41FA5}">
                      <a16:colId xmlns:a16="http://schemas.microsoft.com/office/drawing/2014/main" val="785678002"/>
                    </a:ext>
                  </a:extLst>
                </a:gridCol>
              </a:tblGrid>
              <a:tr h="313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관점</a:t>
                      </a:r>
                      <a:r>
                        <a:rPr lang="en-US" altLang="ko-KR" sz="1200" b="1" dirty="0"/>
                        <a:t>(BSC)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KPI(</a:t>
                      </a:r>
                      <a:r>
                        <a:rPr lang="ko-KR" altLang="en-US" sz="1200" b="1" dirty="0"/>
                        <a:t>핵심 성과 지표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KPI </a:t>
                      </a:r>
                      <a:r>
                        <a:rPr lang="ko-KR" altLang="en-US" sz="1200" b="1" dirty="0"/>
                        <a:t>목표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예시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가중치</a:t>
                      </a:r>
                      <a:r>
                        <a:rPr lang="en-US" altLang="ko-KR" sz="1200" b="1" dirty="0"/>
                        <a:t>(%)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  <a:r>
                        <a:rPr lang="en-US" altLang="ko-KR" sz="1200" b="1" dirty="0"/>
                        <a:t>(S/A/B)</a:t>
                      </a:r>
                      <a:endParaRPr lang="ko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500977"/>
                  </a:ext>
                </a:extLst>
              </a:tr>
              <a:tr h="49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사용자 만족도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90% </a:t>
                      </a:r>
                      <a:r>
                        <a:rPr lang="ko-KR" altLang="en-US" sz="1200" b="0" dirty="0"/>
                        <a:t>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35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S:≥95%</a:t>
                      </a:r>
                    </a:p>
                    <a:p>
                      <a:pPr algn="ctr" latinLnBrk="1"/>
                      <a:r>
                        <a:rPr lang="en-US" altLang="ko-KR" sz="1200" b="0" dirty="0"/>
                        <a:t>A:≥90%</a:t>
                      </a:r>
                    </a:p>
                    <a:p>
                      <a:pPr algn="ctr" latinLnBrk="1"/>
                      <a:r>
                        <a:rPr lang="en-US" altLang="ko-KR" sz="1200" b="0" dirty="0"/>
                        <a:t>B:≥85%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4887"/>
                  </a:ext>
                </a:extLst>
              </a:tr>
              <a:tr h="49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프로세스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장례 예약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상담 처리 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월 </a:t>
                      </a:r>
                      <a:r>
                        <a:rPr lang="en-US" altLang="ko-KR" sz="1200" b="0" dirty="0"/>
                        <a:t>150</a:t>
                      </a:r>
                      <a:r>
                        <a:rPr lang="ko-KR" altLang="en-US" sz="1200" b="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S:≥160</a:t>
                      </a:r>
                      <a:r>
                        <a:rPr lang="ko-KR" altLang="en-US" sz="1200" b="0" dirty="0"/>
                        <a:t>건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en-US" altLang="ko-KR" sz="1200" b="0" dirty="0"/>
                        <a:t>A:≥140</a:t>
                      </a:r>
                      <a:r>
                        <a:rPr lang="ko-KR" altLang="en-US" sz="1200" b="0" dirty="0"/>
                        <a:t>건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en-US" altLang="ko-KR" sz="1200" b="0" dirty="0"/>
                        <a:t>B:≥120</a:t>
                      </a:r>
                      <a:r>
                        <a:rPr lang="ko-KR" altLang="en-US" sz="1200" b="0" dirty="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019711"/>
                  </a:ext>
                </a:extLst>
              </a:tr>
              <a:tr h="49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학습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성장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데이터 분석 인사이트 보고서 제출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월 </a:t>
                      </a:r>
                      <a:r>
                        <a:rPr lang="en-US" altLang="ko-KR" sz="1200" b="0" dirty="0"/>
                        <a:t>4</a:t>
                      </a:r>
                      <a:r>
                        <a:rPr lang="ko-KR" altLang="en-US" sz="1200" b="0" dirty="0"/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S:≥5</a:t>
                      </a:r>
                      <a:r>
                        <a:rPr lang="ko-KR" altLang="en-US" sz="1200" b="0" dirty="0"/>
                        <a:t>회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en-US" altLang="ko-KR" sz="1200" b="0" dirty="0"/>
                        <a:t>A:4</a:t>
                      </a:r>
                      <a:r>
                        <a:rPr lang="ko-KR" altLang="en-US" sz="1200" b="0" dirty="0"/>
                        <a:t>회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en-US" altLang="ko-KR" sz="1200" b="0" dirty="0"/>
                        <a:t>B:3</a:t>
                      </a:r>
                      <a:r>
                        <a:rPr lang="ko-KR" altLang="en-US" sz="1200" b="0" dirty="0"/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763460"/>
                  </a:ext>
                </a:extLst>
              </a:tr>
              <a:tr h="49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재무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광고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굿즈</a:t>
                      </a:r>
                      <a:r>
                        <a:rPr lang="ko-KR" altLang="en-US" sz="1200" b="0" dirty="0"/>
                        <a:t> 제휴 매출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전체 매출의 </a:t>
                      </a:r>
                      <a:r>
                        <a:rPr lang="en-US" altLang="ko-KR" sz="1200" b="0" dirty="0"/>
                        <a:t>20%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30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S:≥25%</a:t>
                      </a:r>
                    </a:p>
                    <a:p>
                      <a:pPr algn="ctr" latinLnBrk="1"/>
                      <a:r>
                        <a:rPr lang="en-US" altLang="ko-KR" sz="1200" b="0" dirty="0"/>
                        <a:t>A:≥20%</a:t>
                      </a:r>
                    </a:p>
                    <a:p>
                      <a:pPr algn="ctr" latinLnBrk="1"/>
                      <a:r>
                        <a:rPr lang="en-US" altLang="ko-KR" sz="1200" b="0" dirty="0"/>
                        <a:t>B:≥15%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073120"/>
                  </a:ext>
                </a:extLst>
              </a:tr>
              <a:tr h="313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참고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총 가중치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-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100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-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1305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295A3E4-28CA-4B0D-96A9-5C2D76FF9A10}"/>
              </a:ext>
            </a:extLst>
          </p:cNvPr>
          <p:cNvSpPr txBox="1"/>
          <p:nvPr/>
        </p:nvSpPr>
        <p:spPr>
          <a:xfrm>
            <a:off x="720135" y="5941866"/>
            <a:ext cx="1203792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KPI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선정의 핵심 성공 요인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(CSF)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분석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핵심 성공 요인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(CSF)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사용자 경험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(UX)’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기반 상담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추천의 신뢰도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’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따라서 사용자 만족도와 서비스 향상 지표를 최우선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KPI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선정하여 관리합니다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752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운영 관리 기획하기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918B4-B70A-4C31-97FD-B7E2F4BEAD2D}"/>
              </a:ext>
            </a:extLst>
          </p:cNvPr>
          <p:cNvSpPr txBox="1"/>
          <p:nvPr/>
        </p:nvSpPr>
        <p:spPr>
          <a:xfrm>
            <a:off x="839449" y="1996993"/>
            <a:ext cx="10793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과제는 플랫폼 운영 과정에서 발생할 수 있는 장애 관리 및 가용성 확보 방안을 분석하는데 중점을 둡니다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서비스의 주요기능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장례 예약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매칭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커뮤니티 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발생 가능한 시스템 장애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자연적 요인을 파악하고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대한 근본 원인 분석 및 복구 절차를 제시합니다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9A2FDC3-8CCF-4F00-9AB5-5FC1F100CE9F}"/>
              </a:ext>
            </a:extLst>
          </p:cNvPr>
          <p:cNvCxnSpPr>
            <a:cxnSpLocks/>
          </p:cNvCxnSpPr>
          <p:nvPr/>
        </p:nvCxnSpPr>
        <p:spPr>
          <a:xfrm>
            <a:off x="839451" y="1886578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E5037E18-6EA6-4EF2-9863-75FB1841F538}"/>
              </a:ext>
            </a:extLst>
          </p:cNvPr>
          <p:cNvGraphicFramePr>
            <a:graphicFrameLocks noGrp="1"/>
          </p:cNvGraphicFramePr>
          <p:nvPr/>
        </p:nvGraphicFramePr>
        <p:xfrm>
          <a:off x="758816" y="3045352"/>
          <a:ext cx="10674370" cy="37135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4874">
                  <a:extLst>
                    <a:ext uri="{9D8B030D-6E8A-4147-A177-3AD203B41FA5}">
                      <a16:colId xmlns:a16="http://schemas.microsoft.com/office/drawing/2014/main" val="1730835270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583572873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802961256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1404380642"/>
                    </a:ext>
                  </a:extLst>
                </a:gridCol>
                <a:gridCol w="2134874">
                  <a:extLst>
                    <a:ext uri="{9D8B030D-6E8A-4147-A177-3AD203B41FA5}">
                      <a16:colId xmlns:a16="http://schemas.microsoft.com/office/drawing/2014/main" val="202956631"/>
                    </a:ext>
                  </a:extLst>
                </a:gridCol>
              </a:tblGrid>
              <a:tr h="696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Lastpage</a:t>
                      </a:r>
                      <a:r>
                        <a:rPr lang="en-US" altLang="ko-KR" sz="1200" dirty="0"/>
                        <a:t> Project </a:t>
                      </a:r>
                      <a:r>
                        <a:rPr lang="ko-KR" altLang="en-US" sz="1200" dirty="0"/>
                        <a:t>운영 이슈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NCS </a:t>
                      </a:r>
                      <a:r>
                        <a:rPr lang="ko-KR" altLang="en-US" sz="1200" dirty="0"/>
                        <a:t>기준 원인 분석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장애 유형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위험수준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긴급도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영향도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장애 복구 및 가용성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대응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471445"/>
                  </a:ext>
                </a:extLst>
              </a:tr>
              <a:tr h="93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및 결제 서비스 응답 지연</a:t>
                      </a:r>
                      <a:r>
                        <a:rPr lang="en-US" altLang="ko-KR" sz="1200" dirty="0"/>
                        <a:t>(5</a:t>
                      </a:r>
                      <a:r>
                        <a:rPr lang="ko-KR" altLang="en-US" sz="1200" dirty="0"/>
                        <a:t>초 이상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시스템 장애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서버 과부하 또는 데이터 베이스 연결 병목 현상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긴급도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높음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영향도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모니터링 시스템을 통해 실시간 응답 속도 및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부하를 감지하고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장애 발생 시 즉시 알림 시스템을 통해 운영 담당자에게 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592017"/>
                  </a:ext>
                </a:extLst>
              </a:tr>
              <a:tr h="93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데이터 업데이트가 실시간 반영되지 않음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최대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시간 지연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인적 장애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관리자 데이터 등록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 오류로 인한 비정상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긴급도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보통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영향도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장애발생시 상담사 데이터 자동 검증 프로세스를 실행하고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원인 및 조치 내용을 운영 로그 및 장애 지식베이스에 기록하여 재발 방지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291336"/>
                  </a:ext>
                </a:extLst>
              </a:tr>
              <a:tr h="93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서버 장애 또는 전력 이상으로 서비스 중단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자연적 재해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 err="1"/>
                        <a:t>서버실</a:t>
                      </a:r>
                      <a:r>
                        <a:rPr lang="ko-KR" altLang="en-US" sz="1200" dirty="0"/>
                        <a:t> 정전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네트워크 회선 장애 등 외부 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긴급도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높음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영향도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비상 복구 매뉴얼 및 백업 시스템을 즉시 가동하고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주기적인 비상 대응 훈련 및 모의 복구 테스트를 수행하여 서비스 연속성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8367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784952-F4F1-4815-88BE-620CD8979BAE}"/>
              </a:ext>
            </a:extLst>
          </p:cNvPr>
          <p:cNvSpPr txBox="1"/>
          <p:nvPr/>
        </p:nvSpPr>
        <p:spPr>
          <a:xfrm>
            <a:off x="839449" y="2663168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장애 관리 이슈 및 가용성 대응 </a:t>
            </a:r>
            <a:r>
              <a:rPr kumimoji="0" lang="ko-KR" alt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방안표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E89A1-7723-4DCD-8DD8-4806C1059763}"/>
              </a:ext>
            </a:extLst>
          </p:cNvPr>
          <p:cNvSpPr txBox="1"/>
          <p:nvPr/>
        </p:nvSpPr>
        <p:spPr>
          <a:xfrm>
            <a:off x="839449" y="1573791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 장애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가용성 관리 분석 보고서</a:t>
            </a:r>
          </a:p>
        </p:txBody>
      </p:sp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운영 관리 기획하기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FB7A5-6634-4D09-B5F8-E0B72EA00DA2}"/>
              </a:ext>
            </a:extLst>
          </p:cNvPr>
          <p:cNvSpPr txBox="1"/>
          <p:nvPr/>
        </p:nvSpPr>
        <p:spPr>
          <a:xfrm>
            <a:off x="839449" y="1573791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 수준 협약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(SLA)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변경 관리 계획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5A746AA-F54D-47CB-8207-DDB5D3CC1E2F}"/>
              </a:ext>
            </a:extLst>
          </p:cNvPr>
          <p:cNvCxnSpPr>
            <a:cxnSpLocks/>
          </p:cNvCxnSpPr>
          <p:nvPr/>
        </p:nvCxnSpPr>
        <p:spPr>
          <a:xfrm>
            <a:off x="839451" y="1886578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6C7EF5-6FA5-4618-845C-CF2D357FB99F}"/>
              </a:ext>
            </a:extLst>
          </p:cNvPr>
          <p:cNvSpPr txBox="1"/>
          <p:nvPr/>
        </p:nvSpPr>
        <p:spPr>
          <a:xfrm>
            <a:off x="839449" y="2050120"/>
            <a:ext cx="1079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과제는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안정적 서비스 운영과 품질 관리 체계 구축에 초점을 둡니다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사용자 신뢰 확보를 위한 서비스 수준 협약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(SLA)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정의하고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데이터나 알고리즘 변경 시의 변경 관리 절차를 수립합니다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B4F4B-BBF2-465D-8DD9-7A8E5D7E21EF}"/>
              </a:ext>
            </a:extLst>
          </p:cNvPr>
          <p:cNvSpPr txBox="1"/>
          <p:nvPr/>
        </p:nvSpPr>
        <p:spPr>
          <a:xfrm>
            <a:off x="839449" y="2663168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 수준 협약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(SLA)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평가 </a:t>
            </a:r>
            <a:r>
              <a:rPr kumimoji="0" lang="ko-KR" alt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지표표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EC8207D-8A6D-4227-88A3-78DAC86A57F2}"/>
              </a:ext>
            </a:extLst>
          </p:cNvPr>
          <p:cNvGraphicFramePr>
            <a:graphicFrameLocks noGrp="1"/>
          </p:cNvGraphicFramePr>
          <p:nvPr/>
        </p:nvGraphicFramePr>
        <p:xfrm>
          <a:off x="839448" y="3106939"/>
          <a:ext cx="10674366" cy="32826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79061">
                  <a:extLst>
                    <a:ext uri="{9D8B030D-6E8A-4147-A177-3AD203B41FA5}">
                      <a16:colId xmlns:a16="http://schemas.microsoft.com/office/drawing/2014/main" val="3533191016"/>
                    </a:ext>
                  </a:extLst>
                </a:gridCol>
                <a:gridCol w="1779061">
                  <a:extLst>
                    <a:ext uri="{9D8B030D-6E8A-4147-A177-3AD203B41FA5}">
                      <a16:colId xmlns:a16="http://schemas.microsoft.com/office/drawing/2014/main" val="786159124"/>
                    </a:ext>
                  </a:extLst>
                </a:gridCol>
                <a:gridCol w="1698430">
                  <a:extLst>
                    <a:ext uri="{9D8B030D-6E8A-4147-A177-3AD203B41FA5}">
                      <a16:colId xmlns:a16="http://schemas.microsoft.com/office/drawing/2014/main" val="2732278836"/>
                    </a:ext>
                  </a:extLst>
                </a:gridCol>
                <a:gridCol w="1859692">
                  <a:extLst>
                    <a:ext uri="{9D8B030D-6E8A-4147-A177-3AD203B41FA5}">
                      <a16:colId xmlns:a16="http://schemas.microsoft.com/office/drawing/2014/main" val="2839772552"/>
                    </a:ext>
                  </a:extLst>
                </a:gridCol>
                <a:gridCol w="1779061">
                  <a:extLst>
                    <a:ext uri="{9D8B030D-6E8A-4147-A177-3AD203B41FA5}">
                      <a16:colId xmlns:a16="http://schemas.microsoft.com/office/drawing/2014/main" val="3633005516"/>
                    </a:ext>
                  </a:extLst>
                </a:gridCol>
                <a:gridCol w="1779061">
                  <a:extLst>
                    <a:ext uri="{9D8B030D-6E8A-4147-A177-3AD203B41FA5}">
                      <a16:colId xmlns:a16="http://schemas.microsoft.com/office/drawing/2014/main" val="1589210051"/>
                    </a:ext>
                  </a:extLst>
                </a:gridCol>
              </a:tblGrid>
              <a:tr h="547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측정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가중치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총합 </a:t>
                      </a:r>
                      <a:r>
                        <a:rPr lang="en-US" altLang="ko-KR" sz="1200" b="1" dirty="0"/>
                        <a:t>100%)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측정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목표 수준 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목표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목표 수준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최소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338258"/>
                  </a:ext>
                </a:extLst>
              </a:tr>
              <a:tr h="547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운영 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상담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예약 서비스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ko-KR" altLang="en-US" sz="1200" b="0" dirty="0"/>
                        <a:t> 가동률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25%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일간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99%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96%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20764"/>
                  </a:ext>
                </a:extLst>
              </a:tr>
              <a:tr h="547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운영 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결제 시스템 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ko-KR" altLang="en-US" sz="1200" b="0" dirty="0"/>
                        <a:t>장애 복구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20%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일간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95%</a:t>
                      </a:r>
                    </a:p>
                    <a:p>
                      <a:pPr algn="ctr" latinLnBrk="1"/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복구 시간 </a:t>
                      </a:r>
                      <a:r>
                        <a:rPr lang="en-US" altLang="ko-KR" sz="1200" b="0" dirty="0"/>
                        <a:t>1</a:t>
                      </a:r>
                      <a:r>
                        <a:rPr lang="ko-KR" altLang="en-US" sz="1200" b="0" dirty="0"/>
                        <a:t>시간 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85%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777362"/>
                  </a:ext>
                </a:extLst>
              </a:tr>
              <a:tr h="547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운영 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데이터 백업 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ko-KR" altLang="en-US" sz="1200" b="0" dirty="0"/>
                        <a:t>및 동기화 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15%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주간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99%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95%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926613"/>
                  </a:ext>
                </a:extLst>
              </a:tr>
              <a:tr h="547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고객 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상담 응답 만족도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20%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월간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90</a:t>
                      </a:r>
                      <a:r>
                        <a:rPr lang="ko-KR" altLang="en-US" sz="1200" b="0" dirty="0"/>
                        <a:t>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85</a:t>
                      </a:r>
                      <a:r>
                        <a:rPr lang="ko-KR" altLang="en-US" sz="1200" b="0" dirty="0"/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781755"/>
                  </a:ext>
                </a:extLst>
              </a:tr>
              <a:tr h="547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플랫폼 품질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커뮤니티 운영 안정성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20%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월간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98%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94%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000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6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운영 관리 기획하기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1C7FB-77A9-4C92-BBD8-F38BED770F2C}"/>
              </a:ext>
            </a:extLst>
          </p:cNvPr>
          <p:cNvSpPr txBox="1"/>
          <p:nvPr/>
        </p:nvSpPr>
        <p:spPr>
          <a:xfrm>
            <a:off x="839451" y="1940635"/>
            <a:ext cx="120379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핵심 구성 요소의 변경 관리 계획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5B12689-DBB7-4798-B732-5761F55A139B}"/>
              </a:ext>
            </a:extLst>
          </p:cNvPr>
          <p:cNvCxnSpPr>
            <a:cxnSpLocks/>
          </p:cNvCxnSpPr>
          <p:nvPr/>
        </p:nvCxnSpPr>
        <p:spPr>
          <a:xfrm>
            <a:off x="839451" y="2351034"/>
            <a:ext cx="106743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9C430269-6C87-4FFE-945A-F249FB1D9F61}"/>
              </a:ext>
            </a:extLst>
          </p:cNvPr>
          <p:cNvGraphicFramePr>
            <a:graphicFrameLocks noGrp="1"/>
          </p:cNvGraphicFramePr>
          <p:nvPr/>
        </p:nvGraphicFramePr>
        <p:xfrm>
          <a:off x="839450" y="3136170"/>
          <a:ext cx="10674368" cy="31218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68592">
                  <a:extLst>
                    <a:ext uri="{9D8B030D-6E8A-4147-A177-3AD203B41FA5}">
                      <a16:colId xmlns:a16="http://schemas.microsoft.com/office/drawing/2014/main" val="2284407705"/>
                    </a:ext>
                  </a:extLst>
                </a:gridCol>
                <a:gridCol w="2668592">
                  <a:extLst>
                    <a:ext uri="{9D8B030D-6E8A-4147-A177-3AD203B41FA5}">
                      <a16:colId xmlns:a16="http://schemas.microsoft.com/office/drawing/2014/main" val="662345975"/>
                    </a:ext>
                  </a:extLst>
                </a:gridCol>
                <a:gridCol w="2668592">
                  <a:extLst>
                    <a:ext uri="{9D8B030D-6E8A-4147-A177-3AD203B41FA5}">
                      <a16:colId xmlns:a16="http://schemas.microsoft.com/office/drawing/2014/main" val="3603677235"/>
                    </a:ext>
                  </a:extLst>
                </a:gridCol>
                <a:gridCol w="2668592">
                  <a:extLst>
                    <a:ext uri="{9D8B030D-6E8A-4147-A177-3AD203B41FA5}">
                      <a16:colId xmlns:a16="http://schemas.microsoft.com/office/drawing/2014/main" val="3328772220"/>
                    </a:ext>
                  </a:extLst>
                </a:gridCol>
              </a:tblGrid>
              <a:tr h="7379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 대상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 이슈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 관리 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 관리 항목 및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710074"/>
                  </a:ext>
                </a:extLst>
              </a:tr>
              <a:tr h="7379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데이터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상담 로그</a:t>
                      </a:r>
                      <a:r>
                        <a:rPr lang="en-US" altLang="ko-KR" sz="1200" b="1" dirty="0"/>
                        <a:t>, </a:t>
                      </a:r>
                      <a:r>
                        <a:rPr lang="ko-KR" altLang="en-US" sz="1200" b="1" dirty="0"/>
                        <a:t>후기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상담 로그 포맷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en-US" altLang="ko-KR" sz="1200" b="0" dirty="0"/>
                        <a:t>(JSON -&gt; </a:t>
                      </a:r>
                      <a:r>
                        <a:rPr lang="ko-KR" altLang="en-US" sz="1200" b="0" dirty="0"/>
                        <a:t>구조화 </a:t>
                      </a:r>
                      <a:r>
                        <a:rPr lang="en-US" altLang="ko-KR" sz="1200" b="0" dirty="0"/>
                        <a:t>DB) </a:t>
                      </a:r>
                      <a:r>
                        <a:rPr lang="ko-KR" altLang="en-US" sz="1200" b="0" dirty="0"/>
                        <a:t>변경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일반 변경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계획 승인 후 수행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 latinLnBrk="1">
                        <a:buAutoNum type="arabicParenR"/>
                      </a:pPr>
                      <a:r>
                        <a:rPr lang="ko-KR" altLang="en-US" sz="1200" b="0" dirty="0"/>
                        <a:t>변경 전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후 데이터 구조 차이 기록</a:t>
                      </a:r>
                      <a:endParaRPr lang="en-US" altLang="ko-KR" sz="1200" b="0" dirty="0"/>
                    </a:p>
                    <a:p>
                      <a:pPr marL="228600" indent="-228600" algn="ctr" latinLnBrk="1">
                        <a:buAutoNum type="arabicParenR"/>
                      </a:pPr>
                      <a:r>
                        <a:rPr lang="ko-KR" altLang="en-US" sz="1200" b="0" dirty="0"/>
                        <a:t>변경 영향도 분석 후 내부 품질관리위원회 승인 절차 수행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02672"/>
                  </a:ext>
                </a:extLst>
              </a:tr>
              <a:tr h="7379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결제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예약 로직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서비스 알고리즘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신규 결제 연동 및</a:t>
                      </a:r>
                      <a:endParaRPr lang="en-US" altLang="ko-KR" sz="1200" b="0" dirty="0"/>
                    </a:p>
                    <a:p>
                      <a:pPr algn="ctr" latinLnBrk="1"/>
                      <a:r>
                        <a:rPr lang="ko-KR" altLang="en-US" sz="1200" b="0" dirty="0"/>
                        <a:t>예약 프로세스 개선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단순 변경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업데이트 후 보고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 latinLnBrk="1">
                        <a:buAutoNum type="arabicParenR"/>
                      </a:pPr>
                      <a:r>
                        <a:rPr lang="ko-KR" altLang="en-US" sz="1200" b="0" dirty="0"/>
                        <a:t>변경 버전 관리 및 백업 수행</a:t>
                      </a:r>
                      <a:endParaRPr lang="en-US" altLang="ko-KR" sz="1200" b="0" dirty="0"/>
                    </a:p>
                    <a:p>
                      <a:pPr marL="228600" indent="-228600" algn="ctr" latinLnBrk="1">
                        <a:buAutoNum type="arabicParenR"/>
                      </a:pPr>
                      <a:r>
                        <a:rPr lang="ko-KR" altLang="en-US" sz="1200" b="0" dirty="0"/>
                        <a:t>테스트 완료 후 결과 보고서 작성 및 주간 운영회의 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865447"/>
                  </a:ext>
                </a:extLst>
              </a:tr>
              <a:tr h="7379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추천 모델</a:t>
                      </a:r>
                      <a:r>
                        <a:rPr lang="en-US" altLang="ko-KR" sz="1200" b="1" dirty="0"/>
                        <a:t>(AI </a:t>
                      </a:r>
                      <a:r>
                        <a:rPr lang="ko-KR" altLang="en-US" sz="1200" b="1" dirty="0"/>
                        <a:t>개인화 추천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알고리즘 성능 개선을 위한 파라미터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일반 변경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성능 검증 포함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 latinLnBrk="1">
                        <a:buAutoNum type="arabicParenR"/>
                      </a:pPr>
                      <a:r>
                        <a:rPr lang="ko-KR" altLang="en-US" sz="1200" b="0" dirty="0"/>
                        <a:t>변경 시 모델 정확도 비교 테스트 수행</a:t>
                      </a:r>
                      <a:endParaRPr lang="en-US" altLang="ko-KR" sz="1200" b="0" dirty="0"/>
                    </a:p>
                    <a:p>
                      <a:pPr marL="228600" indent="-228600" algn="ctr" latinLnBrk="1">
                        <a:buAutoNum type="arabicParenR"/>
                      </a:pPr>
                      <a:r>
                        <a:rPr lang="ko-KR" altLang="en-US" sz="1200" b="0" dirty="0"/>
                        <a:t>개선 결과를 서비스 품질 </a:t>
                      </a:r>
                      <a:r>
                        <a:rPr lang="en-US" altLang="ko-KR" sz="1200" b="0" dirty="0"/>
                        <a:t>KPI</a:t>
                      </a:r>
                      <a:r>
                        <a:rPr lang="ko-KR" altLang="en-US" sz="1200" b="0" dirty="0"/>
                        <a:t>에 반영하여 평가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068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C3058B-E8C4-466B-994C-EF9DBE9A5D4D}"/>
              </a:ext>
            </a:extLst>
          </p:cNvPr>
          <p:cNvSpPr txBox="1"/>
          <p:nvPr/>
        </p:nvSpPr>
        <p:spPr>
          <a:xfrm>
            <a:off x="839450" y="2510749"/>
            <a:ext cx="1079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핵심 자산인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사용자 상담 데이터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2)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예약 로직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3)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추천 알고리즘 모델 등이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변경이 필요한 경우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 연속성을 유지하기 위한 변경 관리 절차를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NCS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기준에 맞게 수립합니다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2522</TotalTime>
  <Words>2605</Words>
  <Application>Microsoft Office PowerPoint</Application>
  <PresentationFormat>와이드스크린</PresentationFormat>
  <Paragraphs>420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146</cp:revision>
  <dcterms:created xsi:type="dcterms:W3CDTF">2025-08-05T00:27:28Z</dcterms:created>
  <dcterms:modified xsi:type="dcterms:W3CDTF">2025-10-21T06:53:58Z</dcterms:modified>
</cp:coreProperties>
</file>