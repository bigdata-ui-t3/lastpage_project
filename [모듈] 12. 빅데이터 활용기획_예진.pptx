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337" r:id="rId4"/>
    <p:sldId id="338" r:id="rId5"/>
    <p:sldId id="339" r:id="rId6"/>
    <p:sldId id="340" r:id="rId7"/>
    <p:sldId id="342" r:id="rId8"/>
    <p:sldId id="343" r:id="rId9"/>
    <p:sldId id="318" r:id="rId10"/>
    <p:sldId id="344" r:id="rId11"/>
    <p:sldId id="341" r:id="rId12"/>
    <p:sldId id="286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35" autoAdjust="0"/>
    <p:restoredTop sz="94660"/>
  </p:normalViewPr>
  <p:slideViewPr>
    <p:cSldViewPr snapToGrid="0">
      <p:cViewPr varScale="1">
        <p:scale>
          <a:sx n="62" d="100"/>
          <a:sy n="62" d="100"/>
        </p:scale>
        <p:origin x="90" y="12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2D174-CB32-4F11-B7D5-1A7BA59E4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D795AB-E336-45EB-A305-DD9AC468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254FD-84F1-428D-9057-ADAB81B3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D85F5-ED05-4F59-AE9E-A58CEDA5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9A623-0C98-4283-9D38-6AB30199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81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DFFC5-38A8-42C2-A273-FAB66323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E2275-8578-4DB7-9D83-8CCD9E29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7C62E-4128-4DAC-A65A-27BB07B1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4C588-E11C-4D94-8F48-301C424F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D5DEC-11A5-4320-839E-7F51A3AE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2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59599-3C19-445B-8494-65877CB8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5B53FD-C5F7-4500-BCF7-72846463F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3EE29-7B5A-4A33-A2E2-95C3F607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DC215-611A-40F3-A9AE-4EE2515F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79D90-5960-4F74-B035-C3B1894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8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7EE06-1A7E-4A92-AAD0-9B86B8FF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88597-0625-4374-89CD-44B884550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25B3D4-AF4B-4AE8-8394-D610318F6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7BFB0-D7CE-457E-9189-BFF67F8D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05FD7-3D9F-4845-8269-DDACF141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2645E4-0207-4203-9E82-F7636B0D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38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0BA0D-07F6-4D96-BF5B-9436CB1A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570F5-018D-444F-B20D-7729D02D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EA175-6F80-498A-B91B-186EB4E9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8C8E9D-6863-4906-B550-56942E2D3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51414A-34E4-4E1D-8229-4BAA2EB30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AA7644-2A06-4E36-80B6-059F9825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C1EA36-C08D-410A-BF83-A04F264E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CC500D-50CE-43C2-8933-D267B7AE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2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703C0-9ACF-4AAE-9D37-8D18B26C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A6BCB5-73A1-4024-82FE-AF51172C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F8ED94-3DD5-42AA-8FF1-38C6499C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D23E3A-D959-4203-BD40-C8351276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0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8A935A-7442-4F58-8D11-325F1B5C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FBA2FD-9246-42AD-B56C-E8EA7AE5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E6B8E-4A69-4A9B-A9DD-5F0CB723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2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6DA8A-92BC-49DE-A8CF-C983904A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3E4CE-55E3-4027-A86D-AC29312D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3CD0D5-63EF-4021-AF42-9F742E495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D621F-7A35-4AB1-9015-6EE6F315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FD7D6-46C4-408F-847C-245D5126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B04C4-A611-43E8-834B-444CAF02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DD74F-EF7A-4889-85F7-871326D4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16CC49-48CD-4612-BF78-EBB3B04E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7BBA3-126E-40D9-955B-8C8D7877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7E777C-8677-437F-9339-DEE00C79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11FACA-F355-4D90-B353-2AE547D5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C2A7F-AB07-44EB-9EF8-2BEB08E2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75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F0666-4475-4B01-8F4E-B875648A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7346D4-00C3-47FF-9B09-D4FF35DCC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781B1-9EDD-4233-A374-EB535A6E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26D15-4D50-4692-B46D-F882C66E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5EE2F-D229-4007-8D9F-7A3820BE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29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F2BF9F-0C81-4E8A-886A-CAEB2C36B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05AFD-1AA5-45B8-BD53-DA28197BD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49204C-AB5D-4CA3-9046-1619B215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FA9E8D-4B61-46A7-A49A-9045BDFD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EB5F22-C6F7-44D5-ACE0-6E7A148D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8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88827D-BBE9-423B-8A3E-16F1434F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1ACD2B-EAC8-4DAE-80BC-8153D0C8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7A703-9670-4373-B621-3347DC4D1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F23D8-EC25-4018-9CD7-C53C9D694542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5031C-9617-4CD5-AB16-821A2E945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49AC1-BC97-42DC-BBFB-1FF1599E8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2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7134" y="5409213"/>
            <a:ext cx="2247122" cy="1261535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심예진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DA77DD5-F07A-4FA6-8DEA-409A2C5ABB17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빅데이터 활용기획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892D854-65E9-4161-BD25-B1C960BA7B0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62395-CB82-C6B8-18EC-276CC2A8E7CC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3" name="그림 1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7CCDA8-F2F2-6E33-1693-7115E4B9C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7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2E548-C65D-48A7-AF17-BB29D6CB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42967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altLang="ko-KR" sz="2800" dirty="0"/>
              <a:t>INDEX </a:t>
            </a:r>
            <a:r>
              <a:rPr lang="ko-KR" altLang="en-US" sz="2800" dirty="0"/>
              <a:t>및 </a:t>
            </a:r>
            <a:r>
              <a:rPr lang="en-US" altLang="ko-KR" sz="2800" dirty="0"/>
              <a:t>CONTENTS</a:t>
            </a:r>
            <a:endParaRPr lang="ko-KR" altLang="en-US" sz="2800" dirty="0"/>
          </a:p>
        </p:txBody>
      </p:sp>
      <p:pic>
        <p:nvPicPr>
          <p:cNvPr id="5" name="그림 4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B4ED27-7257-EC1F-98C4-E6E38551F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31" y="236265"/>
            <a:ext cx="815249" cy="8152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C93E1F-B78C-523A-B7A0-7AA31B32F725}"/>
              </a:ext>
            </a:extLst>
          </p:cNvPr>
          <p:cNvSpPr txBox="1"/>
          <p:nvPr/>
        </p:nvSpPr>
        <p:spPr>
          <a:xfrm>
            <a:off x="11446707" y="6439943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EA2501B-6B7D-417C-BE87-5373F6C9C5A5}"/>
              </a:ext>
            </a:extLst>
          </p:cNvPr>
          <p:cNvSpPr txBox="1">
            <a:spLocks/>
          </p:cNvSpPr>
          <p:nvPr/>
        </p:nvSpPr>
        <p:spPr>
          <a:xfrm>
            <a:off x="463405" y="1716269"/>
            <a:ext cx="5327661" cy="2304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빅데이터 품질 관리 기획하기</a:t>
            </a:r>
            <a:r>
              <a:rPr lang="en-US" altLang="ko-KR" sz="1500" b="1" u="sng" dirty="0">
                <a:solidFill>
                  <a:schemeClr val="bg1"/>
                </a:solidFill>
                <a:latin typeface="+mj-lt"/>
              </a:rPr>
              <a:t> – </a:t>
            </a:r>
            <a:r>
              <a:rPr lang="ko-KR" altLang="en-US" sz="1500" b="1" u="sng" dirty="0">
                <a:solidFill>
                  <a:schemeClr val="bg1"/>
                </a:solidFill>
                <a:latin typeface="+mj-lt"/>
              </a:rPr>
              <a:t>박준형</a:t>
            </a:r>
            <a:r>
              <a:rPr lang="en-US" altLang="ko-KR" sz="1500" b="1" u="sng" dirty="0">
                <a:solidFill>
                  <a:schemeClr val="bg1"/>
                </a:solidFill>
                <a:latin typeface="+mj-lt"/>
              </a:rPr>
              <a:t>()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프로젝트 품질 이슈 분석 및 근본 원인 보고서</a:t>
            </a:r>
            <a:endParaRPr lang="en-US" altLang="ko-KR" sz="1500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프로젝트 생명 </a:t>
            </a:r>
            <a:r>
              <a:rPr lang="ko-KR" altLang="en-US" sz="1500" dirty="0" err="1">
                <a:solidFill>
                  <a:schemeClr val="bg1"/>
                </a:solidFill>
                <a:latin typeface="+mj-lt"/>
              </a:rPr>
              <a:t>주기별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 품질 관리 계획</a:t>
            </a:r>
            <a:endParaRPr lang="en-US" altLang="ko-KR" sz="1500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15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CFC6EAA-8325-4486-8D16-3BE392A7BDB4}"/>
              </a:ext>
            </a:extLst>
          </p:cNvPr>
          <p:cNvSpPr txBox="1">
            <a:spLocks/>
          </p:cNvSpPr>
          <p:nvPr/>
        </p:nvSpPr>
        <p:spPr>
          <a:xfrm>
            <a:off x="6398522" y="1716269"/>
            <a:ext cx="5327661" cy="15722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3"/>
            </a:pP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빅데이터 조직 수립하기 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– </a:t>
            </a:r>
            <a:r>
              <a:rPr lang="ko-KR" altLang="en-US" sz="1500" b="1" u="sng" dirty="0" err="1">
                <a:solidFill>
                  <a:schemeClr val="bg1"/>
                </a:solidFill>
                <a:latin typeface="+mj-lt"/>
              </a:rPr>
              <a:t>손보금</a:t>
            </a:r>
            <a:r>
              <a:rPr lang="en-US" altLang="ko-KR" sz="1500" b="1" u="sng" dirty="0">
                <a:solidFill>
                  <a:schemeClr val="bg1"/>
                </a:solidFill>
                <a:latin typeface="+mj-lt"/>
              </a:rPr>
              <a:t>()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조직 역할 및 책임 할당표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(RACI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분석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분석가를 위한 역량 교육 체계 설계 보고서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D7B18B17-BE04-4BE0-B812-06966B97BD73}"/>
              </a:ext>
            </a:extLst>
          </p:cNvPr>
          <p:cNvSpPr txBox="1">
            <a:spLocks/>
          </p:cNvSpPr>
          <p:nvPr/>
        </p:nvSpPr>
        <p:spPr>
          <a:xfrm>
            <a:off x="463404" y="4157238"/>
            <a:ext cx="5327661" cy="2304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2"/>
            </a:pP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빅데이터 보안 관리 기획하기</a:t>
            </a:r>
            <a:r>
              <a:rPr lang="en-US" altLang="ko-KR" sz="1500" b="1" u="sng" dirty="0">
                <a:solidFill>
                  <a:schemeClr val="bg1"/>
                </a:solidFill>
                <a:latin typeface="+mj-lt"/>
              </a:rPr>
              <a:t> – </a:t>
            </a:r>
            <a:r>
              <a:rPr lang="ko-KR" altLang="en-US" sz="1500" b="1" u="sng" dirty="0">
                <a:solidFill>
                  <a:schemeClr val="bg1"/>
                </a:solidFill>
                <a:latin typeface="+mj-lt"/>
              </a:rPr>
              <a:t>심예진</a:t>
            </a:r>
            <a:r>
              <a:rPr lang="en-US" altLang="ko-KR" sz="1500" b="1" u="sng" dirty="0">
                <a:solidFill>
                  <a:schemeClr val="bg1"/>
                </a:solidFill>
                <a:latin typeface="+mj-lt"/>
              </a:rPr>
              <a:t>()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개인 정보 </a:t>
            </a:r>
            <a:r>
              <a:rPr lang="ko-KR" altLang="en-US" sz="1500" dirty="0" err="1">
                <a:solidFill>
                  <a:schemeClr val="bg1"/>
                </a:solidFill>
                <a:latin typeface="+mj-lt"/>
              </a:rPr>
              <a:t>비식별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 조치 계획 보고서</a:t>
            </a:r>
            <a:endParaRPr lang="en-US" altLang="ko-KR" sz="1500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수명 </a:t>
            </a:r>
            <a:r>
              <a:rPr lang="ko-KR" altLang="en-US" sz="1500" dirty="0" err="1">
                <a:solidFill>
                  <a:schemeClr val="bg1"/>
                </a:solidFill>
                <a:latin typeface="+mj-lt"/>
              </a:rPr>
              <a:t>주기별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 위협 요소 분석 및 대응방안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     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17CA8DE4-6BE9-4BE6-AC91-FFD8E1E3EC2D}"/>
              </a:ext>
            </a:extLst>
          </p:cNvPr>
          <p:cNvSpPr txBox="1">
            <a:spLocks/>
          </p:cNvSpPr>
          <p:nvPr/>
        </p:nvSpPr>
        <p:spPr>
          <a:xfrm>
            <a:off x="6398522" y="4157238"/>
            <a:ext cx="5614514" cy="9683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4"/>
            </a:pP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빅데이터 운영 관리 기획하기 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– </a:t>
            </a:r>
            <a:r>
              <a:rPr lang="ko-KR" altLang="en-US" sz="1500" b="1" u="sng" dirty="0" err="1">
                <a:solidFill>
                  <a:schemeClr val="bg1"/>
                </a:solidFill>
                <a:latin typeface="+mj-lt"/>
              </a:rPr>
              <a:t>손보금</a:t>
            </a:r>
            <a:r>
              <a:rPr lang="en-US" altLang="ko-KR" sz="1500" b="1" u="sng" dirty="0">
                <a:solidFill>
                  <a:schemeClr val="bg1"/>
                </a:solidFill>
                <a:latin typeface="+mj-lt"/>
              </a:rPr>
              <a:t>()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서비스 장애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/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가용성 관리 분석 보고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서비스 수준 협약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(SLA)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및 변경 관리 계획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</a:t>
            </a:r>
            <a:br>
              <a:rPr lang="en-US" altLang="ko-KR" sz="1500" dirty="0">
                <a:solidFill>
                  <a:schemeClr val="bg1"/>
                </a:solidFill>
                <a:latin typeface="+mj-lt"/>
              </a:rPr>
            </a:br>
            <a:endParaRPr lang="en-US" altLang="ko-KR" sz="15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8427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빅데이터 품질 관리 기획하기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7574665-D3BD-473E-9057-9DC39AAE4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135" y="1491509"/>
            <a:ext cx="5019779" cy="5366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94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빅데이터 품질 관리 기획하기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D3D7946-6962-4C15-AF46-A5FD5E52B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16" y="1728518"/>
            <a:ext cx="6335009" cy="483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59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2.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빅데이터 보안 관리 기획하기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328F3D-4E48-4A9A-934D-AFBFF7FBE785}"/>
              </a:ext>
            </a:extLst>
          </p:cNvPr>
          <p:cNvSpPr txBox="1"/>
          <p:nvPr/>
        </p:nvSpPr>
        <p:spPr>
          <a:xfrm>
            <a:off x="232003" y="1662243"/>
            <a:ext cx="1189530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err="1">
                <a:solidFill>
                  <a:schemeClr val="bg1"/>
                </a:solidFill>
              </a:rPr>
              <a:t>LastPage</a:t>
            </a:r>
            <a:r>
              <a:rPr lang="en-US" altLang="ko-KR" sz="1400" b="1" dirty="0">
                <a:solidFill>
                  <a:schemeClr val="bg1"/>
                </a:solidFill>
              </a:rPr>
              <a:t> </a:t>
            </a:r>
            <a:r>
              <a:rPr lang="ko-KR" altLang="en-US" sz="1400" b="1" dirty="0">
                <a:solidFill>
                  <a:schemeClr val="bg1"/>
                </a:solidFill>
              </a:rPr>
              <a:t>개인 정보 </a:t>
            </a:r>
            <a:r>
              <a:rPr lang="ko-KR" altLang="en-US" sz="1400" b="1" dirty="0" err="1">
                <a:solidFill>
                  <a:schemeClr val="bg1"/>
                </a:solidFill>
              </a:rPr>
              <a:t>비식별</a:t>
            </a:r>
            <a:r>
              <a:rPr lang="ko-KR" altLang="en-US" sz="1400" b="1" dirty="0">
                <a:solidFill>
                  <a:schemeClr val="bg1"/>
                </a:solidFill>
              </a:rPr>
              <a:t> 조치 계획 보고서</a:t>
            </a:r>
            <a:endParaRPr lang="en-US" altLang="ko-KR" sz="1400" b="1" dirty="0">
              <a:solidFill>
                <a:schemeClr val="bg1"/>
              </a:solidFill>
            </a:endParaRPr>
          </a:p>
          <a:p>
            <a:endParaRPr lang="ko-KR" altLang="en-US" sz="1200" b="1" dirty="0">
              <a:solidFill>
                <a:schemeClr val="bg1"/>
              </a:solidFill>
            </a:endParaRPr>
          </a:p>
          <a:p>
            <a:r>
              <a:rPr lang="en-US" altLang="ko-KR" sz="1200" dirty="0" err="1">
                <a:solidFill>
                  <a:schemeClr val="bg1"/>
                </a:solidFill>
              </a:rPr>
              <a:t>LastPage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반려동물 장례식장 예약 및 관리 시스템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에서 수집</a:t>
            </a:r>
            <a:r>
              <a:rPr lang="en-US" altLang="ko-KR" sz="1200" dirty="0">
                <a:solidFill>
                  <a:schemeClr val="bg1"/>
                </a:solidFill>
              </a:rPr>
              <a:t>·</a:t>
            </a:r>
            <a:r>
              <a:rPr lang="ko-KR" altLang="en-US" sz="1200" dirty="0">
                <a:solidFill>
                  <a:schemeClr val="bg1"/>
                </a:solidFill>
              </a:rPr>
              <a:t>처리되는 개인정보의 보호 및 </a:t>
            </a:r>
            <a:r>
              <a:rPr lang="ko-KR" altLang="en-US" sz="1200" dirty="0" err="1">
                <a:solidFill>
                  <a:schemeClr val="bg1"/>
                </a:solidFill>
              </a:rPr>
              <a:t>비식별</a:t>
            </a:r>
            <a:r>
              <a:rPr lang="ko-KR" altLang="en-US" sz="1200" dirty="0">
                <a:solidFill>
                  <a:schemeClr val="bg1"/>
                </a:solidFill>
              </a:rPr>
              <a:t> 처리를 위한 계획을 제시한다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ko-KR" altLang="en-US" sz="1200" dirty="0">
                <a:solidFill>
                  <a:schemeClr val="bg1"/>
                </a:solidFill>
              </a:rPr>
              <a:t>서비스 이용자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보호자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의 정보를 안전하게 관리하기 위해 필요한 구체적 조치 방안을 아래에 정리하였다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C9AB526-67B5-4B60-84A7-74F246386EF8}"/>
              </a:ext>
            </a:extLst>
          </p:cNvPr>
          <p:cNvCxnSpPr>
            <a:cxnSpLocks/>
          </p:cNvCxnSpPr>
          <p:nvPr/>
        </p:nvCxnSpPr>
        <p:spPr>
          <a:xfrm>
            <a:off x="318676" y="2003131"/>
            <a:ext cx="1154283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표 21">
            <a:extLst>
              <a:ext uri="{FF2B5EF4-FFF2-40B4-BE49-F238E27FC236}">
                <a16:creationId xmlns:a16="http://schemas.microsoft.com/office/drawing/2014/main" id="{0973A91B-2866-4230-A9F0-E9452C830E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633127"/>
              </p:ext>
            </p:extLst>
          </p:nvPr>
        </p:nvGraphicFramePr>
        <p:xfrm>
          <a:off x="312972" y="2623190"/>
          <a:ext cx="11554241" cy="302969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144677">
                  <a:extLst>
                    <a:ext uri="{9D8B030D-6E8A-4147-A177-3AD203B41FA5}">
                      <a16:colId xmlns:a16="http://schemas.microsoft.com/office/drawing/2014/main" val="1445723481"/>
                    </a:ext>
                  </a:extLst>
                </a:gridCol>
                <a:gridCol w="2062363">
                  <a:extLst>
                    <a:ext uri="{9D8B030D-6E8A-4147-A177-3AD203B41FA5}">
                      <a16:colId xmlns:a16="http://schemas.microsoft.com/office/drawing/2014/main" val="2035797503"/>
                    </a:ext>
                  </a:extLst>
                </a:gridCol>
                <a:gridCol w="2016869">
                  <a:extLst>
                    <a:ext uri="{9D8B030D-6E8A-4147-A177-3AD203B41FA5}">
                      <a16:colId xmlns:a16="http://schemas.microsoft.com/office/drawing/2014/main" val="3085994116"/>
                    </a:ext>
                  </a:extLst>
                </a:gridCol>
                <a:gridCol w="3048050">
                  <a:extLst>
                    <a:ext uri="{9D8B030D-6E8A-4147-A177-3AD203B41FA5}">
                      <a16:colId xmlns:a16="http://schemas.microsoft.com/office/drawing/2014/main" val="2257262026"/>
                    </a:ext>
                  </a:extLst>
                </a:gridCol>
                <a:gridCol w="2282282">
                  <a:extLst>
                    <a:ext uri="{9D8B030D-6E8A-4147-A177-3AD203B41FA5}">
                      <a16:colId xmlns:a16="http://schemas.microsoft.com/office/drawing/2014/main" val="3771425732"/>
                    </a:ext>
                  </a:extLst>
                </a:gridCol>
              </a:tblGrid>
              <a:tr h="4693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수집 데이터 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빅데이터 유형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개인정보 여부</a:t>
                      </a:r>
                      <a:endParaRPr lang="en-US" altLang="ko-KR" sz="1200" dirty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식별자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민감 정보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NCS 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기준 </a:t>
                      </a:r>
                      <a:r>
                        <a:rPr lang="ko-KR" altLang="en-US" sz="1200" dirty="0" err="1">
                          <a:solidFill>
                            <a:schemeClr val="bg1"/>
                          </a:solidFill>
                        </a:rPr>
                        <a:t>비식별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 조치 방법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>
                          <a:solidFill>
                            <a:schemeClr val="bg1"/>
                          </a:solidFill>
                        </a:rPr>
                        <a:t>LastPage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 적용 방안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0160358"/>
                  </a:ext>
                </a:extLst>
              </a:tr>
              <a:tr h="4141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보호자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정형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식별자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가명 처리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데이터 </a:t>
                      </a:r>
                      <a:r>
                        <a:rPr lang="ko-KR" altLang="en-US" sz="1100" dirty="0" err="1"/>
                        <a:t>마스킹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/>
                        <a:t>이름 일부를 홍*동 형태로</a:t>
                      </a:r>
                      <a:endParaRPr lang="en-US" altLang="ko-KR" sz="1100" dirty="0"/>
                    </a:p>
                    <a:p>
                      <a:pPr algn="ctr"/>
                      <a:r>
                        <a:rPr lang="ko-KR" altLang="en-US" sz="1100" dirty="0" err="1"/>
                        <a:t>마스킹하여</a:t>
                      </a:r>
                      <a:r>
                        <a:rPr lang="ko-KR" altLang="en-US" sz="1100" dirty="0"/>
                        <a:t> 저장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525186"/>
                  </a:ext>
                </a:extLst>
              </a:tr>
              <a:tr h="4141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보호자 연락처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정형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식별자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가명 처리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부분 삭제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뒷자리 </a:t>
                      </a:r>
                      <a:r>
                        <a:rPr lang="en-US" altLang="ko-KR" sz="1100" dirty="0"/>
                        <a:t>4</a:t>
                      </a:r>
                      <a:r>
                        <a:rPr lang="ko-KR" altLang="en-US" sz="1100" dirty="0"/>
                        <a:t>자리를 ****으로 표시 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예</a:t>
                      </a:r>
                      <a:r>
                        <a:rPr lang="en-US" altLang="ko-KR" sz="1100" dirty="0"/>
                        <a:t>: 010-1234-****)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2736953"/>
                  </a:ext>
                </a:extLst>
              </a:tr>
              <a:tr h="4141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보호자 주소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정형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식별자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일반화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범주화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시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군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구 </a:t>
                      </a:r>
                      <a:r>
                        <a:rPr lang="ko-KR" altLang="en-US" sz="1100" dirty="0" err="1"/>
                        <a:t>단위까지만</a:t>
                      </a:r>
                      <a:r>
                        <a:rPr lang="ko-KR" altLang="en-US" sz="1100" dirty="0"/>
                        <a:t> 저장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예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서울시 마포구</a:t>
                      </a:r>
                      <a:r>
                        <a:rPr lang="en-US" altLang="ko-KR" sz="110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2142235"/>
                  </a:ext>
                </a:extLst>
              </a:tr>
              <a:tr h="4141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결제 정보 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카드번호 등</a:t>
                      </a:r>
                      <a:r>
                        <a:rPr lang="en-US" altLang="ko-KR" sz="11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정형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민감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부분 삭제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암호화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결제 관련 데이터는 별도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서버에 암호화 저장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816198"/>
                  </a:ext>
                </a:extLst>
              </a:tr>
              <a:tr h="4141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장례 후기 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텍스트</a:t>
                      </a:r>
                      <a:r>
                        <a:rPr lang="en-US" altLang="ko-KR" sz="11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비정형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식별자 포함 가능 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 err="1"/>
                        <a:t>자유기입란</a:t>
                      </a:r>
                      <a:r>
                        <a:rPr lang="en-US" altLang="ko-KR" sz="11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텍스트 </a:t>
                      </a:r>
                      <a:r>
                        <a:rPr lang="ko-KR" altLang="en-US" sz="1100" dirty="0" err="1"/>
                        <a:t>마스킹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민감 단어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필터링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이름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연락처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특정 </a:t>
                      </a:r>
                      <a:r>
                        <a:rPr lang="ko-KR" altLang="en-US" sz="1100" dirty="0" err="1"/>
                        <a:t>장소명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자동 필터링 후 저장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9708337"/>
                  </a:ext>
                </a:extLst>
              </a:tr>
              <a:tr h="4141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이용자 연령대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정형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식별자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일반화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연령을 </a:t>
                      </a:r>
                      <a:r>
                        <a:rPr lang="en-US" altLang="ko-KR" sz="1100" dirty="0"/>
                        <a:t>10</a:t>
                      </a:r>
                      <a:r>
                        <a:rPr lang="ko-KR" altLang="en-US" sz="1100" dirty="0"/>
                        <a:t>년 단위로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구간화 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예</a:t>
                      </a:r>
                      <a:r>
                        <a:rPr lang="en-US" altLang="ko-KR" sz="1100" dirty="0"/>
                        <a:t>: 30~39</a:t>
                      </a:r>
                      <a:r>
                        <a:rPr lang="ko-KR" altLang="en-US" sz="1100" dirty="0"/>
                        <a:t>세</a:t>
                      </a:r>
                      <a:r>
                        <a:rPr lang="en-US" altLang="ko-KR" sz="110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7785995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5541DE28-4618-473B-B0D8-BCD7635DC798}"/>
              </a:ext>
            </a:extLst>
          </p:cNvPr>
          <p:cNvSpPr txBox="1"/>
          <p:nvPr/>
        </p:nvSpPr>
        <p:spPr>
          <a:xfrm>
            <a:off x="232003" y="5819477"/>
            <a:ext cx="1189530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bg1"/>
                </a:solidFill>
              </a:rPr>
              <a:t>개인정보 관리 요건 요약 </a:t>
            </a:r>
            <a:endParaRPr lang="en-US" altLang="ko-KR" sz="1400" b="1" dirty="0">
              <a:solidFill>
                <a:schemeClr val="bg1"/>
              </a:solidFill>
            </a:endParaRPr>
          </a:p>
          <a:p>
            <a:endParaRPr lang="en-US" altLang="ko-KR" sz="1200" b="1" dirty="0">
              <a:solidFill>
                <a:schemeClr val="bg1"/>
              </a:solidFill>
            </a:endParaRPr>
          </a:p>
          <a:p>
            <a:r>
              <a:rPr lang="ko-KR" altLang="en-US" sz="1200" dirty="0">
                <a:solidFill>
                  <a:schemeClr val="bg1"/>
                </a:solidFill>
              </a:rPr>
              <a:t>본 시스템은 「개인정보 보호법」 및 「</a:t>
            </a:r>
            <a:r>
              <a:rPr lang="ko-KR" altLang="en-US" sz="1200" dirty="0" err="1">
                <a:solidFill>
                  <a:schemeClr val="bg1"/>
                </a:solidFill>
              </a:rPr>
              <a:t>정보통신망법」에</a:t>
            </a:r>
            <a:r>
              <a:rPr lang="ko-KR" altLang="en-US" sz="1200" dirty="0">
                <a:solidFill>
                  <a:schemeClr val="bg1"/>
                </a:solidFill>
              </a:rPr>
              <a:t> 따라 최소한의 개인정보만 수집하며</a:t>
            </a:r>
            <a:r>
              <a:rPr lang="en-US" altLang="ko-KR" sz="1200" dirty="0">
                <a:solidFill>
                  <a:schemeClr val="bg1"/>
                </a:solidFill>
              </a:rPr>
              <a:t>,</a:t>
            </a:r>
            <a:r>
              <a:rPr lang="ko-KR" altLang="en-US" sz="1200" dirty="0">
                <a:solidFill>
                  <a:schemeClr val="bg1"/>
                </a:solidFill>
              </a:rPr>
              <a:t>서비스 운영 및 통계 분석 시에는 반드시 </a:t>
            </a:r>
            <a:r>
              <a:rPr lang="ko-KR" altLang="en-US" sz="1200" dirty="0" err="1">
                <a:solidFill>
                  <a:schemeClr val="bg1"/>
                </a:solidFill>
              </a:rPr>
              <a:t>비식별</a:t>
            </a:r>
            <a:r>
              <a:rPr lang="ko-KR" altLang="en-US" sz="1200" dirty="0">
                <a:solidFill>
                  <a:schemeClr val="bg1"/>
                </a:solidFill>
              </a:rPr>
              <a:t> 처리 후 활용한다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sz="1200" dirty="0">
                <a:solidFill>
                  <a:schemeClr val="bg1"/>
                </a:solidFill>
              </a:rPr>
              <a:t>모든 개인정보는 암호화 저장</a:t>
            </a:r>
            <a:r>
              <a:rPr lang="en-US" altLang="ko-KR" sz="1200" dirty="0">
                <a:solidFill>
                  <a:schemeClr val="bg1"/>
                </a:solidFill>
              </a:rPr>
              <a:t>·</a:t>
            </a:r>
            <a:r>
              <a:rPr lang="ko-KR" altLang="en-US" sz="1200" dirty="0">
                <a:solidFill>
                  <a:schemeClr val="bg1"/>
                </a:solidFill>
              </a:rPr>
              <a:t>전송되며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분석 목적의 데이터는 재식별이 불가능하도록 별도의 데이터베이스에서 관리된다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2F746D57-C2A2-4395-86B0-0C20E985219A}"/>
              </a:ext>
            </a:extLst>
          </p:cNvPr>
          <p:cNvCxnSpPr>
            <a:cxnSpLocks/>
          </p:cNvCxnSpPr>
          <p:nvPr/>
        </p:nvCxnSpPr>
        <p:spPr>
          <a:xfrm>
            <a:off x="318676" y="6151976"/>
            <a:ext cx="1154283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7215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2.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빅데이터 보안 관리 기획하기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49F1874E-4567-4EA8-9185-F97D71334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42016"/>
              </p:ext>
            </p:extLst>
          </p:nvPr>
        </p:nvGraphicFramePr>
        <p:xfrm>
          <a:off x="573547" y="2796962"/>
          <a:ext cx="11027427" cy="3505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41148">
                  <a:extLst>
                    <a:ext uri="{9D8B030D-6E8A-4147-A177-3AD203B41FA5}">
                      <a16:colId xmlns:a16="http://schemas.microsoft.com/office/drawing/2014/main" val="3903911090"/>
                    </a:ext>
                  </a:extLst>
                </a:gridCol>
                <a:gridCol w="1599359">
                  <a:extLst>
                    <a:ext uri="{9D8B030D-6E8A-4147-A177-3AD203B41FA5}">
                      <a16:colId xmlns:a16="http://schemas.microsoft.com/office/drawing/2014/main" val="139078065"/>
                    </a:ext>
                  </a:extLst>
                </a:gridCol>
                <a:gridCol w="2313051">
                  <a:extLst>
                    <a:ext uri="{9D8B030D-6E8A-4147-A177-3AD203B41FA5}">
                      <a16:colId xmlns:a16="http://schemas.microsoft.com/office/drawing/2014/main" val="3526349659"/>
                    </a:ext>
                  </a:extLst>
                </a:gridCol>
                <a:gridCol w="1447829">
                  <a:extLst>
                    <a:ext uri="{9D8B030D-6E8A-4147-A177-3AD203B41FA5}">
                      <a16:colId xmlns:a16="http://schemas.microsoft.com/office/drawing/2014/main" val="2233504506"/>
                    </a:ext>
                  </a:extLst>
                </a:gridCol>
                <a:gridCol w="958885">
                  <a:extLst>
                    <a:ext uri="{9D8B030D-6E8A-4147-A177-3AD203B41FA5}">
                      <a16:colId xmlns:a16="http://schemas.microsoft.com/office/drawing/2014/main" val="3729632315"/>
                    </a:ext>
                  </a:extLst>
                </a:gridCol>
                <a:gridCol w="1736522">
                  <a:extLst>
                    <a:ext uri="{9D8B030D-6E8A-4147-A177-3AD203B41FA5}">
                      <a16:colId xmlns:a16="http://schemas.microsoft.com/office/drawing/2014/main" val="855647679"/>
                    </a:ext>
                  </a:extLst>
                </a:gridCol>
                <a:gridCol w="2030633">
                  <a:extLst>
                    <a:ext uri="{9D8B030D-6E8A-4147-A177-3AD203B41FA5}">
                      <a16:colId xmlns:a16="http://schemas.microsoft.com/office/drawing/2014/main" val="36097833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수명 주기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보안 대상 자산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주요 위험 요소</a:t>
                      </a:r>
                      <a:endParaRPr lang="en-US" altLang="ko-KR" sz="12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위협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취약점</a:t>
                      </a:r>
                      <a:r>
                        <a:rPr lang="en-US" altLang="ko-KR" sz="12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발생 가능성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손실 영향도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위험 수준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관리 관점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대응 방안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52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수집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웹 예약 페이지 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/ </a:t>
                      </a:r>
                      <a:r>
                        <a:rPr lang="ko-KR" altLang="en-US" sz="1100" dirty="0"/>
                        <a:t>입력 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사용자 입력 데이터의 전송 중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유출 </a:t>
                      </a:r>
                      <a:r>
                        <a:rPr lang="en-US" altLang="ko-KR" sz="1100" dirty="0"/>
                        <a:t>(HTTPS </a:t>
                      </a:r>
                      <a:r>
                        <a:rPr lang="ko-KR" altLang="en-US" sz="1100" dirty="0"/>
                        <a:t>미적용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인증 미비 등</a:t>
                      </a:r>
                      <a:r>
                        <a:rPr lang="en-US" altLang="ko-KR" sz="11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발생 가능성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중간 </a:t>
                      </a:r>
                      <a:r>
                        <a:rPr lang="en-US" altLang="ko-KR" sz="1100" dirty="0"/>
                        <a:t>/ </a:t>
                      </a:r>
                      <a:r>
                        <a:rPr lang="ko-KR" altLang="en-US" sz="1100" dirty="0"/>
                        <a:t>손실 영향도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높음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/>
                        <a:t>높음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기술적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/>
                        <a:t>데이터 수집 및 전송 시 </a:t>
                      </a:r>
                      <a:r>
                        <a:rPr lang="en-US" altLang="ko-KR" sz="1100" b="0" dirty="0"/>
                        <a:t>SSL(HTTPS)</a:t>
                      </a:r>
                      <a:r>
                        <a:rPr lang="ko-KR" altLang="en-US" sz="1100" b="0" dirty="0"/>
                        <a:t> 암호화 적용</a:t>
                      </a:r>
                      <a:r>
                        <a:rPr lang="en-US" altLang="ko-KR" sz="1100" b="0" dirty="0"/>
                        <a:t>, reCAPTCHA</a:t>
                      </a:r>
                      <a:r>
                        <a:rPr lang="ko-KR" altLang="en-US" sz="1100" b="0" dirty="0"/>
                        <a:t> 도입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/>
                        <a:t>관리자</a:t>
                      </a:r>
                      <a:endParaRPr lang="en-US" altLang="ko-KR" sz="1100" b="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/>
                        <a:t>인증 절차 강화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6169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저장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DB </a:t>
                      </a:r>
                      <a:r>
                        <a:rPr lang="ko-KR" altLang="en-US" sz="1100" dirty="0"/>
                        <a:t>서버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/ </a:t>
                      </a:r>
                      <a:r>
                        <a:rPr lang="ko-KR" altLang="en-US" sz="1100" dirty="0"/>
                        <a:t>예약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회원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개인정보 저장 시 암호화 미흡</a:t>
                      </a:r>
                      <a:r>
                        <a:rPr lang="en-US" altLang="ko-KR" sz="1100" dirty="0"/>
                        <a:t>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접근 권한 과다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발생 가능성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높음 </a:t>
                      </a:r>
                      <a:r>
                        <a:rPr lang="en-US" altLang="ko-KR" sz="1100" dirty="0"/>
                        <a:t>/ </a:t>
                      </a:r>
                      <a:r>
                        <a:rPr lang="ko-KR" altLang="en-US" sz="1100" dirty="0"/>
                        <a:t>손실 영향도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높음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/>
                        <a:t>높음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기술적 </a:t>
                      </a:r>
                      <a:r>
                        <a:rPr lang="en-US" altLang="ko-KR" sz="1100" dirty="0"/>
                        <a:t>/ </a:t>
                      </a:r>
                      <a:r>
                        <a:rPr lang="ko-KR" altLang="en-US" sz="1100" dirty="0"/>
                        <a:t>개인정보 관리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/>
                        <a:t>DB </a:t>
                      </a:r>
                      <a:r>
                        <a:rPr lang="ko-KR" altLang="en-US" sz="1100" b="0" dirty="0"/>
                        <a:t>내 개인정보 필드 </a:t>
                      </a:r>
                      <a:r>
                        <a:rPr lang="en-US" altLang="ko-KR" sz="1100" b="0" dirty="0"/>
                        <a:t>AES256 </a:t>
                      </a:r>
                      <a:r>
                        <a:rPr lang="ko-KR" altLang="en-US" sz="1100" b="0" dirty="0"/>
                        <a:t>암호화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/>
                        <a:t>비밀번호 해시 처리</a:t>
                      </a:r>
                      <a:r>
                        <a:rPr lang="en-US" altLang="ko-KR" sz="1100" b="0" dirty="0"/>
                        <a:t>(</a:t>
                      </a:r>
                      <a:r>
                        <a:rPr lang="en-US" altLang="ko-KR" sz="1100" b="0" dirty="0" err="1"/>
                        <a:t>BCrypt</a:t>
                      </a:r>
                      <a:r>
                        <a:rPr lang="en-US" altLang="ko-KR" sz="1100" b="0" dirty="0"/>
                        <a:t>), </a:t>
                      </a:r>
                      <a:r>
                        <a:rPr lang="ko-KR" altLang="en-US" sz="1100" b="0" dirty="0"/>
                        <a:t>접근권한 최소화 및 로그 기록 유지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9483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분석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내부 관리자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운영자</a:t>
                      </a:r>
                      <a:r>
                        <a:rPr lang="en-US" altLang="ko-KR" sz="1100" dirty="0"/>
                        <a:t>)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/ </a:t>
                      </a:r>
                      <a:r>
                        <a:rPr lang="ko-KR" altLang="en-US" sz="1100" dirty="0"/>
                        <a:t>로그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내부 인력에 의한 정보 유출</a:t>
                      </a:r>
                      <a:r>
                        <a:rPr lang="en-US" altLang="ko-KR" sz="1100" dirty="0"/>
                        <a:t>,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분석용 데이터의 </a:t>
                      </a:r>
                      <a:r>
                        <a:rPr lang="ko-KR" altLang="en-US" sz="1100" dirty="0" err="1"/>
                        <a:t>재식별</a:t>
                      </a:r>
                      <a:r>
                        <a:rPr lang="ko-KR" altLang="en-US" sz="1100" dirty="0"/>
                        <a:t> 위험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발생 가능성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중간 </a:t>
                      </a:r>
                      <a:r>
                        <a:rPr lang="en-US" altLang="ko-KR" sz="1100" dirty="0"/>
                        <a:t>/ </a:t>
                      </a:r>
                      <a:r>
                        <a:rPr lang="ko-KR" altLang="en-US" sz="1100" dirty="0"/>
                        <a:t>손실 영향도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높음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/>
                        <a:t>높음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인적 </a:t>
                      </a:r>
                      <a:r>
                        <a:rPr lang="en-US" altLang="ko-KR" sz="1100" dirty="0"/>
                        <a:t>/ </a:t>
                      </a:r>
                      <a:r>
                        <a:rPr lang="ko-KR" altLang="en-US" sz="1100" dirty="0"/>
                        <a:t>관리적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/>
                        <a:t>내부 인원 대상 보안 의식 교육 및 데이터 접근 권한 분리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/>
                        <a:t>분석용 데이터는 비식별화</a:t>
                      </a:r>
                      <a:endParaRPr lang="en-US" altLang="ko-KR" sz="1100" b="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/>
                        <a:t>처리 후 활용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8872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활용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웹 서비스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예약 관리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· </a:t>
                      </a:r>
                      <a:r>
                        <a:rPr lang="ko-KR" altLang="en-US" sz="1100" dirty="0"/>
                        <a:t>후기 게시 등</a:t>
                      </a:r>
                      <a:r>
                        <a:rPr lang="en-US" altLang="ko-KR" sz="11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외부 공격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웹 해킹</a:t>
                      </a:r>
                      <a:r>
                        <a:rPr lang="en-US" altLang="ko-KR" sz="1100" dirty="0"/>
                        <a:t>, SQL </a:t>
                      </a:r>
                      <a:r>
                        <a:rPr lang="ko-KR" altLang="en-US" sz="1100" dirty="0" err="1"/>
                        <a:t>인젝션</a:t>
                      </a:r>
                      <a:r>
                        <a:rPr lang="en-US" altLang="ko-KR" sz="1100" dirty="0"/>
                        <a:t>, XSS </a:t>
                      </a:r>
                      <a:r>
                        <a:rPr lang="ko-KR" altLang="en-US" sz="1100" dirty="0"/>
                        <a:t>등</a:t>
                      </a:r>
                      <a:r>
                        <a:rPr lang="en-US" altLang="ko-KR" sz="1100" dirty="0"/>
                        <a:t>)</a:t>
                      </a:r>
                      <a:r>
                        <a:rPr lang="ko-KR" altLang="en-US" sz="1100" dirty="0"/>
                        <a:t>으로 인한 서비스 마비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및 데이터 손실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발생 가능성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높음 </a:t>
                      </a:r>
                      <a:r>
                        <a:rPr lang="en-US" altLang="ko-KR" sz="1100" dirty="0"/>
                        <a:t>/ </a:t>
                      </a:r>
                      <a:r>
                        <a:rPr lang="ko-KR" altLang="en-US" sz="1100" dirty="0"/>
                        <a:t>손실 영향도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높음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/>
                        <a:t>높음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기술적 </a:t>
                      </a:r>
                      <a:r>
                        <a:rPr lang="en-US" altLang="ko-KR" sz="1100" dirty="0"/>
                        <a:t>/ </a:t>
                      </a:r>
                      <a:r>
                        <a:rPr lang="ko-KR" altLang="en-US" sz="1100" dirty="0"/>
                        <a:t>관리적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/>
                        <a:t>정기 보안 점검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/>
                        <a:t>웹 방화벽</a:t>
                      </a:r>
                      <a:r>
                        <a:rPr lang="en-US" altLang="ko-KR" sz="1100" b="0" dirty="0"/>
                        <a:t>(WAF)</a:t>
                      </a:r>
                      <a:r>
                        <a:rPr lang="ko-KR" altLang="en-US" sz="1100" b="0" dirty="0"/>
                        <a:t> 적용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 err="1"/>
                        <a:t>입력값</a:t>
                      </a:r>
                      <a:r>
                        <a:rPr lang="ko-KR" altLang="en-US" sz="1100" b="0" dirty="0"/>
                        <a:t> 유효성 검증 강화</a:t>
                      </a:r>
                      <a:r>
                        <a:rPr lang="en-US" altLang="ko-KR" sz="1100" b="0" dirty="0"/>
                        <a:t>, </a:t>
                      </a:r>
                      <a:r>
                        <a:rPr lang="ko-KR" altLang="en-US" sz="1100" b="0" dirty="0"/>
                        <a:t>보안 로그</a:t>
                      </a:r>
                      <a:endParaRPr lang="en-US" altLang="ko-KR" sz="1100" b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/>
                        <a:t>모니터링 수행</a:t>
                      </a:r>
                      <a:endParaRPr lang="ko-KR" altLang="en-US" sz="11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835524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09215DC-24CE-43CA-A3FE-B2F2319EA836}"/>
              </a:ext>
            </a:extLst>
          </p:cNvPr>
          <p:cNvSpPr txBox="1"/>
          <p:nvPr/>
        </p:nvSpPr>
        <p:spPr>
          <a:xfrm>
            <a:off x="522214" y="1766629"/>
            <a:ext cx="1113009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 err="1">
                <a:solidFill>
                  <a:schemeClr val="bg1"/>
                </a:solidFill>
              </a:rPr>
              <a:t>LastPage</a:t>
            </a:r>
            <a:r>
              <a:rPr lang="ko-KR" altLang="en-US" sz="1400" b="1" dirty="0">
                <a:solidFill>
                  <a:schemeClr val="bg1"/>
                </a:solidFill>
              </a:rPr>
              <a:t> 수명 </a:t>
            </a:r>
            <a:r>
              <a:rPr lang="ko-KR" altLang="en-US" sz="1400" b="1" dirty="0" err="1">
                <a:solidFill>
                  <a:schemeClr val="bg1"/>
                </a:solidFill>
              </a:rPr>
              <a:t>주기별</a:t>
            </a:r>
            <a:r>
              <a:rPr lang="ko-KR" altLang="en-US" sz="1400" b="1" dirty="0">
                <a:solidFill>
                  <a:schemeClr val="bg1"/>
                </a:solidFill>
              </a:rPr>
              <a:t> 보안 위험 요소 분석 및 대응 방안</a:t>
            </a:r>
            <a:endParaRPr lang="en-US" altLang="ko-KR" sz="1400" b="1" dirty="0">
              <a:solidFill>
                <a:schemeClr val="bg1"/>
              </a:solidFill>
            </a:endParaRPr>
          </a:p>
          <a:p>
            <a:endParaRPr lang="ko-KR" altLang="en-US" sz="1400" b="1" dirty="0">
              <a:solidFill>
                <a:schemeClr val="bg1"/>
              </a:solidFill>
            </a:endParaRPr>
          </a:p>
          <a:p>
            <a:r>
              <a:rPr lang="ko-KR" altLang="en-US" sz="1200" dirty="0">
                <a:solidFill>
                  <a:schemeClr val="bg1"/>
                </a:solidFill>
              </a:rPr>
              <a:t>본 시스템은 서비스 이용자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보호자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의 개인정보를 포함한 예약 및 장례 데이터 등을 처리하므로</a:t>
            </a:r>
            <a:r>
              <a:rPr lang="en-US" altLang="ko-KR" sz="1200" dirty="0">
                <a:solidFill>
                  <a:schemeClr val="bg1"/>
                </a:solidFill>
              </a:rPr>
              <a:t>,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ko-KR" altLang="en-US" sz="1200" dirty="0">
                <a:solidFill>
                  <a:schemeClr val="bg1"/>
                </a:solidFill>
              </a:rPr>
              <a:t>각 데이터 생명주기 단계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수집</a:t>
            </a:r>
            <a:r>
              <a:rPr lang="en-US" altLang="ko-KR" sz="1200" dirty="0">
                <a:solidFill>
                  <a:schemeClr val="bg1"/>
                </a:solidFill>
              </a:rPr>
              <a:t>–</a:t>
            </a:r>
            <a:r>
              <a:rPr lang="ko-KR" altLang="en-US" sz="1200" dirty="0">
                <a:solidFill>
                  <a:schemeClr val="bg1"/>
                </a:solidFill>
              </a:rPr>
              <a:t>저장</a:t>
            </a:r>
            <a:r>
              <a:rPr lang="en-US" altLang="ko-KR" sz="1200" dirty="0">
                <a:solidFill>
                  <a:schemeClr val="bg1"/>
                </a:solidFill>
              </a:rPr>
              <a:t>–</a:t>
            </a:r>
            <a:r>
              <a:rPr lang="ko-KR" altLang="en-US" sz="1200" dirty="0">
                <a:solidFill>
                  <a:schemeClr val="bg1"/>
                </a:solidFill>
              </a:rPr>
              <a:t>분석</a:t>
            </a:r>
            <a:r>
              <a:rPr lang="en-US" altLang="ko-KR" sz="1200" dirty="0">
                <a:solidFill>
                  <a:schemeClr val="bg1"/>
                </a:solidFill>
              </a:rPr>
              <a:t>–</a:t>
            </a:r>
            <a:r>
              <a:rPr lang="ko-KR" altLang="en-US" sz="1200" dirty="0">
                <a:solidFill>
                  <a:schemeClr val="bg1"/>
                </a:solidFill>
              </a:rPr>
              <a:t>활용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에서 발생할 수 있는 보안 위험요소를 사전에 식별하고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이에 대한 기술적</a:t>
            </a:r>
            <a:r>
              <a:rPr lang="en-US" altLang="ko-KR" sz="1200" dirty="0">
                <a:solidFill>
                  <a:schemeClr val="bg1"/>
                </a:solidFill>
              </a:rPr>
              <a:t>·</a:t>
            </a:r>
            <a:r>
              <a:rPr lang="ko-KR" altLang="en-US" sz="1200" dirty="0">
                <a:solidFill>
                  <a:schemeClr val="bg1"/>
                </a:solidFill>
              </a:rPr>
              <a:t>관리적 대응책을 수립한다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5C134D6-3BD2-45B6-B2B3-320E11912CF1}"/>
              </a:ext>
            </a:extLst>
          </p:cNvPr>
          <p:cNvCxnSpPr>
            <a:cxnSpLocks/>
          </p:cNvCxnSpPr>
          <p:nvPr/>
        </p:nvCxnSpPr>
        <p:spPr>
          <a:xfrm>
            <a:off x="573896" y="2137355"/>
            <a:ext cx="1104420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0580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3.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빅데이터 조직 수립하기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0E5DFB-FC0F-4700-8564-9143DFAB0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084" y="1585189"/>
            <a:ext cx="5650852" cy="517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73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3.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빅데이터 조직 수립하기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AC20E55-B95D-4205-AECC-C1A636DF1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135" y="1605197"/>
            <a:ext cx="6287377" cy="515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02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4.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빅데이터 운영 관리 기획하기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206D49B-EC9E-4E0E-B3D3-D64C2C758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135" y="1978409"/>
            <a:ext cx="6249272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286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4.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빅데이터 운영 관리 기획하기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D646A24-1B33-48CD-8BC8-85414BA9D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135" y="1629272"/>
            <a:ext cx="5884140" cy="490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666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63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EDF5F-EEC7-7330-11DA-82489AF6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B105F9C-5F0F-C98D-C444-7E79C05C12A2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감사합니다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54065CC-BAF2-2646-6DC9-CCA2AC58DAD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pic>
        <p:nvPicPr>
          <p:cNvPr id="9" name="그림 8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1E723E-4DFB-CCF9-FB66-49713820E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8FCE66-B67E-3DCC-EDC0-BF93D04DBEEA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188F3796-C2DD-4B3B-A779-04A4DEF6B8AF}"/>
              </a:ext>
            </a:extLst>
          </p:cNvPr>
          <p:cNvSpPr txBox="1">
            <a:spLocks/>
          </p:cNvSpPr>
          <p:nvPr/>
        </p:nvSpPr>
        <p:spPr>
          <a:xfrm>
            <a:off x="9707134" y="5409213"/>
            <a:ext cx="2247122" cy="12615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심예진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548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2511</TotalTime>
  <Words>717</Words>
  <Application>Microsoft Office PowerPoint</Application>
  <PresentationFormat>와이드스크린</PresentationFormat>
  <Paragraphs>142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Calibri</vt:lpstr>
      <vt:lpstr>Office 테마</vt:lpstr>
      <vt:lpstr>PowerPoint 프레젠테이션</vt:lpstr>
      <vt:lpstr>INDEX 및 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Cisco 문제 1번 2. Cisco 문제 2번 3. Jdk설치 + 설정 4. Tomcat 설치 + 설정 5. Eclipse 설치 + 설정</dc:title>
  <dc:creator>FullName</dc:creator>
  <cp:lastModifiedBy>FullName</cp:lastModifiedBy>
  <cp:revision>144</cp:revision>
  <dcterms:created xsi:type="dcterms:W3CDTF">2025-08-05T00:27:28Z</dcterms:created>
  <dcterms:modified xsi:type="dcterms:W3CDTF">2025-10-21T06:42:01Z</dcterms:modified>
</cp:coreProperties>
</file>