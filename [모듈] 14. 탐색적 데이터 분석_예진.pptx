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344" r:id="rId3"/>
    <p:sldId id="346" r:id="rId4"/>
    <p:sldId id="28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탐색적 데이터 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FD1E23FA-1DE4-4491-9D37-8ADBE2E3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000" dirty="0"/>
              <a:t>7. </a:t>
            </a:r>
            <a:r>
              <a:rPr lang="en-US" altLang="ko-KR" sz="2000" dirty="0" err="1"/>
              <a:t>Item_Type</a:t>
            </a:r>
            <a:r>
              <a:rPr lang="en-US" altLang="ko-KR" sz="2000" dirty="0"/>
              <a:t> – </a:t>
            </a:r>
            <a:r>
              <a:rPr lang="en-US" altLang="ko-KR" sz="2000" dirty="0" err="1"/>
              <a:t>Item_Outlet_Sales</a:t>
            </a:r>
            <a:r>
              <a:rPr lang="en-US" altLang="ko-KR" sz="2000" dirty="0"/>
              <a:t> </a:t>
            </a:r>
            <a:r>
              <a:rPr lang="ko-KR" altLang="en-US" sz="2000" dirty="0"/>
              <a:t>값 간의 회귀분석</a:t>
            </a:r>
            <a:r>
              <a:rPr lang="en-US" altLang="ko-KR" sz="2000" dirty="0"/>
              <a:t>(OLS) </a:t>
            </a:r>
            <a:r>
              <a:rPr lang="ko-KR" altLang="en-US" sz="2000" dirty="0"/>
              <a:t>확인</a:t>
            </a:r>
            <a:r>
              <a:rPr lang="en-US" altLang="ko-KR" sz="2000" dirty="0"/>
              <a:t>(Summary</a:t>
            </a:r>
            <a:r>
              <a:rPr lang="ko-KR" altLang="en-US" sz="2000" dirty="0"/>
              <a:t>와 </a:t>
            </a:r>
            <a:r>
              <a:rPr lang="ko-KR" altLang="en-US" sz="2000" dirty="0" err="1"/>
              <a:t>값해석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12" name="그림 11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57CFF6-8B30-498A-AFF6-7B5F24723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D0FF85B-4CD6-4004-B756-EE7618B297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43" t="38889" r="52422" b="17917"/>
          <a:stretch/>
        </p:blipFill>
        <p:spPr>
          <a:xfrm>
            <a:off x="590550" y="2095500"/>
            <a:ext cx="5181600" cy="4164025"/>
          </a:xfrm>
          <a:prstGeom prst="rect">
            <a:avLst/>
          </a:prstGeom>
        </p:spPr>
      </p:pic>
      <p:sp>
        <p:nvSpPr>
          <p:cNvPr id="14" name="TextBox 21">
            <a:extLst>
              <a:ext uri="{FF2B5EF4-FFF2-40B4-BE49-F238E27FC236}">
                <a16:creationId xmlns:a16="http://schemas.microsoft.com/office/drawing/2014/main" id="{6AA7BE9D-42A4-40FF-89BB-D1FE6A913CB5}"/>
              </a:ext>
            </a:extLst>
          </p:cNvPr>
          <p:cNvSpPr txBox="1"/>
          <p:nvPr/>
        </p:nvSpPr>
        <p:spPr>
          <a:xfrm>
            <a:off x="6065244" y="1987557"/>
            <a:ext cx="5889266" cy="1606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회귀 분석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회귀 분석이란</a:t>
            </a:r>
            <a:r>
              <a:rPr lang="en-US" altLang="ko-KR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?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한 변수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종속변수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y)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다른 변수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독립변수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X)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설명하거나 예측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b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lang="ko-KR" altLang="en-US" sz="11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★ 선형 회귀</a:t>
            </a:r>
            <a:r>
              <a:rPr lang="en-US" altLang="ko-KR" sz="11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(Linear Regression)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선형 </a:t>
            </a:r>
            <a:r>
              <a:rPr kumimoji="0" lang="ko-KR" altLang="en-US" sz="11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회귀란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 분석의 한 종류로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y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선형결합으로 표현됨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OLS(Ordinary Least Squares) :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계수 추정 방법</a:t>
            </a:r>
            <a:r>
              <a:rPr kumimoji="0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오차 제곱합을 </a:t>
            </a:r>
            <a:r>
              <a:rPr lang="ko-KR" altLang="en-US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최소화</a:t>
            </a:r>
            <a:endParaRPr kumimoji="0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36">
            <a:extLst>
              <a:ext uri="{FF2B5EF4-FFF2-40B4-BE49-F238E27FC236}">
                <a16:creationId xmlns:a16="http://schemas.microsoft.com/office/drawing/2014/main" id="{B9E0760C-43AB-4B31-BC9D-79947B9D0193}"/>
              </a:ext>
            </a:extLst>
          </p:cNvPr>
          <p:cNvSpPr txBox="1"/>
          <p:nvPr/>
        </p:nvSpPr>
        <p:spPr>
          <a:xfrm>
            <a:off x="6188396" y="4127441"/>
            <a:ext cx="5597847" cy="821379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판매액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Item_Outlet_Sales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은 연속형 수치 데이터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lang="ko-KR" altLang="en-US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→ 계산이 간단하고 해석이 직관적인 선형회귀</a:t>
            </a:r>
            <a:r>
              <a:rPr lang="en-US" altLang="ko-KR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(Linear Regression)</a:t>
            </a:r>
            <a:r>
              <a:rPr lang="ko-KR" altLang="en-US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를 사용하여</a:t>
            </a:r>
            <a:br>
              <a:rPr lang="en-US" altLang="ko-KR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</a:t>
            </a:r>
            <a:r>
              <a:rPr lang="ko-KR" altLang="en-US" sz="11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독립변수들로부터</a:t>
            </a:r>
            <a:r>
              <a:rPr lang="ko-KR" altLang="en-US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판매액을 예측하고 모델 성능을 평가하기 위해 채택했다</a:t>
            </a:r>
            <a:r>
              <a:rPr lang="en-US" altLang="ko-KR" sz="11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9A68D65A-51DC-432F-A986-D4FC1016934B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5772150" y="4177513"/>
            <a:ext cx="416246" cy="360618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E73F727-C7C6-4A45-B540-FA5D59F5C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3200" dirty="0"/>
              <a:t>8. </a:t>
            </a:r>
            <a:r>
              <a:rPr lang="ko-KR" altLang="en-US" sz="3200" dirty="0"/>
              <a:t>그래프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8C9BE8A-CEB0-474D-BAFD-04852E331E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23" t="16544" r="37733" b="58539"/>
          <a:stretch/>
        </p:blipFill>
        <p:spPr>
          <a:xfrm>
            <a:off x="310427" y="2450734"/>
            <a:ext cx="5467351" cy="1708816"/>
          </a:xfrm>
          <a:prstGeom prst="rect">
            <a:avLst/>
          </a:prstGeom>
        </p:spPr>
      </p:pic>
      <p:sp>
        <p:nvSpPr>
          <p:cNvPr id="14" name="TextBox 36">
            <a:extLst>
              <a:ext uri="{FF2B5EF4-FFF2-40B4-BE49-F238E27FC236}">
                <a16:creationId xmlns:a16="http://schemas.microsoft.com/office/drawing/2014/main" id="{B11283C7-6B63-4A84-979C-FAE06DB79282}"/>
              </a:ext>
            </a:extLst>
          </p:cNvPr>
          <p:cNvSpPr txBox="1"/>
          <p:nvPr/>
        </p:nvSpPr>
        <p:spPr>
          <a:xfrm>
            <a:off x="379116" y="4738749"/>
            <a:ext cx="5325422" cy="1075294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회귀분석에서 독립변수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Item_Type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판매액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Item_Outlet_Sales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어떤 영향을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주는지 이해하기 위한 탐색적 데이터 분석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(EDA)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각 상품 종류별 평균 판매액을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시각화하여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회귀분석에서 독립변수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Item_Type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 판매액에 미치는 영향을 직관적으로 이해할 수 있음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1F9ABF78-C959-40F0-AEAC-6B11F72933FF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rot="5400000">
            <a:off x="2753366" y="4448011"/>
            <a:ext cx="579199" cy="227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BAC3107-7111-4941-AA16-63497D9AB3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423" t="41207" r="41021" b="8333"/>
          <a:stretch/>
        </p:blipFill>
        <p:spPr>
          <a:xfrm>
            <a:off x="6096000" y="2299616"/>
            <a:ext cx="5658250" cy="38646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9DA4AB-D0B5-4BBE-9DE0-27FBF7033412}"/>
              </a:ext>
            </a:extLst>
          </p:cNvPr>
          <p:cNvSpPr txBox="1"/>
          <p:nvPr/>
        </p:nvSpPr>
        <p:spPr>
          <a:xfrm>
            <a:off x="8524506" y="2332428"/>
            <a:ext cx="1178528" cy="15998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ts val="500"/>
              </a:lnSpc>
            </a:pP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상품 종류별 평균 판매액</a:t>
            </a:r>
          </a:p>
        </p:txBody>
      </p:sp>
    </p:spTree>
    <p:extLst>
      <p:ext uri="{BB962C8B-B14F-4D97-AF65-F5344CB8AC3E}">
        <p14:creationId xmlns:p14="http://schemas.microsoft.com/office/powerpoint/2010/main" val="46693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</TotalTime>
  <Words>207</Words>
  <Application>Microsoft Office PowerPoint</Application>
  <PresentationFormat>와이드스크린</PresentationFormat>
  <Paragraphs>24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테마</vt:lpstr>
      <vt:lpstr>PowerPoint 프레젠테이션</vt:lpstr>
      <vt:lpstr>7. Item_Type – Item_Outlet_Sales 값 간의 회귀분석(OLS) 확인(Summary와 값해석)</vt:lpstr>
      <vt:lpstr>8. 그래프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191</cp:revision>
  <dcterms:created xsi:type="dcterms:W3CDTF">2025-08-05T00:27:28Z</dcterms:created>
  <dcterms:modified xsi:type="dcterms:W3CDTF">2025-10-29T08:29:42Z</dcterms:modified>
</cp:coreProperties>
</file>