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93" r:id="rId4"/>
    <p:sldId id="294" r:id="rId5"/>
    <p:sldId id="300" r:id="rId6"/>
    <p:sldId id="297" r:id="rId7"/>
    <p:sldId id="301" r:id="rId8"/>
    <p:sldId id="312" r:id="rId9"/>
    <p:sldId id="314" r:id="rId10"/>
    <p:sldId id="299" r:id="rId11"/>
    <p:sldId id="298" r:id="rId12"/>
    <p:sldId id="315" r:id="rId13"/>
    <p:sldId id="313" r:id="rId14"/>
    <p:sldId id="286" r:id="rId15"/>
    <p:sldId id="29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>
        <p:scale>
          <a:sx n="75" d="100"/>
          <a:sy n="75" d="100"/>
        </p:scale>
        <p:origin x="209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환경 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>
                <a:solidFill>
                  <a:srgbClr val="2C3930"/>
                </a:solidFill>
              </a:rPr>
              <a:t>astpage</a:t>
            </a:r>
            <a:r>
              <a:rPr lang="en-US" altLang="ko-KR" sz="5400" dirty="0">
                <a:solidFill>
                  <a:schemeClr val="bg1"/>
                </a:solidFill>
              </a:rPr>
              <a:t>Lastpage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91" y="1631341"/>
            <a:ext cx="4616001" cy="1902250"/>
          </a:xfrm>
        </p:spPr>
        <p:txBody>
          <a:bodyPr>
            <a:noAutofit/>
          </a:bodyPr>
          <a:lstStyle/>
          <a:p>
            <a:pPr marL="0" indent="0">
              <a:lnSpc>
                <a:spcPct val="175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01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서비스 환경분석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 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?    </a:t>
            </a:r>
            <a:endParaRPr lang="en-US" altLang="ko-KR" sz="16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시장규모 파악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요구사항표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전략수립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(3C)</a:t>
            </a:r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1019D-DB40-4396-9D92-4CA082A9C580}"/>
              </a:ext>
            </a:extLst>
          </p:cNvPr>
          <p:cNvSpPr txBox="1"/>
          <p:nvPr/>
        </p:nvSpPr>
        <p:spPr>
          <a:xfrm>
            <a:off x="6202811" y="1568307"/>
            <a:ext cx="5068438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02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데이터 환경 분석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 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?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분석 목적 정의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필요한 데이터 항목 도출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출처 조사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형태 파악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품질 및 활용성 평가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수집 가능성 검토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후보 데이터 선정</a:t>
            </a:r>
            <a:endParaRPr lang="ko-KR" alt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CA4E3-F62A-4120-8F32-10E23AFA0BC6}"/>
              </a:ext>
            </a:extLst>
          </p:cNvPr>
          <p:cNvSpPr txBox="1"/>
          <p:nvPr/>
        </p:nvSpPr>
        <p:spPr>
          <a:xfrm>
            <a:off x="808691" y="4436797"/>
            <a:ext cx="4480714" cy="2158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03 </a:t>
            </a:r>
            <a:r>
              <a:rPr lang="ko-KR" altLang="en-US" sz="1600" b="1" dirty="0">
                <a:solidFill>
                  <a:schemeClr val="bg1"/>
                </a:solidFill>
                <a:latin typeface="+mj-lt"/>
              </a:rPr>
              <a:t>기술 환경 분석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 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수집 방식 정의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저장 방식 정의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처리 방식 정의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분석 방식 정의</a:t>
            </a:r>
            <a:endParaRPr lang="en-US" altLang="ko-KR" sz="1400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시각화 방식 정의</a:t>
            </a:r>
            <a:endParaRPr lang="en-US" altLang="ko-KR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D64F2-439F-4A4B-B711-533355DC9FDA}"/>
              </a:ext>
            </a:extLst>
          </p:cNvPr>
          <p:cNvSpPr txBox="1"/>
          <p:nvPr/>
        </p:nvSpPr>
        <p:spPr>
          <a:xfrm>
            <a:off x="6202811" y="4445563"/>
            <a:ext cx="4583306" cy="866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solidFill>
                  <a:schemeClr val="bg1"/>
                </a:solidFill>
              </a:rPr>
              <a:t>04 </a:t>
            </a:r>
            <a:r>
              <a:rPr lang="ko-KR" altLang="en-US" sz="1600" b="1" dirty="0">
                <a:solidFill>
                  <a:schemeClr val="bg1"/>
                </a:solidFill>
              </a:rPr>
              <a:t>인력 환경 분석 </a:t>
            </a: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-----------------------</a:t>
            </a:r>
            <a:r>
              <a:rPr lang="en-US" altLang="ko-KR" sz="1600" b="1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손보금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서비스 인력 분석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01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서비스 환경 분석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E5F9FD2-3C5F-4EB1-BF9F-05C6ED9C0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585692"/>
              </p:ext>
            </p:extLst>
          </p:nvPr>
        </p:nvGraphicFramePr>
        <p:xfrm>
          <a:off x="983130" y="2462746"/>
          <a:ext cx="10225738" cy="34867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40129">
                  <a:extLst>
                    <a:ext uri="{9D8B030D-6E8A-4147-A177-3AD203B41FA5}">
                      <a16:colId xmlns:a16="http://schemas.microsoft.com/office/drawing/2014/main" val="830699612"/>
                    </a:ext>
                  </a:extLst>
                </a:gridCol>
                <a:gridCol w="7985609">
                  <a:extLst>
                    <a:ext uri="{9D8B030D-6E8A-4147-A177-3AD203B41FA5}">
                      <a16:colId xmlns:a16="http://schemas.microsoft.com/office/drawing/2014/main" val="3778915586"/>
                    </a:ext>
                  </a:extLst>
                </a:gridCol>
              </a:tblGrid>
              <a:tr h="408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676909"/>
                  </a:ext>
                </a:extLst>
              </a:tr>
              <a:tr h="7317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서비스명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 LastPage_Project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681711"/>
                  </a:ext>
                </a:extLst>
              </a:tr>
              <a:tr h="1020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 반려동물을 잃은 보호자를 위한 심리 상담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전문 장례 서비스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굿즈 제작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추모 커뮤니티 제공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873689"/>
                  </a:ext>
                </a:extLst>
              </a:tr>
              <a:tr h="4421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주요기능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400" dirty="0"/>
                        <a:t> 장례식장 및 납골당 매칭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930937"/>
                  </a:ext>
                </a:extLst>
              </a:tr>
              <a:tr h="4421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400" dirty="0"/>
                        <a:t> 펫로스 증후군을 가진 보호자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사용자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를 전문적으로 케어해 줄 수 있는 상담사와 매칭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832426"/>
                  </a:ext>
                </a:extLst>
              </a:tr>
              <a:tr h="442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반려동물의 유골이나 유품을 활용하여 만든 굿즈 제작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472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3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i="0" dirty="0">
                <a:effectLst/>
                <a:latin typeface="-apple-system"/>
              </a:rPr>
              <a:t>시장 규모 조사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DBE376-EB39-49C4-9881-1E1F909793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50" t="23115" r="59542" b="21468"/>
          <a:stretch/>
        </p:blipFill>
        <p:spPr>
          <a:xfrm>
            <a:off x="312511" y="1858297"/>
            <a:ext cx="3700689" cy="3308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53A68-E119-459F-9AFD-C5CFBA758FF1}"/>
              </a:ext>
            </a:extLst>
          </p:cNvPr>
          <p:cNvSpPr txBox="1"/>
          <p:nvPr/>
        </p:nvSpPr>
        <p:spPr>
          <a:xfrm>
            <a:off x="182909" y="5321588"/>
            <a:ext cx="4507965" cy="10415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b="1" dirty="0">
                <a:solidFill>
                  <a:schemeClr val="bg1"/>
                </a:solidFill>
              </a:rPr>
              <a:t>반려동물 장묘 및 보호 서비스업 추이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통계청 </a:t>
            </a:r>
            <a:r>
              <a:rPr lang="en-US" altLang="ko-KR" sz="1200" dirty="0">
                <a:solidFill>
                  <a:schemeClr val="bg1"/>
                </a:solidFill>
              </a:rPr>
              <a:t>: https://kosis.kr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농림축산검역본부 동물보호관리시스템 </a:t>
            </a:r>
            <a:r>
              <a:rPr lang="en-US" altLang="ko-KR" sz="1200" dirty="0">
                <a:solidFill>
                  <a:schemeClr val="bg1"/>
                </a:solidFill>
              </a:rPr>
              <a:t>: e-animal.go.kr(</a:t>
            </a:r>
            <a:r>
              <a:rPr lang="ko-KR" altLang="en-US" sz="1200" dirty="0">
                <a:solidFill>
                  <a:schemeClr val="bg1"/>
                </a:solidFill>
              </a:rPr>
              <a:t>임시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CE389-0B53-48A2-89B8-4E017665C7FE}"/>
              </a:ext>
            </a:extLst>
          </p:cNvPr>
          <p:cNvSpPr txBox="1"/>
          <p:nvPr/>
        </p:nvSpPr>
        <p:spPr>
          <a:xfrm>
            <a:off x="4741674" y="1573421"/>
            <a:ext cx="3369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♧ 동물장묘업체 연도별 변화 추이 분석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7B4E8-A1EE-4833-939A-2A4BFD6B2AC0}"/>
              </a:ext>
            </a:extLst>
          </p:cNvPr>
          <p:cNvSpPr txBox="1"/>
          <p:nvPr/>
        </p:nvSpPr>
        <p:spPr>
          <a:xfrm>
            <a:off x="5003798" y="1941036"/>
            <a:ext cx="68834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2020</a:t>
            </a:r>
            <a:r>
              <a:rPr lang="ko-KR" altLang="en-US" sz="1200" dirty="0">
                <a:solidFill>
                  <a:schemeClr val="bg1"/>
                </a:solidFill>
              </a:rPr>
              <a:t>년 → </a:t>
            </a:r>
            <a:r>
              <a:rPr lang="en-US" altLang="ko-KR" sz="1200" dirty="0">
                <a:solidFill>
                  <a:schemeClr val="bg1"/>
                </a:solidFill>
              </a:rPr>
              <a:t>2021</a:t>
            </a:r>
            <a:r>
              <a:rPr lang="ko-KR" altLang="en-US" sz="1200" dirty="0">
                <a:solidFill>
                  <a:schemeClr val="bg1"/>
                </a:solidFill>
              </a:rPr>
              <a:t>년 </a:t>
            </a:r>
            <a:r>
              <a:rPr lang="en-US" altLang="ko-KR" sz="1200" dirty="0">
                <a:solidFill>
                  <a:schemeClr val="bg1"/>
                </a:solidFill>
              </a:rPr>
              <a:t>(5</a:t>
            </a:r>
            <a:r>
              <a:rPr lang="ko-KR" altLang="en-US" sz="1200" dirty="0">
                <a:solidFill>
                  <a:schemeClr val="bg1"/>
                </a:solidFill>
              </a:rPr>
              <a:t>개소 증가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56</a:t>
            </a:r>
            <a:r>
              <a:rPr lang="ko-KR" altLang="en-US" sz="1200" dirty="0">
                <a:solidFill>
                  <a:schemeClr val="bg1"/>
                </a:solidFill>
              </a:rPr>
              <a:t>개소에서 </a:t>
            </a:r>
            <a:r>
              <a:rPr lang="en-US" altLang="ko-KR" sz="1200" dirty="0">
                <a:solidFill>
                  <a:schemeClr val="bg1"/>
                </a:solidFill>
              </a:rPr>
              <a:t>61</a:t>
            </a:r>
            <a:r>
              <a:rPr lang="ko-KR" altLang="en-US" sz="1200" dirty="0">
                <a:solidFill>
                  <a:schemeClr val="bg1"/>
                </a:solidFill>
              </a:rPr>
              <a:t>개소로 증가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반려동물 장례 문화가 점차 자리를 잡아가는 초기 성장 단계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2021</a:t>
            </a:r>
            <a:r>
              <a:rPr lang="ko-KR" altLang="en-US" sz="1200" dirty="0">
                <a:solidFill>
                  <a:schemeClr val="bg1"/>
                </a:solidFill>
              </a:rPr>
              <a:t>년 → </a:t>
            </a:r>
            <a:r>
              <a:rPr lang="en-US" altLang="ko-KR" sz="1200" dirty="0">
                <a:solidFill>
                  <a:schemeClr val="bg1"/>
                </a:solidFill>
              </a:rPr>
              <a:t>2022</a:t>
            </a:r>
            <a:r>
              <a:rPr lang="ko-KR" altLang="en-US" sz="1200" dirty="0">
                <a:solidFill>
                  <a:schemeClr val="bg1"/>
                </a:solidFill>
              </a:rPr>
              <a:t>년 </a:t>
            </a:r>
            <a:r>
              <a:rPr lang="en-US" altLang="ko-KR" sz="1200" dirty="0">
                <a:solidFill>
                  <a:schemeClr val="bg1"/>
                </a:solidFill>
              </a:rPr>
              <a:t>(3</a:t>
            </a:r>
            <a:r>
              <a:rPr lang="ko-KR" altLang="en-US" sz="1200" dirty="0">
                <a:solidFill>
                  <a:schemeClr val="bg1"/>
                </a:solidFill>
              </a:rPr>
              <a:t>개소 증가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61</a:t>
            </a:r>
            <a:r>
              <a:rPr lang="ko-KR" altLang="en-US" sz="1200" dirty="0">
                <a:solidFill>
                  <a:schemeClr val="bg1"/>
                </a:solidFill>
              </a:rPr>
              <a:t>개소에서 </a:t>
            </a:r>
            <a:r>
              <a:rPr lang="en-US" altLang="ko-KR" sz="1200" dirty="0">
                <a:solidFill>
                  <a:schemeClr val="bg1"/>
                </a:solidFill>
              </a:rPr>
              <a:t>64</a:t>
            </a:r>
            <a:r>
              <a:rPr lang="ko-KR" altLang="en-US" sz="1200" dirty="0">
                <a:solidFill>
                  <a:schemeClr val="bg1"/>
                </a:solidFill>
              </a:rPr>
              <a:t>개소로 증가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꾸준한 수요를 바탕으로 안정적인 성장세 유지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2022</a:t>
            </a:r>
            <a:r>
              <a:rPr lang="ko-KR" altLang="en-US" sz="1200" dirty="0">
                <a:solidFill>
                  <a:schemeClr val="bg1"/>
                </a:solidFill>
              </a:rPr>
              <a:t>년 → </a:t>
            </a:r>
            <a:r>
              <a:rPr lang="en-US" altLang="ko-KR" sz="1200" dirty="0">
                <a:solidFill>
                  <a:schemeClr val="bg1"/>
                </a:solidFill>
              </a:rPr>
              <a:t>2023</a:t>
            </a:r>
            <a:r>
              <a:rPr lang="ko-KR" altLang="en-US" sz="1200" dirty="0">
                <a:solidFill>
                  <a:schemeClr val="bg1"/>
                </a:solidFill>
              </a:rPr>
              <a:t>년 </a:t>
            </a:r>
            <a:r>
              <a:rPr lang="en-US" altLang="ko-KR" sz="1200" dirty="0">
                <a:solidFill>
                  <a:schemeClr val="bg1"/>
                </a:solidFill>
              </a:rPr>
              <a:t>(7</a:t>
            </a:r>
            <a:r>
              <a:rPr lang="ko-KR" altLang="en-US" sz="1200" dirty="0">
                <a:solidFill>
                  <a:schemeClr val="bg1"/>
                </a:solidFill>
              </a:rPr>
              <a:t>개소 증가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64</a:t>
            </a:r>
            <a:r>
              <a:rPr lang="ko-KR" altLang="en-US" sz="1200" dirty="0">
                <a:solidFill>
                  <a:schemeClr val="bg1"/>
                </a:solidFill>
              </a:rPr>
              <a:t>개소에서 </a:t>
            </a:r>
            <a:r>
              <a:rPr lang="en-US" altLang="ko-KR" sz="1200" dirty="0">
                <a:solidFill>
                  <a:schemeClr val="bg1"/>
                </a:solidFill>
              </a:rPr>
              <a:t>71</a:t>
            </a:r>
            <a:r>
              <a:rPr lang="ko-KR" altLang="en-US" sz="1200" dirty="0">
                <a:solidFill>
                  <a:schemeClr val="bg1"/>
                </a:solidFill>
              </a:rPr>
              <a:t>개소로 급증하며 연간 가장 큰 폭의 성장 기록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이는 반려동물 장례 서비스가 대중적인 문화로 확산되는 중요한 변곡점이었음을 시사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2023</a:t>
            </a:r>
            <a:r>
              <a:rPr lang="ko-KR" altLang="en-US" sz="1200" dirty="0">
                <a:solidFill>
                  <a:schemeClr val="bg1"/>
                </a:solidFill>
              </a:rPr>
              <a:t>년 → </a:t>
            </a:r>
            <a:r>
              <a:rPr lang="en-US" altLang="ko-KR" sz="1200" dirty="0">
                <a:solidFill>
                  <a:schemeClr val="bg1"/>
                </a:solidFill>
              </a:rPr>
              <a:t>2024</a:t>
            </a:r>
            <a:r>
              <a:rPr lang="ko-KR" altLang="en-US" sz="1200" dirty="0">
                <a:solidFill>
                  <a:schemeClr val="bg1"/>
                </a:solidFill>
              </a:rPr>
              <a:t>년 상반기 </a:t>
            </a:r>
            <a:r>
              <a:rPr lang="en-US" altLang="ko-KR" sz="1200" dirty="0">
                <a:solidFill>
                  <a:schemeClr val="bg1"/>
                </a:solidFill>
              </a:rPr>
              <a:t>(6</a:t>
            </a:r>
            <a:r>
              <a:rPr lang="ko-KR" altLang="en-US" sz="1200" dirty="0">
                <a:solidFill>
                  <a:schemeClr val="bg1"/>
                </a:solidFill>
              </a:rPr>
              <a:t>개소 증가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반년 만에 </a:t>
            </a:r>
            <a:r>
              <a:rPr lang="en-US" altLang="ko-KR" sz="1200" dirty="0">
                <a:solidFill>
                  <a:schemeClr val="bg1"/>
                </a:solidFill>
              </a:rPr>
              <a:t>6</a:t>
            </a:r>
            <a:r>
              <a:rPr lang="ko-KR" altLang="en-US" sz="1200" dirty="0">
                <a:solidFill>
                  <a:schemeClr val="bg1"/>
                </a:solidFill>
              </a:rPr>
              <a:t>개소가 추가되어 </a:t>
            </a:r>
            <a:r>
              <a:rPr lang="en-US" altLang="ko-KR" sz="1200" dirty="0">
                <a:solidFill>
                  <a:schemeClr val="bg1"/>
                </a:solidFill>
              </a:rPr>
              <a:t>77</a:t>
            </a:r>
            <a:r>
              <a:rPr lang="ko-KR" altLang="en-US" sz="1200" dirty="0">
                <a:solidFill>
                  <a:schemeClr val="bg1"/>
                </a:solidFill>
              </a:rPr>
              <a:t>개소에 도달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가속화된 성장세가 계속 이어지고 있음을 증명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37D15-72CF-4A2C-A773-2712FD26E115}"/>
              </a:ext>
            </a:extLst>
          </p:cNvPr>
          <p:cNvSpPr txBox="1"/>
          <p:nvPr/>
        </p:nvSpPr>
        <p:spPr>
          <a:xfrm>
            <a:off x="5007609" y="4645749"/>
            <a:ext cx="68795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국내 반려동물 시장은 성숙기에 접어들었으며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특히 반려동물의 생애 마지막을 함께하는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ko-KR" altLang="en-US" sz="1200" dirty="0">
                <a:solidFill>
                  <a:schemeClr val="bg1"/>
                </a:solidFill>
              </a:rPr>
              <a:t>펫로스</a:t>
            </a:r>
            <a:r>
              <a:rPr lang="en-US" altLang="ko-KR" sz="1200" dirty="0">
                <a:solidFill>
                  <a:schemeClr val="bg1"/>
                </a:solidFill>
              </a:rPr>
              <a:t>' </a:t>
            </a:r>
            <a:r>
              <a:rPr lang="ko-KR" altLang="en-US" sz="1200" dirty="0">
                <a:solidFill>
                  <a:schemeClr val="bg1"/>
                </a:solidFill>
              </a:rPr>
              <a:t>관련 산업의 성장이 두드러진다</a:t>
            </a:r>
            <a:r>
              <a:rPr lang="en-US" altLang="ko-KR" sz="1200" dirty="0">
                <a:solidFill>
                  <a:schemeClr val="bg1"/>
                </a:solidFill>
              </a:rPr>
              <a:t>. 2020</a:t>
            </a:r>
            <a:r>
              <a:rPr lang="ko-KR" altLang="en-US" sz="1200" dirty="0">
                <a:solidFill>
                  <a:schemeClr val="bg1"/>
                </a:solidFill>
              </a:rPr>
              <a:t>년 이후 불과 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r>
              <a:rPr lang="ko-KR" altLang="en-US" sz="1200" dirty="0">
                <a:solidFill>
                  <a:schemeClr val="bg1"/>
                </a:solidFill>
              </a:rPr>
              <a:t>년 만에 업체 수가 약 </a:t>
            </a:r>
            <a:r>
              <a:rPr lang="en-US" altLang="ko-KR" sz="1200" dirty="0">
                <a:solidFill>
                  <a:schemeClr val="bg1"/>
                </a:solidFill>
              </a:rPr>
              <a:t>37.5% </a:t>
            </a:r>
            <a:r>
              <a:rPr lang="ko-KR" altLang="en-US" sz="1200" dirty="0">
                <a:solidFill>
                  <a:schemeClr val="bg1"/>
                </a:solidFill>
              </a:rPr>
              <a:t>증가한 것은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변화하는 사회적 인식과 함께 반려동물 장례 시장의 높은 성장 잠재력을 명확히 보여주는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그러나 아직 약 </a:t>
            </a:r>
            <a:r>
              <a:rPr lang="en-US" altLang="ko-KR" sz="1200" dirty="0">
                <a:solidFill>
                  <a:schemeClr val="bg1"/>
                </a:solidFill>
              </a:rPr>
              <a:t>80%</a:t>
            </a:r>
            <a:r>
              <a:rPr lang="ko-KR" altLang="en-US" sz="1200" dirty="0">
                <a:solidFill>
                  <a:schemeClr val="bg1"/>
                </a:solidFill>
              </a:rPr>
              <a:t>의 보호자가 동물병원 위탁 처리나 불법 매립 등 제도권 밖의 방식으로 사체를 처리하고 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이는 합법적이고 신뢰할 수 있는 고품질의 장례 및 추모 서비스에 대한 잠재적 수요가 매우 크다는 것을 의미한다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따라서 </a:t>
            </a:r>
            <a:r>
              <a:rPr lang="en-US" altLang="ko-KR" sz="1200" dirty="0">
                <a:solidFill>
                  <a:schemeClr val="bg1"/>
                </a:solidFill>
              </a:rPr>
              <a:t>'LastPage'</a:t>
            </a:r>
            <a:r>
              <a:rPr lang="ko-KR" altLang="en-US" sz="1200" dirty="0">
                <a:solidFill>
                  <a:schemeClr val="bg1"/>
                </a:solidFill>
              </a:rPr>
              <a:t>와 같은 온라인 추모 공간과 커뮤니티를 결합한 종합 플랫폼은 보호자들에게 심리적 위안을 제공함과 동시에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성장하는 펫 추모 시장에서 중요한 위치를 차지할 수 있는 높은 잠재력을 가지고 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C5AAE-E88E-481D-95B5-C788294E26A8}"/>
              </a:ext>
            </a:extLst>
          </p:cNvPr>
          <p:cNvSpPr txBox="1"/>
          <p:nvPr/>
        </p:nvSpPr>
        <p:spPr>
          <a:xfrm>
            <a:off x="4741674" y="4291696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♧ 정리분석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34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i="0" dirty="0">
                <a:effectLst/>
                <a:latin typeface="-apple-system"/>
              </a:rPr>
              <a:t>요구사항 분석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A27A644-DEE2-4622-A8A0-58E81BD4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228892"/>
              </p:ext>
            </p:extLst>
          </p:nvPr>
        </p:nvGraphicFramePr>
        <p:xfrm>
          <a:off x="991184" y="1601637"/>
          <a:ext cx="10209630" cy="5092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2453">
                  <a:extLst>
                    <a:ext uri="{9D8B030D-6E8A-4147-A177-3AD203B41FA5}">
                      <a16:colId xmlns:a16="http://schemas.microsoft.com/office/drawing/2014/main" val="1257472940"/>
                    </a:ext>
                  </a:extLst>
                </a:gridCol>
                <a:gridCol w="1512162">
                  <a:extLst>
                    <a:ext uri="{9D8B030D-6E8A-4147-A177-3AD203B41FA5}">
                      <a16:colId xmlns:a16="http://schemas.microsoft.com/office/drawing/2014/main" val="2155757754"/>
                    </a:ext>
                  </a:extLst>
                </a:gridCol>
                <a:gridCol w="5369086">
                  <a:extLst>
                    <a:ext uri="{9D8B030D-6E8A-4147-A177-3AD203B41FA5}">
                      <a16:colId xmlns:a16="http://schemas.microsoft.com/office/drawing/2014/main" val="635701269"/>
                    </a:ext>
                  </a:extLst>
                </a:gridCol>
                <a:gridCol w="1915929">
                  <a:extLst>
                    <a:ext uri="{9D8B030D-6E8A-4147-A177-3AD203B41FA5}">
                      <a16:colId xmlns:a16="http://schemas.microsoft.com/office/drawing/2014/main" val="4193443379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요청자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3923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R-001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기반 장례식장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납골당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9742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위치 및 검색 데이터 암호화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개인정보위원회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2817"/>
                  </a:ext>
                </a:extLst>
              </a:tr>
              <a:tr h="336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반려동물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 정보 입력을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장례 예약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2042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비용 확인 및 웹 결제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92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3585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조회 시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초 내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15436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리스트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08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R-008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71187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R-009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상담형태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심리상태 정보를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8707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비용 확인 및 웹 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9890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5399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판매 데이터 분석을 통한 인기 굿즈 트렌드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94141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요청 접수 시 업체에 자동 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4743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통계 리포트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36916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작성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9355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R-016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및 리뷰 신고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악성 게시글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4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3C </a:t>
            </a:r>
            <a:r>
              <a:rPr lang="ko-KR" altLang="en-US" dirty="0"/>
              <a:t>분석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FD6459C0-8356-4BD7-A319-FFF381B4C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403878"/>
              </p:ext>
            </p:extLst>
          </p:nvPr>
        </p:nvGraphicFramePr>
        <p:xfrm>
          <a:off x="296128" y="1615064"/>
          <a:ext cx="11599741" cy="505073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72010">
                  <a:extLst>
                    <a:ext uri="{9D8B030D-6E8A-4147-A177-3AD203B41FA5}">
                      <a16:colId xmlns:a16="http://schemas.microsoft.com/office/drawing/2014/main" val="244284015"/>
                    </a:ext>
                  </a:extLst>
                </a:gridCol>
                <a:gridCol w="2938481">
                  <a:extLst>
                    <a:ext uri="{9D8B030D-6E8A-4147-A177-3AD203B41FA5}">
                      <a16:colId xmlns:a16="http://schemas.microsoft.com/office/drawing/2014/main" val="1079612909"/>
                    </a:ext>
                  </a:extLst>
                </a:gridCol>
                <a:gridCol w="7189250">
                  <a:extLst>
                    <a:ext uri="{9D8B030D-6E8A-4147-A177-3AD203B41FA5}">
                      <a16:colId xmlns:a16="http://schemas.microsoft.com/office/drawing/2014/main" val="2273540821"/>
                    </a:ext>
                  </a:extLst>
                </a:gridCol>
              </a:tblGrid>
              <a:tr h="492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주요내용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세부항목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44628"/>
                  </a:ext>
                </a:extLst>
              </a:tr>
              <a:tr h="378309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고객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(Customer)</a:t>
                      </a:r>
                      <a:endParaRPr lang="ko-KR" altLang="en-US" sz="1200" b="1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펫로스 증후군을 겪는 보호자들은 정서적 공감대와 신뢰할 수 있는 추모 정보를 동시에 원함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심리상담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펫로스 증후군에 대한 전문적인 심리적 지지 및 상담 요구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376170"/>
                  </a:ext>
                </a:extLst>
              </a:tr>
              <a:tr h="3691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 err="1"/>
                        <a:t>굿즈제작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반려동물을 영원히 기억할 수 있는 유형의 기념품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유골 보석 등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제작에 대한 관심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360398"/>
                  </a:ext>
                </a:extLst>
              </a:tr>
              <a:tr h="4278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커뮤니티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비슷한 아픔을 가진 보호자들과 슬픔을 공유하고 위로를 나누며 유대감을 형성하려는 욕구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908977"/>
                  </a:ext>
                </a:extLst>
              </a:tr>
              <a:tr h="352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장례서비스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신뢰할 수 있고 </a:t>
                      </a:r>
                      <a:r>
                        <a:rPr lang="ko-KR" altLang="en-US" sz="1200" dirty="0" err="1"/>
                        <a:t>존중받는</a:t>
                      </a:r>
                      <a:r>
                        <a:rPr lang="ko-KR" altLang="en-US" sz="1200" dirty="0"/>
                        <a:t> 절차를 통해 반려동물의 마지막을 잘 보내주고 싶은 욕구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327439"/>
                  </a:ext>
                </a:extLst>
              </a:tr>
              <a:tr h="35233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경쟁사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(Competitor)</a:t>
                      </a:r>
                      <a:endParaRPr lang="ko-KR" altLang="en-US" sz="1200" b="1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기존 온라인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오프라인 서비스는 각각 </a:t>
                      </a:r>
                      <a:r>
                        <a:rPr lang="en-US" altLang="ko-KR" sz="1200" dirty="0"/>
                        <a:t>‘</a:t>
                      </a:r>
                      <a:r>
                        <a:rPr lang="ko-KR" altLang="en-US" sz="1200" dirty="0"/>
                        <a:t>소통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지속성</a:t>
                      </a:r>
                      <a:r>
                        <a:rPr lang="en-US" altLang="ko-KR" sz="1200" dirty="0"/>
                        <a:t>‘, ‘</a:t>
                      </a:r>
                      <a:r>
                        <a:rPr lang="ko-KR" altLang="en-US" sz="1200" dirty="0"/>
                        <a:t>접근성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비용</a:t>
                      </a:r>
                      <a:r>
                        <a:rPr lang="en-US" altLang="ko-KR" sz="1200" dirty="0"/>
                        <a:t>‘ </a:t>
                      </a:r>
                      <a:r>
                        <a:rPr lang="ko-KR" altLang="en-US" sz="1200" dirty="0"/>
                        <a:t>측면에서 명확한 한계를 가짐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국내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 err="1"/>
                        <a:t>하늘멍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메모리얼페이지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주로 단순 추모기능에 집중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797774"/>
                  </a:ext>
                </a:extLst>
              </a:tr>
              <a:tr h="3691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/>
                        <a:t>해외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Rainbow Bridge, Ever Loved (</a:t>
                      </a:r>
                      <a:r>
                        <a:rPr lang="ko-KR" altLang="en-US" sz="1200" dirty="0"/>
                        <a:t>커뮤니티 기능이 있으나 국내 정서와는 다소 차이가 있음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590410"/>
                  </a:ext>
                </a:extLst>
              </a:tr>
              <a:tr h="4745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차별화 필요성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일회성 추모에 그치지 않고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사용자들이 지속적으로 방문하여 교류할 수 있는 </a:t>
                      </a:r>
                      <a:r>
                        <a:rPr lang="en-US" altLang="ko-KR" sz="1200" b="1" i="0" dirty="0"/>
                        <a:t>‘</a:t>
                      </a:r>
                      <a:r>
                        <a:rPr lang="ko-KR" altLang="en-US" sz="1200" b="1" i="0" dirty="0"/>
                        <a:t>커뮤니티의 지속성</a:t>
                      </a:r>
                      <a:r>
                        <a:rPr lang="en-US" altLang="ko-KR" sz="1200" b="1" i="0" dirty="0"/>
                        <a:t>’ </a:t>
                      </a:r>
                      <a:r>
                        <a:rPr lang="ko-KR" altLang="en-US" sz="1200" dirty="0"/>
                        <a:t>확보가 핵심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543003"/>
                  </a:ext>
                </a:extLst>
              </a:tr>
              <a:tr h="314034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자사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서비스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(Company)</a:t>
                      </a:r>
                      <a:endParaRPr lang="ko-KR" altLang="en-US" sz="1200" b="1" dirty="0"/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온라인 추모 공간과 커뮤니티를 결합하여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높은 몰입감의 사용자 경험을 제공하고 지속적인 참여를 유도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온라인 추모</a:t>
                      </a:r>
                      <a:r>
                        <a:rPr lang="en-US" altLang="ko-KR" sz="1200" dirty="0"/>
                        <a:t>, SNS</a:t>
                      </a:r>
                      <a:r>
                        <a:rPr lang="ko-KR" altLang="en-US" sz="1200" dirty="0"/>
                        <a:t>형 소통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876127"/>
                  </a:ext>
                </a:extLst>
              </a:tr>
              <a:tr h="343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상담사 추천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사용자 리뷰 데이터 기반 맞춤형 상담사 추천 알고리즘 활용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678228"/>
                  </a:ext>
                </a:extLst>
              </a:tr>
              <a:tr h="3691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 err="1"/>
                        <a:t>굿즈</a:t>
                      </a:r>
                      <a:r>
                        <a:rPr lang="ko-KR" altLang="en-US" sz="1200" dirty="0"/>
                        <a:t> 추천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실시간 판매 데이터 분석을 통한 인기 </a:t>
                      </a:r>
                      <a:r>
                        <a:rPr lang="ko-KR" altLang="en-US" sz="1200" dirty="0" err="1"/>
                        <a:t>굿즈</a:t>
                      </a:r>
                      <a:r>
                        <a:rPr lang="ko-KR" altLang="en-US" sz="1200" dirty="0"/>
                        <a:t> 트렌드 제공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901191"/>
                  </a:ext>
                </a:extLst>
              </a:tr>
              <a:tr h="1284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200" dirty="0"/>
                        <a:t>추천 절차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사용자들의 활동 데이터를 기반으로 심리상담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굿즈</a:t>
                      </a:r>
                      <a:r>
                        <a:rPr lang="ko-KR" altLang="en-US" sz="1200" dirty="0"/>
                        <a:t> 제작 등 맞춤형 서비스와 연계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200035"/>
                  </a:ext>
                </a:extLst>
              </a:tr>
              <a:tr h="2847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기대효과 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높은 </a:t>
                      </a:r>
                      <a:r>
                        <a:rPr lang="ko-KR" altLang="en-US" sz="1200" dirty="0" err="1"/>
                        <a:t>재방문률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충성도 높은 커뮤니티 형성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연계 사업 확장성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603753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48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dirty="0"/>
              <a:t>02 </a:t>
            </a:r>
            <a:r>
              <a:rPr lang="ko-KR" altLang="en-US" sz="4400" dirty="0"/>
              <a:t>데이터 환경 분석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EE71C6D2-8D8B-4BE3-B991-130DEE645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855678"/>
              </p:ext>
            </p:extLst>
          </p:nvPr>
        </p:nvGraphicFramePr>
        <p:xfrm>
          <a:off x="899613" y="2335322"/>
          <a:ext cx="10392772" cy="36515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55072">
                  <a:extLst>
                    <a:ext uri="{9D8B030D-6E8A-4147-A177-3AD203B41FA5}">
                      <a16:colId xmlns:a16="http://schemas.microsoft.com/office/drawing/2014/main" val="2340171007"/>
                    </a:ext>
                  </a:extLst>
                </a:gridCol>
                <a:gridCol w="7937700">
                  <a:extLst>
                    <a:ext uri="{9D8B030D-6E8A-4147-A177-3AD203B41FA5}">
                      <a16:colId xmlns:a16="http://schemas.microsoft.com/office/drawing/2014/main" val="2219384357"/>
                    </a:ext>
                  </a:extLst>
                </a:gridCol>
              </a:tblGrid>
              <a:tr h="452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258088"/>
                  </a:ext>
                </a:extLst>
              </a:tr>
              <a:tr h="799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1. </a:t>
                      </a:r>
                      <a:r>
                        <a:rPr lang="ko-KR" altLang="en-US" sz="1400" b="1" dirty="0"/>
                        <a:t>서비스 모델 선정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장례예약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심리상담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굿즈제작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결제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커뮤니티 등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ko-KR" altLang="en-US" sz="1400" dirty="0"/>
                        <a:t>프로젝트에서 제공하는 주요 서비스를 시준으로 데이터 수집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분석 필요 여부 판단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216439"/>
                  </a:ext>
                </a:extLst>
              </a:tr>
              <a:tr h="799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2. </a:t>
                      </a:r>
                      <a:r>
                        <a:rPr lang="ko-KR" altLang="en-US" sz="1400" b="1" dirty="0"/>
                        <a:t>데이터 후보 식별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각 서비스에서 발생하거나 수집 가능한 데이터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내부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외부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 요소를 발굴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612637"/>
                  </a:ext>
                </a:extLst>
              </a:tr>
              <a:tr h="799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3. </a:t>
                      </a:r>
                      <a:r>
                        <a:rPr lang="ko-KR" altLang="en-US" sz="1400" b="1" dirty="0"/>
                        <a:t>데이터 유형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수집되는 데이터가 어떤 형태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정형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반정형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비정형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인지 분류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451120"/>
                  </a:ext>
                </a:extLst>
              </a:tr>
              <a:tr h="7998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4. </a:t>
                      </a:r>
                      <a:r>
                        <a:rPr lang="ko-KR" altLang="en-US" sz="1400" b="1" dirty="0"/>
                        <a:t>데이터 상세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수집 목적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분석 가능성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활용 방안 등 구체적인 데이터 특성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6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10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데이터분석 순서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DC984A-84D5-4D58-8690-006B346E6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796295"/>
              </p:ext>
            </p:extLst>
          </p:nvPr>
        </p:nvGraphicFramePr>
        <p:xfrm>
          <a:off x="758816" y="1918517"/>
          <a:ext cx="10724172" cy="45640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93337">
                  <a:extLst>
                    <a:ext uri="{9D8B030D-6E8A-4147-A177-3AD203B41FA5}">
                      <a16:colId xmlns:a16="http://schemas.microsoft.com/office/drawing/2014/main" val="294808817"/>
                    </a:ext>
                  </a:extLst>
                </a:gridCol>
                <a:gridCol w="2743304">
                  <a:extLst>
                    <a:ext uri="{9D8B030D-6E8A-4147-A177-3AD203B41FA5}">
                      <a16:colId xmlns:a16="http://schemas.microsoft.com/office/drawing/2014/main" val="3481111739"/>
                    </a:ext>
                  </a:extLst>
                </a:gridCol>
                <a:gridCol w="2793534">
                  <a:extLst>
                    <a:ext uri="{9D8B030D-6E8A-4147-A177-3AD203B41FA5}">
                      <a16:colId xmlns:a16="http://schemas.microsoft.com/office/drawing/2014/main" val="587304373"/>
                    </a:ext>
                  </a:extLst>
                </a:gridCol>
                <a:gridCol w="3093997">
                  <a:extLst>
                    <a:ext uri="{9D8B030D-6E8A-4147-A177-3AD203B41FA5}">
                      <a16:colId xmlns:a16="http://schemas.microsoft.com/office/drawing/2014/main" val="1527550674"/>
                    </a:ext>
                  </a:extLst>
                </a:gridCol>
              </a:tblGrid>
              <a:tr h="296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체크포인트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162121"/>
                  </a:ext>
                </a:extLst>
              </a:tr>
              <a:tr h="585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1. </a:t>
                      </a:r>
                      <a:r>
                        <a:rPr lang="ko-KR" altLang="en-US" sz="1200" b="1" dirty="0"/>
                        <a:t>분석 목적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프로젝트 목표와 서비스 목적에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맞는 데이터 분석 방향을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어떤 서비스 성과를 제공하거나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개선하고자 하는가</a:t>
                      </a:r>
                      <a:r>
                        <a:rPr lang="en-US" altLang="ko-KR" sz="1200" dirty="0"/>
                        <a:t>?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사용자 만족도 향상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굿즈 판매 추이 분석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상담서비스 개선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680578"/>
                  </a:ext>
                </a:extLst>
              </a:tr>
              <a:tr h="585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2. </a:t>
                      </a:r>
                      <a:r>
                        <a:rPr lang="ko-KR" altLang="en-US" sz="1200" b="1" dirty="0"/>
                        <a:t>필요한 데이터 항목 도출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목적 달성을 위해 어떤 데이터가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필요한지 식별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기능별 필요한 정보 요소 도출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 후기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굿즈 주문 내역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게시글 감정 키워드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038609"/>
                  </a:ext>
                </a:extLst>
              </a:tr>
              <a:tr h="585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3. </a:t>
                      </a:r>
                      <a:r>
                        <a:rPr lang="ko-KR" altLang="en-US" sz="1200" b="1" dirty="0"/>
                        <a:t>데이터 출처 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데이터를 수집할 수 있는 위치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및 경로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내부 데이터 </a:t>
                      </a:r>
                      <a:r>
                        <a:rPr lang="en-US" altLang="ko-KR" sz="1200" dirty="0"/>
                        <a:t>vs </a:t>
                      </a:r>
                      <a:r>
                        <a:rPr lang="ko-KR" altLang="en-US" sz="1200" dirty="0"/>
                        <a:t>외부 공공 데이터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입력 값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로그 기록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농림축산검역본부 </a:t>
                      </a:r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931482"/>
                  </a:ext>
                </a:extLst>
              </a:tr>
              <a:tr h="585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4. </a:t>
                      </a:r>
                      <a:r>
                        <a:rPr lang="ko-KR" altLang="en-US" sz="1200" b="1" dirty="0"/>
                        <a:t>데이터 형태 파악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수집 데이터의 구조 확인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정형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비정형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반정형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데이터 처리 방식에 따라 저장소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/>
                      <a:r>
                        <a:rPr lang="ko-KR" altLang="en-US" sz="1200" dirty="0"/>
                        <a:t>분석 방법 달라짐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예약 정보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비정형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커뮤니티 글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반정형</a:t>
                      </a:r>
                      <a:r>
                        <a:rPr lang="en-US" altLang="ko-KR" sz="1200" dirty="0"/>
                        <a:t>: </a:t>
                      </a:r>
                      <a:r>
                        <a:rPr lang="ko-KR" altLang="en-US" sz="1200" dirty="0"/>
                        <a:t>상담 설문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832894"/>
                  </a:ext>
                </a:extLst>
              </a:tr>
              <a:tr h="585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5. </a:t>
                      </a:r>
                      <a:r>
                        <a:rPr lang="ko-KR" altLang="en-US" sz="1200" b="1" dirty="0"/>
                        <a:t>품질 및 활용성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수집된 데이터의 정확도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완성도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최신성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분석에 바로 사용할 수 있는 수준인가</a:t>
                      </a:r>
                      <a:r>
                        <a:rPr lang="en-US" altLang="ko-KR" sz="1200" dirty="0"/>
                        <a:t>?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누락 없는 사용자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오타 없는 리뷰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464654"/>
                  </a:ext>
                </a:extLst>
              </a:tr>
              <a:tr h="755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6. </a:t>
                      </a:r>
                      <a:r>
                        <a:rPr lang="ko-KR" altLang="en-US" sz="1200" b="1" dirty="0"/>
                        <a:t>수집 가능성 검토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/>
                        <a:t>실제 서비스에서 해당 데이터를 얼마나 안정적으로 수집할 수 있는지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입력 유도 가능성</a:t>
                      </a:r>
                      <a:r>
                        <a:rPr lang="en-US" altLang="ko-KR" sz="1200" dirty="0"/>
                        <a:t>, API </a:t>
                      </a:r>
                      <a:r>
                        <a:rPr lang="ko-KR" altLang="en-US" sz="1200" dirty="0"/>
                        <a:t>안정성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비동의 데이터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'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' </a:t>
                      </a:r>
                      <a:r>
                        <a:rPr lang="ko-KR" altLang="en-US" sz="1200" dirty="0"/>
                        <a:t>로그는 자동 수집 가능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후기는 사용자가 직접 작성해야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513073"/>
                  </a:ext>
                </a:extLst>
              </a:tr>
              <a:tr h="5852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7. </a:t>
                      </a:r>
                      <a:r>
                        <a:rPr lang="ko-KR" altLang="en-US" sz="1200" b="1" dirty="0"/>
                        <a:t>후보 데이터선정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최종적으로 분석에 사용할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데이터 항목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목적 부합 여부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수집 용이성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분석 가치 기준으로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게시글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굿즈 주문 로그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사용자 행동 로그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594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571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분석 목적</a:t>
            </a:r>
            <a:r>
              <a:rPr lang="en-US" altLang="ko-KR" dirty="0">
                <a:latin typeface="맑은 고딕" panose="020F0302020204030204"/>
                <a:ea typeface="맑은 고딕" panose="020B0503020000020004" pitchFamily="50" charset="-127"/>
              </a:rPr>
              <a:t> / </a:t>
            </a:r>
            <a:r>
              <a:rPr lang="ko-KR" altLang="en-US" dirty="0">
                <a:latin typeface="맑은 고딕" panose="020F0302020204030204"/>
                <a:ea typeface="맑은 고딕" panose="020B0503020000020004" pitchFamily="50" charset="-127"/>
              </a:rPr>
              <a:t>필요한 데이터 항목 도출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941640-08D9-4D0B-A285-F3D076AC57D4}"/>
              </a:ext>
            </a:extLst>
          </p:cNvPr>
          <p:cNvSpPr txBox="1"/>
          <p:nvPr/>
        </p:nvSpPr>
        <p:spPr>
          <a:xfrm>
            <a:off x="582286" y="1669612"/>
            <a:ext cx="110274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♧ 분석 목적 정의</a:t>
            </a:r>
            <a:endParaRPr lang="en-US" altLang="ko-K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서비스명 </a:t>
            </a:r>
            <a:r>
              <a:rPr lang="en-US" altLang="ko-KR" sz="1600" dirty="0">
                <a:solidFill>
                  <a:schemeClr val="bg1"/>
                </a:solidFill>
              </a:rPr>
              <a:t>: </a:t>
            </a:r>
            <a:r>
              <a:rPr lang="ko-KR" altLang="en-US" sz="1600" dirty="0">
                <a:solidFill>
                  <a:schemeClr val="bg1"/>
                </a:solidFill>
              </a:rPr>
              <a:t>반려동물 장례 연계 및 추모 서비스 제공 시스템</a:t>
            </a:r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ko-KR" altLang="en-US" sz="1600" dirty="0">
                <a:solidFill>
                  <a:schemeClr val="bg1"/>
                </a:solidFill>
              </a:rPr>
              <a:t>목적 </a:t>
            </a:r>
            <a:r>
              <a:rPr lang="en-US" altLang="ko-KR" sz="1600" dirty="0">
                <a:solidFill>
                  <a:schemeClr val="bg1"/>
                </a:solidFill>
              </a:rPr>
              <a:t>: </a:t>
            </a:r>
            <a:r>
              <a:rPr lang="ko-KR" altLang="en-US" sz="1600" dirty="0">
                <a:solidFill>
                  <a:schemeClr val="bg1"/>
                </a:solidFill>
              </a:rPr>
              <a:t>사용자의 선호도를 분석해 사용자 맞춤서비스 제공 및 편의성 개선</a:t>
            </a:r>
            <a:r>
              <a:rPr lang="en-US" altLang="ko-KR" sz="1600" dirty="0">
                <a:solidFill>
                  <a:schemeClr val="bg1"/>
                </a:solidFill>
              </a:rPr>
              <a:t>,</a:t>
            </a:r>
            <a:r>
              <a:rPr lang="ko-KR" altLang="en-US" sz="1600" dirty="0">
                <a:solidFill>
                  <a:schemeClr val="bg1"/>
                </a:solidFill>
              </a:rPr>
              <a:t> 장례 예약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심리상담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등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서비스 구축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8672D-7AE7-4983-BCFC-84B11D70AE7F}"/>
              </a:ext>
            </a:extLst>
          </p:cNvPr>
          <p:cNvSpPr txBox="1"/>
          <p:nvPr/>
        </p:nvSpPr>
        <p:spPr>
          <a:xfrm>
            <a:off x="582286" y="3124466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♧ 필요한 데이터 항목 도출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9F9960BF-EB22-445B-92F8-F66EA0982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784267"/>
              </p:ext>
            </p:extLst>
          </p:nvPr>
        </p:nvGraphicFramePr>
        <p:xfrm>
          <a:off x="713575" y="3609440"/>
          <a:ext cx="10764847" cy="278016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55360">
                  <a:extLst>
                    <a:ext uri="{9D8B030D-6E8A-4147-A177-3AD203B41FA5}">
                      <a16:colId xmlns:a16="http://schemas.microsoft.com/office/drawing/2014/main" val="1704684054"/>
                    </a:ext>
                  </a:extLst>
                </a:gridCol>
                <a:gridCol w="3282373">
                  <a:extLst>
                    <a:ext uri="{9D8B030D-6E8A-4147-A177-3AD203B41FA5}">
                      <a16:colId xmlns:a16="http://schemas.microsoft.com/office/drawing/2014/main" val="1214762719"/>
                    </a:ext>
                  </a:extLst>
                </a:gridCol>
                <a:gridCol w="2098567">
                  <a:extLst>
                    <a:ext uri="{9D8B030D-6E8A-4147-A177-3AD203B41FA5}">
                      <a16:colId xmlns:a16="http://schemas.microsoft.com/office/drawing/2014/main" val="1107864245"/>
                    </a:ext>
                  </a:extLst>
                </a:gridCol>
                <a:gridCol w="4428547">
                  <a:extLst>
                    <a:ext uri="{9D8B030D-6E8A-4147-A177-3AD203B41FA5}">
                      <a16:colId xmlns:a16="http://schemas.microsoft.com/office/drawing/2014/main" val="450047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필수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활용목적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868516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기본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회원가입 시 수집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연락처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주소 등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884920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반려동물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장례 예약 시 입력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종류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나이 등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564329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예약일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장례식장 위치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비용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487500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상담 예약 일정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 형태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8228821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사용자 작성 텍스트 및 이미지 게시글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33644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웹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앱 사용 행동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클릭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체류 시간 등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526914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구매 내역 및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종류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구매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좋아요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889848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8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굿즈 리뷰</a:t>
                      </a:r>
                      <a:r>
                        <a:rPr lang="en-US" altLang="ko-KR" sz="1200" dirty="0"/>
                        <a:t>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상담 및 굿즈 구매 리뷰 사용자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270777"/>
                  </a:ext>
                </a:extLst>
              </a:tr>
              <a:tr h="275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9 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장례업체 위치정보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공공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를 통한 장례업체 위치 및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916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64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dirty="0"/>
              <a:t>데이터 출처 조사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796289C-3E83-46E0-83C7-C82A66A28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133878"/>
              </p:ext>
            </p:extLst>
          </p:nvPr>
        </p:nvGraphicFramePr>
        <p:xfrm>
          <a:off x="871865" y="2148524"/>
          <a:ext cx="10448268" cy="40170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12067">
                  <a:extLst>
                    <a:ext uri="{9D8B030D-6E8A-4147-A177-3AD203B41FA5}">
                      <a16:colId xmlns:a16="http://schemas.microsoft.com/office/drawing/2014/main" val="4197458858"/>
                    </a:ext>
                  </a:extLst>
                </a:gridCol>
                <a:gridCol w="2388362">
                  <a:extLst>
                    <a:ext uri="{9D8B030D-6E8A-4147-A177-3AD203B41FA5}">
                      <a16:colId xmlns:a16="http://schemas.microsoft.com/office/drawing/2014/main" val="4164974366"/>
                    </a:ext>
                  </a:extLst>
                </a:gridCol>
                <a:gridCol w="2768367">
                  <a:extLst>
                    <a:ext uri="{9D8B030D-6E8A-4147-A177-3AD203B41FA5}">
                      <a16:colId xmlns:a16="http://schemas.microsoft.com/office/drawing/2014/main" val="634714108"/>
                    </a:ext>
                  </a:extLst>
                </a:gridCol>
                <a:gridCol w="2679472">
                  <a:extLst>
                    <a:ext uri="{9D8B030D-6E8A-4147-A177-3AD203B41FA5}">
                      <a16:colId xmlns:a16="http://schemas.microsoft.com/office/drawing/2014/main" val="2503496143"/>
                    </a:ext>
                  </a:extLst>
                </a:gridCol>
              </a:tblGrid>
              <a:tr h="5293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내부 데이터 출처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외부 데이터 출처</a:t>
                      </a:r>
                      <a:r>
                        <a:rPr lang="en-US" altLang="ko-KR" sz="1400" dirty="0"/>
                        <a:t>(API </a:t>
                      </a:r>
                      <a:r>
                        <a:rPr lang="ko-KR" altLang="en-US" sz="1400" dirty="0"/>
                        <a:t>등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4566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기본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가입 시 직접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729779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반려동물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시 직접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839746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및 결제 내역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321236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시 직접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56266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게시판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작성 콘텐츠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213518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웹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앱 로그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자동 수집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012177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구매 및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주문 </a:t>
                      </a:r>
                      <a:r>
                        <a:rPr lang="en-US" altLang="ko-KR" sz="1200" dirty="0"/>
                        <a:t>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구매내역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좋아요 기록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113126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상담 </a:t>
                      </a:r>
                      <a:r>
                        <a:rPr lang="en-US" altLang="ko-KR" sz="1200" b="1" dirty="0"/>
                        <a:t>/ </a:t>
                      </a:r>
                      <a:r>
                        <a:rPr lang="ko-KR" altLang="en-US" sz="1200" b="1" dirty="0"/>
                        <a:t>굿즈 리뷰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리뷰</a:t>
                      </a:r>
                      <a:r>
                        <a:rPr lang="en-US" altLang="ko-KR" sz="1200" dirty="0"/>
                        <a:t> DB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및 굿즈 구매 리뷰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51402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장례업체 위치정보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네이버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구글 </a:t>
                      </a:r>
                      <a:r>
                        <a:rPr lang="en-US" altLang="ko-KR" sz="1200" dirty="0"/>
                        <a:t>Places API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농림축산검역본부 </a:t>
                      </a:r>
                      <a:r>
                        <a:rPr lang="en-US" altLang="ko-KR" sz="1200" dirty="0"/>
                        <a:t>API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월</a:t>
                      </a:r>
                      <a:r>
                        <a:rPr lang="en-US" altLang="ko-KR" sz="1200" dirty="0"/>
                        <a:t> 1</a:t>
                      </a:r>
                      <a:r>
                        <a:rPr lang="ko-KR" altLang="en-US" sz="1200" dirty="0"/>
                        <a:t>회 데이터 수집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999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516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dirty="0"/>
              <a:t>데이터 형태 파악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5C591814-9832-4D2A-BA9B-6A679A80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285174"/>
              </p:ext>
            </p:extLst>
          </p:nvPr>
        </p:nvGraphicFramePr>
        <p:xfrm>
          <a:off x="696239" y="2407013"/>
          <a:ext cx="10799519" cy="344144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5206">
                  <a:extLst>
                    <a:ext uri="{9D8B030D-6E8A-4147-A177-3AD203B41FA5}">
                      <a16:colId xmlns:a16="http://schemas.microsoft.com/office/drawing/2014/main" val="3625001680"/>
                    </a:ext>
                  </a:extLst>
                </a:gridCol>
                <a:gridCol w="2442681">
                  <a:extLst>
                    <a:ext uri="{9D8B030D-6E8A-4147-A177-3AD203B41FA5}">
                      <a16:colId xmlns:a16="http://schemas.microsoft.com/office/drawing/2014/main" val="3724571314"/>
                    </a:ext>
                  </a:extLst>
                </a:gridCol>
                <a:gridCol w="5011632">
                  <a:extLst>
                    <a:ext uri="{9D8B030D-6E8A-4147-A177-3AD203B41FA5}">
                      <a16:colId xmlns:a16="http://schemas.microsoft.com/office/drawing/2014/main" val="1927738777"/>
                    </a:ext>
                  </a:extLst>
                </a:gridCol>
              </a:tblGrid>
              <a:tr h="5318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 형태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301754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기본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연락처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주소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가입일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581278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반려동물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나이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특징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383016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위치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비용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008001"/>
                  </a:ext>
                </a:extLst>
              </a:tr>
              <a:tr h="3270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일정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 형태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410151"/>
                  </a:ext>
                </a:extLst>
              </a:tr>
              <a:tr h="324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이미지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댓글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717771"/>
                  </a:ext>
                </a:extLst>
              </a:tr>
              <a:tr h="3499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반정형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클릭 스트림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페이지 체류 시간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445697"/>
                  </a:ext>
                </a:extLst>
              </a:tr>
              <a:tr h="296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구매 및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구매 기록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좋아요 수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013007"/>
                  </a:ext>
                </a:extLst>
              </a:tr>
              <a:tr h="296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</a:t>
                      </a:r>
                      <a:r>
                        <a:rPr lang="en-US" altLang="ko-KR" sz="1200" b="1" dirty="0"/>
                        <a:t>/ </a:t>
                      </a:r>
                      <a:r>
                        <a:rPr lang="ko-KR" altLang="en-US" sz="1200" b="1" dirty="0"/>
                        <a:t>굿즈 리뷰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반정형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별점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 텍스트 후기 등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720824"/>
                  </a:ext>
                </a:extLst>
              </a:tr>
              <a:tr h="334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장례업체 위치정보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업체명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주소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연락처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위치 좌표 등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29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10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dirty="0"/>
              <a:t>수집 가능성 검토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4FD0E0E4-B877-4B90-B0F6-9B97DD01F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877287"/>
              </p:ext>
            </p:extLst>
          </p:nvPr>
        </p:nvGraphicFramePr>
        <p:xfrm>
          <a:off x="312511" y="1773197"/>
          <a:ext cx="11600265" cy="4768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6806">
                  <a:extLst>
                    <a:ext uri="{9D8B030D-6E8A-4147-A177-3AD203B41FA5}">
                      <a16:colId xmlns:a16="http://schemas.microsoft.com/office/drawing/2014/main" val="1291380072"/>
                    </a:ext>
                  </a:extLst>
                </a:gridCol>
                <a:gridCol w="1578283">
                  <a:extLst>
                    <a:ext uri="{9D8B030D-6E8A-4147-A177-3AD203B41FA5}">
                      <a16:colId xmlns:a16="http://schemas.microsoft.com/office/drawing/2014/main" val="1336350935"/>
                    </a:ext>
                  </a:extLst>
                </a:gridCol>
                <a:gridCol w="1472339">
                  <a:extLst>
                    <a:ext uri="{9D8B030D-6E8A-4147-A177-3AD203B41FA5}">
                      <a16:colId xmlns:a16="http://schemas.microsoft.com/office/drawing/2014/main" val="1960505759"/>
                    </a:ext>
                  </a:extLst>
                </a:gridCol>
                <a:gridCol w="1986328">
                  <a:extLst>
                    <a:ext uri="{9D8B030D-6E8A-4147-A177-3AD203B41FA5}">
                      <a16:colId xmlns:a16="http://schemas.microsoft.com/office/drawing/2014/main" val="3778547915"/>
                    </a:ext>
                  </a:extLst>
                </a:gridCol>
                <a:gridCol w="4796509">
                  <a:extLst>
                    <a:ext uri="{9D8B030D-6E8A-4147-A177-3AD203B41FA5}">
                      <a16:colId xmlns:a16="http://schemas.microsoft.com/office/drawing/2014/main" val="2288610065"/>
                    </a:ext>
                  </a:extLst>
                </a:gridCol>
              </a:tblGrid>
              <a:tr h="3566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접근 권한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(API Key </a:t>
                      </a:r>
                      <a:r>
                        <a:rPr lang="ko-KR" altLang="en-US" sz="1400" dirty="0"/>
                        <a:t>등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무료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유료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API </a:t>
                      </a:r>
                      <a:r>
                        <a:rPr lang="ko-KR" altLang="en-US" sz="1400" dirty="0"/>
                        <a:t>호출 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라이선스 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868894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기본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 </a:t>
                      </a:r>
                      <a:r>
                        <a:rPr lang="en-US" altLang="ko-KR" sz="1200" dirty="0"/>
                        <a:t>500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개인정보 보호 정책 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32590"/>
                  </a:ext>
                </a:extLst>
              </a:tr>
              <a:tr h="3147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반려동물 정보</a:t>
                      </a:r>
                      <a:endParaRPr lang="en-US" altLang="ko-K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 </a:t>
                      </a:r>
                      <a:r>
                        <a:rPr lang="en-US" altLang="ko-KR" sz="1200" dirty="0"/>
                        <a:t>500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자 제공 시 소유자의 동의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834223"/>
                  </a:ext>
                </a:extLst>
              </a:tr>
              <a:tr h="440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 </a:t>
                      </a:r>
                      <a:r>
                        <a:rPr lang="en-US" altLang="ko-KR" sz="1200" dirty="0"/>
                        <a:t>1,000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개인정보 보호법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민감 정보처리 여부 확인</a:t>
                      </a:r>
                      <a:r>
                        <a:rPr lang="en-US" altLang="ko-KR" sz="1200" dirty="0"/>
                        <a:t> 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81383"/>
                  </a:ext>
                </a:extLst>
              </a:tr>
              <a:tr h="5665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 </a:t>
                      </a:r>
                      <a:r>
                        <a:rPr lang="en-US" altLang="ko-KR" sz="1200" dirty="0"/>
                        <a:t>500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상담 내용의 비밀 유지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개인정보 보호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필요시 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의료법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심리상담 관련 법규 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214988"/>
                  </a:ext>
                </a:extLst>
              </a:tr>
              <a:tr h="440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조회 일일 </a:t>
                      </a:r>
                      <a:r>
                        <a:rPr lang="en-US" altLang="ko-KR" sz="1200" dirty="0"/>
                        <a:t>5,000</a:t>
                      </a:r>
                      <a:r>
                        <a:rPr lang="ko-KR" altLang="en-US" sz="1200" dirty="0"/>
                        <a:t>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작성수정 일일 </a:t>
                      </a:r>
                      <a:r>
                        <a:rPr lang="en-US" altLang="ko-KR" sz="1200" dirty="0"/>
                        <a:t>300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이용자 약관에 게시글 사용 및 </a:t>
                      </a:r>
                      <a:r>
                        <a:rPr lang="en-US" altLang="ko-KR" sz="1200" dirty="0"/>
                        <a:t>API </a:t>
                      </a:r>
                      <a:r>
                        <a:rPr lang="ko-KR" altLang="en-US" sz="1200" dirty="0"/>
                        <a:t>사용 허락 여부 명시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98835"/>
                  </a:ext>
                </a:extLst>
              </a:tr>
              <a:tr h="692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이용자 동의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로그 수집 목적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보관기간</a:t>
                      </a:r>
                      <a:r>
                        <a:rPr lang="en-US" altLang="ko-KR" sz="1200" dirty="0"/>
                        <a:t>), </a:t>
                      </a:r>
                      <a:r>
                        <a:rPr lang="ko-KR" altLang="en-US" sz="1200" dirty="0"/>
                        <a:t>개인정보 보호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사용자 권리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/>
                        <a:t>보장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842345"/>
                  </a:ext>
                </a:extLst>
              </a:tr>
              <a:tr h="5665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구매 및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유료 혼합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 </a:t>
                      </a:r>
                      <a:r>
                        <a:rPr lang="en-US" altLang="ko-KR" sz="1200" dirty="0"/>
                        <a:t>500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거래정보 보호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호비자 보호법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개인정보 보호법 동의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및 목적 외 사용 금지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580886"/>
                  </a:ext>
                </a:extLst>
              </a:tr>
              <a:tr h="440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</a:t>
                      </a:r>
                      <a:r>
                        <a:rPr lang="en-US" altLang="ko-KR" sz="1200" b="1" dirty="0"/>
                        <a:t> / </a:t>
                      </a:r>
                      <a:r>
                        <a:rPr lang="ko-KR" altLang="en-US" sz="1200" b="1" dirty="0"/>
                        <a:t>굿즈 리뷰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유료 혼합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조회 일일 </a:t>
                      </a:r>
                      <a:r>
                        <a:rPr lang="en-US" altLang="ko-KR" sz="1200" dirty="0"/>
                        <a:t>5,000</a:t>
                      </a:r>
                      <a:r>
                        <a:rPr lang="ko-KR" altLang="en-US" sz="1200" dirty="0"/>
                        <a:t>건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작성수정 일일 </a:t>
                      </a:r>
                      <a:r>
                        <a:rPr lang="en-US" altLang="ko-KR" sz="1200" dirty="0"/>
                        <a:t>300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명예훼손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개인정보 보호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약관 내 리뷰 이용 허락 조항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075965"/>
                  </a:ext>
                </a:extLst>
              </a:tr>
              <a:tr h="440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장례업체 위치정보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권한 동의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일일 </a:t>
                      </a:r>
                      <a:r>
                        <a:rPr lang="en-US" altLang="ko-KR" sz="1200" dirty="0"/>
                        <a:t>1,000</a:t>
                      </a:r>
                      <a:r>
                        <a:rPr lang="ko-KR" altLang="en-US" sz="1200" dirty="0"/>
                        <a:t>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지리정보 라이선스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지도 서비스 약관 및 저작권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8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70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최종 후보 데이터 선정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E5F6064C-A956-48EE-9DC7-9758DACF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741650"/>
              </p:ext>
            </p:extLst>
          </p:nvPr>
        </p:nvGraphicFramePr>
        <p:xfrm>
          <a:off x="546045" y="2004816"/>
          <a:ext cx="11066110" cy="45028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45657">
                  <a:extLst>
                    <a:ext uri="{9D8B030D-6E8A-4147-A177-3AD203B41FA5}">
                      <a16:colId xmlns:a16="http://schemas.microsoft.com/office/drawing/2014/main" val="72268060"/>
                    </a:ext>
                  </a:extLst>
                </a:gridCol>
                <a:gridCol w="1841043">
                  <a:extLst>
                    <a:ext uri="{9D8B030D-6E8A-4147-A177-3AD203B41FA5}">
                      <a16:colId xmlns:a16="http://schemas.microsoft.com/office/drawing/2014/main" val="1880637043"/>
                    </a:ext>
                  </a:extLst>
                </a:gridCol>
                <a:gridCol w="2465397">
                  <a:extLst>
                    <a:ext uri="{9D8B030D-6E8A-4147-A177-3AD203B41FA5}">
                      <a16:colId xmlns:a16="http://schemas.microsoft.com/office/drawing/2014/main" val="3774072708"/>
                    </a:ext>
                  </a:extLst>
                </a:gridCol>
                <a:gridCol w="4814013">
                  <a:extLst>
                    <a:ext uri="{9D8B030D-6E8A-4147-A177-3AD203B41FA5}">
                      <a16:colId xmlns:a16="http://schemas.microsoft.com/office/drawing/2014/main" val="1401246057"/>
                    </a:ext>
                  </a:extLst>
                </a:gridCol>
              </a:tblGrid>
              <a:tr h="320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필수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활용계획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50553"/>
                  </a:ext>
                </a:extLst>
              </a:tr>
              <a:tr h="5524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기본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입력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회원가입 시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알림 발송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고객 관리 등 사용자 식별 기반 서비스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863205"/>
                  </a:ext>
                </a:extLst>
              </a:tr>
              <a:tr h="394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반려동물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장례예약 대상 정보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커뮤니티 참여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통계 분석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162665"/>
                  </a:ext>
                </a:extLst>
              </a:tr>
              <a:tr h="394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 예약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사용자 입력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예약 시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장례서비스 예약 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업체 연동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 일정 안내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834000"/>
                  </a:ext>
                </a:extLst>
              </a:tr>
              <a:tr h="394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사용자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심리상담 일정 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상담사 매칭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후속 알림 발송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665403"/>
                  </a:ext>
                </a:extLst>
              </a:tr>
              <a:tr h="5524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사용자 생성 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간 소통 공간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브랜드 충성도 증진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 행동 데이터 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111872"/>
                  </a:ext>
                </a:extLst>
              </a:tr>
              <a:tr h="394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내부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경험 개선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추천 알고리즘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마케팅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395907"/>
                  </a:ext>
                </a:extLst>
              </a:tr>
              <a:tr h="394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구매 및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사용자 입력 및 구매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추천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마케팅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사용자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501491"/>
                  </a:ext>
                </a:extLst>
              </a:tr>
              <a:tr h="5524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 </a:t>
                      </a:r>
                      <a:r>
                        <a:rPr lang="en-US" altLang="ko-KR" sz="1200" b="1" dirty="0"/>
                        <a:t>/ </a:t>
                      </a:r>
                      <a:r>
                        <a:rPr lang="ko-KR" altLang="en-US" sz="1200" b="1" dirty="0"/>
                        <a:t>굿즈 리뷰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사용자 생성 콘텐츠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신규 사용자 유입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신뢰도 향상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품질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서비스 개선 피드백 수집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695806"/>
                  </a:ext>
                </a:extLst>
              </a:tr>
              <a:tr h="5524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장례업체 위치정보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네이버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구글 </a:t>
                      </a:r>
                      <a:r>
                        <a:rPr lang="en-US" altLang="ko-KR" sz="1200" dirty="0"/>
                        <a:t>Places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지도 기반 검색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거리 기반 추천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예약 시 위치 연동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72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600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>
                <a:solidFill>
                  <a:srgbClr val="2C3930"/>
                </a:solidFill>
              </a:rPr>
              <a:t>astpage</a:t>
            </a:r>
            <a:r>
              <a:rPr lang="en-US" altLang="ko-KR" sz="5400" dirty="0">
                <a:solidFill>
                  <a:schemeClr val="bg1"/>
                </a:solidFill>
              </a:rPr>
              <a:t>Lastpage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dirty="0"/>
              <a:t>후보데이터 수집 방식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E84066DC-8077-44E9-A546-FC0D8217C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123531"/>
              </p:ext>
            </p:extLst>
          </p:nvPr>
        </p:nvGraphicFramePr>
        <p:xfrm>
          <a:off x="997881" y="1843969"/>
          <a:ext cx="10196235" cy="447045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9247">
                  <a:extLst>
                    <a:ext uri="{9D8B030D-6E8A-4147-A177-3AD203B41FA5}">
                      <a16:colId xmlns:a16="http://schemas.microsoft.com/office/drawing/2014/main" val="134467323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313368287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749706230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3584374462"/>
                    </a:ext>
                  </a:extLst>
                </a:gridCol>
                <a:gridCol w="2039247">
                  <a:extLst>
                    <a:ext uri="{9D8B030D-6E8A-4147-A177-3AD203B41FA5}">
                      <a16:colId xmlns:a16="http://schemas.microsoft.com/office/drawing/2014/main" val="2594297005"/>
                    </a:ext>
                  </a:extLst>
                </a:gridCol>
              </a:tblGrid>
              <a:tr h="4338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후보 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경로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수집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활용 목적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8384"/>
                  </a:ext>
                </a:extLst>
              </a:tr>
              <a:tr h="780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커뮤니티 게시글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내에서 직접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이미지 파일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업로드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게시글 작성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간 감정 공유 및 커뮤니티 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11901"/>
                  </a:ext>
                </a:extLst>
              </a:tr>
              <a:tr h="552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사용자 활동 로그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웹 내 사용자 행동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클릭 스트림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페이지에 머문 시간 등 자동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행동 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개인화 추천 알고리즘 학습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이용 행태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0334"/>
                  </a:ext>
                </a:extLst>
              </a:tr>
              <a:tr h="711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굿즈 선호도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굿즈 조회</a:t>
                      </a:r>
                      <a:r>
                        <a:rPr lang="en-US" altLang="ko-KR" sz="1200" dirty="0"/>
                        <a:t>, 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＇</a:t>
                      </a:r>
                      <a:r>
                        <a:rPr lang="ko-KR" altLang="en-US" sz="1200" dirty="0"/>
                        <a:t>클릭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‘</a:t>
                      </a:r>
                      <a:r>
                        <a:rPr lang="ko-KR" altLang="en-US" sz="1200" dirty="0"/>
                        <a:t>좋아요</a:t>
                      </a:r>
                      <a:r>
                        <a:rPr lang="en-US" altLang="ko-KR" sz="1200" dirty="0"/>
                        <a:t>’ </a:t>
                      </a:r>
                      <a:r>
                        <a:rPr lang="ko-KR" altLang="en-US" sz="1200" dirty="0"/>
                        <a:t>발생 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실시간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인기 굿즈 트렌드 분석 및 상품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55080"/>
                  </a:ext>
                </a:extLst>
              </a:tr>
              <a:tr h="65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상담사 리뷰</a:t>
                      </a:r>
                      <a:r>
                        <a:rPr lang="en-US" altLang="ko-KR" sz="1200" b="1" dirty="0"/>
                        <a:t>/</a:t>
                      </a:r>
                      <a:r>
                        <a:rPr lang="ko-KR" altLang="en-US" sz="1200" b="1" dirty="0"/>
                        <a:t>평점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상담 후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텍스트 입력 및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별점 선택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종료 후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비정기적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신뢰도 높은 상담사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추천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서비스 품질 개선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83419"/>
                  </a:ext>
                </a:extLst>
              </a:tr>
              <a:tr h="6627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회원 기본정보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사용자가 회원가입 시 직접 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폼</a:t>
                      </a:r>
                      <a:r>
                        <a:rPr lang="en-US" altLang="ko-KR" sz="1200" dirty="0"/>
                        <a:t>(Form) </a:t>
                      </a:r>
                      <a:r>
                        <a:rPr lang="ko-KR" altLang="en-US" sz="1200" dirty="0"/>
                        <a:t>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 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이용자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통계 분석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644808"/>
                  </a:ext>
                </a:extLst>
              </a:tr>
              <a:tr h="6750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동물장묘업체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농림축산검역본부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(e-animal.go.kr)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공공데이터 </a:t>
                      </a:r>
                      <a:r>
                        <a:rPr lang="en-US" altLang="ko-KR" sz="1200" dirty="0"/>
                        <a:t>API</a:t>
                      </a:r>
                      <a:r>
                        <a:rPr lang="ko-KR" altLang="en-US" sz="1200" dirty="0"/>
                        <a:t>호출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또는 주기적 크롤링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58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2144</Words>
  <Application>Microsoft Office PowerPoint</Application>
  <PresentationFormat>와이드스크린</PresentationFormat>
  <Paragraphs>494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118</cp:revision>
  <dcterms:created xsi:type="dcterms:W3CDTF">2025-08-05T00:27:28Z</dcterms:created>
  <dcterms:modified xsi:type="dcterms:W3CDTF">2025-09-16T02:56:33Z</dcterms:modified>
</cp:coreProperties>
</file>