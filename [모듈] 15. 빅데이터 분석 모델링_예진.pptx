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8" r:id="rId2"/>
    <p:sldId id="257" r:id="rId3"/>
    <p:sldId id="345" r:id="rId4"/>
    <p:sldId id="348" r:id="rId5"/>
    <p:sldId id="349" r:id="rId6"/>
    <p:sldId id="346" r:id="rId7"/>
    <p:sldId id="350" r:id="rId8"/>
    <p:sldId id="347" r:id="rId9"/>
    <p:sldId id="28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64FBC-A603-4149-BCAB-2D4F768B91F6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F3FA8-2471-4FD8-B750-534028B4DD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30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빅데이터 분석 모델링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2967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altLang="ko-KR" sz="2800" dirty="0"/>
              <a:t>INDEX </a:t>
            </a:r>
            <a:r>
              <a:rPr lang="ko-KR" altLang="en-US" sz="2800" dirty="0"/>
              <a:t>및 </a:t>
            </a:r>
            <a:r>
              <a:rPr lang="en-US" altLang="ko-KR" sz="2800" dirty="0"/>
              <a:t>CONTENTS</a:t>
            </a:r>
            <a:endParaRPr lang="ko-KR" altLang="en-US" sz="2800" dirty="0"/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446707" y="6439943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EA2501B-6B7D-417C-BE87-5373F6C9C5A5}"/>
              </a:ext>
            </a:extLst>
          </p:cNvPr>
          <p:cNvSpPr txBox="1">
            <a:spLocks/>
          </p:cNvSpPr>
          <p:nvPr/>
        </p:nvSpPr>
        <p:spPr>
          <a:xfrm>
            <a:off x="475542" y="2103098"/>
            <a:ext cx="11388798" cy="37602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컬럼 정보 확인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+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인사이트 도출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문제 정의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)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2p – 4p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데이터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전처리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+ train/</a:t>
            </a:r>
            <a:r>
              <a:rPr lang="en-US" altLang="ko-KR" sz="1500" b="1" dirty="0" err="1">
                <a:solidFill>
                  <a:schemeClr val="bg1"/>
                </a:solidFill>
                <a:latin typeface="+mj-lt"/>
              </a:rPr>
              <a:t>val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분리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(8:2)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5p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–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6p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선형 회귀 모델 학습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+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교차검증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7p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8P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9P</a:t>
            </a: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컬럼 정보 확인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+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인사이트 도출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문제 정의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18B9549-A8AA-41D7-867D-993A612D534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2" t="29111" r="42313" b="43444"/>
          <a:stretch/>
        </p:blipFill>
        <p:spPr>
          <a:xfrm>
            <a:off x="504816" y="1904504"/>
            <a:ext cx="5315303" cy="213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3EEFA8-F15B-4EED-B3B7-92EB7F4B9965}"/>
              </a:ext>
            </a:extLst>
          </p:cNvPr>
          <p:cNvSpPr txBox="1"/>
          <p:nvPr/>
        </p:nvSpPr>
        <p:spPr>
          <a:xfrm>
            <a:off x="504816" y="4266074"/>
            <a:ext cx="6850593" cy="227261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bg1"/>
                </a:solidFill>
              </a:rPr>
              <a:t>★ 문제 정의 및 인사이트 도출</a:t>
            </a:r>
            <a:endParaRPr lang="en-US" altLang="ko-KR" sz="12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ko-KR" altLang="en-US" sz="12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bg1"/>
                </a:solidFill>
              </a:rPr>
              <a:t>상품</a:t>
            </a:r>
            <a:r>
              <a:rPr lang="en-US" altLang="ko-KR" sz="1200" dirty="0">
                <a:solidFill>
                  <a:schemeClr val="bg1"/>
                </a:solidFill>
              </a:rPr>
              <a:t>(Item)</a:t>
            </a:r>
            <a:r>
              <a:rPr lang="ko-KR" altLang="en-US" sz="1200" dirty="0">
                <a:solidFill>
                  <a:schemeClr val="bg1"/>
                </a:solidFill>
              </a:rPr>
              <a:t>과 매장</a:t>
            </a:r>
            <a:r>
              <a:rPr lang="en-US" altLang="ko-KR" sz="1200" dirty="0">
                <a:solidFill>
                  <a:schemeClr val="bg1"/>
                </a:solidFill>
              </a:rPr>
              <a:t>(Outlet)</a:t>
            </a:r>
            <a:r>
              <a:rPr lang="ko-KR" altLang="en-US" sz="1200" dirty="0">
                <a:solidFill>
                  <a:schemeClr val="bg1"/>
                </a:solidFill>
              </a:rPr>
              <a:t>의 특성을 바탕으로 매출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Item_Outlet_Sales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을 예측하는 회귀 문제이다</a:t>
            </a:r>
            <a:endParaRPr lang="en-US" altLang="ko-KR" sz="12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bg1"/>
                </a:solidFill>
              </a:rPr>
              <a:t>데이터 해석 인사이트 </a:t>
            </a:r>
            <a:r>
              <a:rPr lang="en-US" altLang="ko-KR" sz="1200" dirty="0">
                <a:solidFill>
                  <a:schemeClr val="bg1"/>
                </a:solidFill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en-US" altLang="ko-KR" sz="1200" dirty="0" err="1">
                <a:solidFill>
                  <a:schemeClr val="bg1"/>
                </a:solidFill>
              </a:rPr>
              <a:t>Item_MRP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상품 가격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는 매출과 직접적인 상관이 있을 가능성이 높다</a:t>
            </a:r>
            <a:endParaRPr lang="en-US" altLang="ko-KR" sz="12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en-US" altLang="ko-KR" sz="1200" dirty="0" err="1">
                <a:solidFill>
                  <a:schemeClr val="bg1"/>
                </a:solidFill>
              </a:rPr>
              <a:t>Outlet_Type</a:t>
            </a:r>
            <a:r>
              <a:rPr lang="en-US" altLang="ko-KR" sz="1200" dirty="0">
                <a:solidFill>
                  <a:schemeClr val="bg1"/>
                </a:solidFill>
              </a:rPr>
              <a:t> / </a:t>
            </a:r>
            <a:r>
              <a:rPr lang="en-US" altLang="ko-KR" sz="1200" dirty="0" err="1">
                <a:solidFill>
                  <a:schemeClr val="bg1"/>
                </a:solidFill>
              </a:rPr>
              <a:t>Outlet_Location_Type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등 매장 특성은 매출 규모에 유의미한 영향을 줄 수 있다</a:t>
            </a:r>
            <a:endParaRPr lang="en-US" altLang="ko-KR" sz="12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en-US" altLang="ko-KR" sz="1200" dirty="0" err="1">
                <a:solidFill>
                  <a:schemeClr val="bg1"/>
                </a:solidFill>
              </a:rPr>
              <a:t>Item_Weight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및 </a:t>
            </a:r>
            <a:r>
              <a:rPr lang="en-US" altLang="ko-KR" sz="1200" dirty="0" err="1">
                <a:solidFill>
                  <a:schemeClr val="bg1"/>
                </a:solidFill>
              </a:rPr>
              <a:t>Outlet_Size</a:t>
            </a:r>
            <a:r>
              <a:rPr lang="ko-KR" altLang="en-US" sz="1200" dirty="0">
                <a:solidFill>
                  <a:schemeClr val="bg1"/>
                </a:solidFill>
              </a:rPr>
              <a:t>는 </a:t>
            </a:r>
            <a:r>
              <a:rPr lang="ko-KR" altLang="en-US" sz="1200" dirty="0" err="1">
                <a:solidFill>
                  <a:schemeClr val="bg1"/>
                </a:solidFill>
              </a:rPr>
              <a:t>결측치</a:t>
            </a:r>
            <a:r>
              <a:rPr lang="ko-KR" altLang="en-US" sz="1200" dirty="0">
                <a:solidFill>
                  <a:schemeClr val="bg1"/>
                </a:solidFill>
              </a:rPr>
              <a:t> 존재 → 적절한 </a:t>
            </a:r>
            <a:r>
              <a:rPr lang="ko-KR" altLang="en-US" sz="1200" dirty="0" err="1">
                <a:solidFill>
                  <a:schemeClr val="bg1"/>
                </a:solidFill>
              </a:rPr>
              <a:t>결측치</a:t>
            </a:r>
            <a:r>
              <a:rPr lang="ko-KR" altLang="en-US" sz="1200" dirty="0">
                <a:solidFill>
                  <a:schemeClr val="bg1"/>
                </a:solidFill>
              </a:rPr>
              <a:t> 처리 필요</a:t>
            </a:r>
          </a:p>
        </p:txBody>
      </p:sp>
    </p:spTree>
    <p:extLst>
      <p:ext uri="{BB962C8B-B14F-4D97-AF65-F5344CB8AC3E}">
        <p14:creationId xmlns:p14="http://schemas.microsoft.com/office/powerpoint/2010/main" val="1181446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컬럼 정보 확인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+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인사이트 도출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문제 정의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57FC33-07C2-4A0B-8B9F-5E3A18F704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625" t="57644" r="57938" b="18778"/>
          <a:stretch/>
        </p:blipFill>
        <p:spPr>
          <a:xfrm>
            <a:off x="3158808" y="4193272"/>
            <a:ext cx="2735580" cy="161698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94EE935-C037-4807-8EEE-0B223D63CF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625" t="23000" r="57938" b="42800"/>
          <a:stretch/>
        </p:blipFill>
        <p:spPr>
          <a:xfrm>
            <a:off x="273584" y="4193272"/>
            <a:ext cx="2735580" cy="234541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4D39685-3CF9-4336-A05C-D917104EA0D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313" t="17444" r="34577" b="50000"/>
          <a:stretch/>
        </p:blipFill>
        <p:spPr>
          <a:xfrm>
            <a:off x="273584" y="1767549"/>
            <a:ext cx="5621605" cy="22326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85CC1E8-373F-471B-A64D-3A67DD4FE0FA}"/>
              </a:ext>
            </a:extLst>
          </p:cNvPr>
          <p:cNvSpPr txBox="1"/>
          <p:nvPr/>
        </p:nvSpPr>
        <p:spPr>
          <a:xfrm>
            <a:off x="6272530" y="3200939"/>
            <a:ext cx="5631222" cy="1441613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bg1"/>
                </a:solidFill>
              </a:rPr>
              <a:t>데이터 컬럼들의 타입을 확인한 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수치형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ko-KR" altLang="en-US" sz="1200" dirty="0">
                <a:solidFill>
                  <a:schemeClr val="bg1"/>
                </a:solidFill>
              </a:rPr>
              <a:t>범주형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ko-KR" altLang="en-US" sz="1200" dirty="0">
                <a:solidFill>
                  <a:schemeClr val="bg1"/>
                </a:solidFill>
              </a:rPr>
              <a:t>식별자 컬럼으로 구분함</a:t>
            </a:r>
            <a:endParaRPr lang="en-US" altLang="ko-KR" sz="12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범주형 데이터 비율이 높기 때문에 </a:t>
            </a:r>
            <a:r>
              <a:rPr lang="en-US" altLang="ko-KR" sz="1200" dirty="0">
                <a:solidFill>
                  <a:schemeClr val="bg1"/>
                </a:solidFill>
              </a:rPr>
              <a:t>Label Encoding</a:t>
            </a:r>
            <a:r>
              <a:rPr lang="ko-KR" altLang="en-US" sz="1200" dirty="0">
                <a:solidFill>
                  <a:schemeClr val="bg1"/>
                </a:solidFill>
              </a:rPr>
              <a:t>이 필요</a:t>
            </a:r>
            <a:endParaRPr lang="en-US" altLang="ko-KR" sz="12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en-US" altLang="ko-KR" sz="1200" dirty="0" err="1">
                <a:solidFill>
                  <a:schemeClr val="bg1"/>
                </a:solidFill>
              </a:rPr>
              <a:t>Item_Identifier</a:t>
            </a:r>
            <a:r>
              <a:rPr lang="ko-KR" altLang="en-US" sz="1200" dirty="0">
                <a:solidFill>
                  <a:schemeClr val="bg1"/>
                </a:solidFill>
              </a:rPr>
              <a:t>는 단순 식별자이므로 모델 학습 시 제거</a:t>
            </a:r>
            <a:endParaRPr lang="en-US" altLang="ko-KR" sz="12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en-US" altLang="ko-KR" sz="1200" dirty="0" err="1">
                <a:solidFill>
                  <a:schemeClr val="bg1"/>
                </a:solidFill>
              </a:rPr>
              <a:t>Item_Weight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</a:rPr>
              <a:t>Outlet_Size</a:t>
            </a:r>
            <a:r>
              <a:rPr lang="ko-KR" altLang="en-US" sz="1200" dirty="0">
                <a:solidFill>
                  <a:schemeClr val="bg1"/>
                </a:solidFill>
              </a:rPr>
              <a:t>에서 </a:t>
            </a:r>
            <a:r>
              <a:rPr lang="ko-KR" altLang="en-US" sz="1200" dirty="0" err="1">
                <a:solidFill>
                  <a:schemeClr val="bg1"/>
                </a:solidFill>
              </a:rPr>
              <a:t>결측치가</a:t>
            </a:r>
            <a:r>
              <a:rPr lang="ko-KR" altLang="en-US" sz="1200" dirty="0">
                <a:solidFill>
                  <a:schemeClr val="bg1"/>
                </a:solidFill>
              </a:rPr>
              <a:t> 확인되어 이후 </a:t>
            </a:r>
            <a:r>
              <a:rPr lang="ko-KR" altLang="en-US" sz="1200" dirty="0" err="1">
                <a:solidFill>
                  <a:schemeClr val="bg1"/>
                </a:solidFill>
              </a:rPr>
              <a:t>전처리</a:t>
            </a:r>
            <a:r>
              <a:rPr lang="ko-KR" altLang="en-US" sz="1200" dirty="0">
                <a:solidFill>
                  <a:schemeClr val="bg1"/>
                </a:solidFill>
              </a:rPr>
              <a:t> 단계에서 처리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397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컬럼 정보 확인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+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인사이트 도출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문제 정의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DD0FAC0-5207-4416-BEAA-EE9B4C65AD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375" t="34667" r="47500" b="37000"/>
          <a:stretch/>
        </p:blipFill>
        <p:spPr>
          <a:xfrm>
            <a:off x="480151" y="1698519"/>
            <a:ext cx="3986422" cy="191799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83DCB38-DAB3-447D-84D1-065F507B9B1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375" t="27771" r="49375" b="30889"/>
          <a:stretch/>
        </p:blipFill>
        <p:spPr>
          <a:xfrm>
            <a:off x="480151" y="3749040"/>
            <a:ext cx="3986422" cy="29664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374690-359A-4A20-A837-7D66FDD95CF9}"/>
              </a:ext>
            </a:extLst>
          </p:cNvPr>
          <p:cNvSpPr txBox="1"/>
          <p:nvPr/>
        </p:nvSpPr>
        <p:spPr>
          <a:xfrm>
            <a:off x="4922807" y="3429000"/>
            <a:ext cx="6930102" cy="1075294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bg1"/>
                </a:solidFill>
              </a:rPr>
              <a:t>수치형 변수의 분포를 확인한 결과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ko-KR" altLang="en-US" sz="1100" dirty="0">
                <a:solidFill>
                  <a:schemeClr val="bg1"/>
                </a:solidFill>
              </a:rPr>
              <a:t>상품 가격</a:t>
            </a:r>
            <a:r>
              <a:rPr lang="en-US" altLang="ko-KR" sz="1100" dirty="0">
                <a:solidFill>
                  <a:schemeClr val="bg1"/>
                </a:solidFill>
              </a:rPr>
              <a:t>(</a:t>
            </a:r>
            <a:r>
              <a:rPr lang="en-US" altLang="ko-KR" sz="1100" dirty="0" err="1">
                <a:solidFill>
                  <a:schemeClr val="bg1"/>
                </a:solidFill>
              </a:rPr>
              <a:t>Item_MRP</a:t>
            </a:r>
            <a:r>
              <a:rPr lang="en-US" altLang="ko-KR" sz="1100" dirty="0">
                <a:solidFill>
                  <a:schemeClr val="bg1"/>
                </a:solidFill>
              </a:rPr>
              <a:t>)</a:t>
            </a:r>
            <a:r>
              <a:rPr lang="ko-KR" altLang="en-US" sz="1100" dirty="0">
                <a:solidFill>
                  <a:schemeClr val="bg1"/>
                </a:solidFill>
              </a:rPr>
              <a:t>이 매출과 양의 상관관계를 보이는 경향이 나타남</a:t>
            </a:r>
            <a:endParaRPr lang="en-US" altLang="ko-KR" sz="11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bg1"/>
                </a:solidFill>
              </a:rPr>
              <a:t>Scatter Plot</a:t>
            </a:r>
            <a:r>
              <a:rPr lang="ko-KR" altLang="en-US" sz="1100" dirty="0">
                <a:solidFill>
                  <a:schemeClr val="bg1"/>
                </a:solidFill>
              </a:rPr>
              <a:t>에서도 가격이 높은 상품일수록 매출이 증가하는 패턴을 확인할 수 있다</a:t>
            </a:r>
            <a:endParaRPr lang="en-US" altLang="ko-KR" sz="11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bg1"/>
                </a:solidFill>
              </a:rPr>
              <a:t>→ </a:t>
            </a:r>
            <a:r>
              <a:rPr lang="ko-KR" altLang="en-US" sz="1100" dirty="0">
                <a:solidFill>
                  <a:schemeClr val="bg1"/>
                </a:solidFill>
              </a:rPr>
              <a:t>이 변수는 모델에서 중요한 특징</a:t>
            </a:r>
            <a:r>
              <a:rPr lang="en-US" altLang="ko-KR" sz="1100" dirty="0">
                <a:solidFill>
                  <a:schemeClr val="bg1"/>
                </a:solidFill>
              </a:rPr>
              <a:t>(Feature)</a:t>
            </a:r>
            <a:r>
              <a:rPr lang="ko-KR" altLang="en-US" sz="1100" dirty="0">
                <a:solidFill>
                  <a:schemeClr val="bg1"/>
                </a:solidFill>
              </a:rPr>
              <a:t>으로 작용할 가능성이 높음</a:t>
            </a:r>
            <a:endParaRPr lang="en-US" altLang="ko-KR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919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데이터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전처리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+ train/</a:t>
            </a:r>
            <a:r>
              <a:rPr kumimoji="0" lang="en-US" altLang="ko-KR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val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분리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(8:2)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5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78099FA-D18F-47A4-BA92-B8D1A8B0FC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376" t="23778" r="41062" b="25555"/>
          <a:stretch/>
        </p:blipFill>
        <p:spPr>
          <a:xfrm>
            <a:off x="548640" y="2481695"/>
            <a:ext cx="4823460" cy="34747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695E13-900D-437E-ACBD-668DE3BEA655}"/>
              </a:ext>
            </a:extLst>
          </p:cNvPr>
          <p:cNvSpPr txBox="1"/>
          <p:nvPr/>
        </p:nvSpPr>
        <p:spPr>
          <a:xfrm>
            <a:off x="6370320" y="2665745"/>
            <a:ext cx="4929555" cy="310662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bg1"/>
                </a:solidFill>
              </a:rPr>
              <a:t>1) </a:t>
            </a:r>
            <a:r>
              <a:rPr lang="ko-KR" altLang="en-US" sz="1100" dirty="0" err="1">
                <a:solidFill>
                  <a:schemeClr val="bg1"/>
                </a:solidFill>
              </a:rPr>
              <a:t>결측치</a:t>
            </a:r>
            <a:r>
              <a:rPr lang="ko-KR" altLang="en-US" sz="1100" dirty="0">
                <a:solidFill>
                  <a:schemeClr val="bg1"/>
                </a:solidFill>
              </a:rPr>
              <a:t> 처리</a:t>
            </a:r>
            <a:r>
              <a:rPr lang="en-US" altLang="ko-KR" sz="1100" dirty="0">
                <a:solidFill>
                  <a:schemeClr val="bg1"/>
                </a:solidFill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bg1"/>
                </a:solidFill>
              </a:rPr>
              <a:t>   - </a:t>
            </a:r>
            <a:r>
              <a:rPr lang="en-US" altLang="ko-KR" sz="1100" dirty="0" err="1">
                <a:solidFill>
                  <a:schemeClr val="bg1"/>
                </a:solidFill>
              </a:rPr>
              <a:t>Item_Weight</a:t>
            </a:r>
            <a:r>
              <a:rPr lang="en-US" altLang="ko-KR" sz="1100" dirty="0">
                <a:solidFill>
                  <a:schemeClr val="bg1"/>
                </a:solidFill>
              </a:rPr>
              <a:t> → </a:t>
            </a:r>
            <a:r>
              <a:rPr lang="ko-KR" altLang="en-US" sz="1100" dirty="0">
                <a:solidFill>
                  <a:schemeClr val="bg1"/>
                </a:solidFill>
              </a:rPr>
              <a:t>평균값 대체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bg1"/>
                </a:solidFill>
              </a:rPr>
              <a:t>   </a:t>
            </a:r>
            <a:r>
              <a:rPr lang="en-US" altLang="ko-KR" sz="1100" dirty="0">
                <a:solidFill>
                  <a:schemeClr val="bg1"/>
                </a:solidFill>
              </a:rPr>
              <a:t>- </a:t>
            </a:r>
            <a:r>
              <a:rPr lang="en-US" altLang="ko-KR" sz="1100" dirty="0" err="1">
                <a:solidFill>
                  <a:schemeClr val="bg1"/>
                </a:solidFill>
              </a:rPr>
              <a:t>Outlet_Size</a:t>
            </a:r>
            <a:r>
              <a:rPr lang="en-US" altLang="ko-KR" sz="1100" dirty="0">
                <a:solidFill>
                  <a:schemeClr val="bg1"/>
                </a:solidFill>
              </a:rPr>
              <a:t> → </a:t>
            </a:r>
            <a:r>
              <a:rPr lang="ko-KR" altLang="en-US" sz="1100" dirty="0" err="1">
                <a:solidFill>
                  <a:schemeClr val="bg1"/>
                </a:solidFill>
              </a:rPr>
              <a:t>최빈값</a:t>
            </a:r>
            <a:r>
              <a:rPr lang="ko-KR" altLang="en-US" sz="1100" dirty="0">
                <a:solidFill>
                  <a:schemeClr val="bg1"/>
                </a:solidFill>
              </a:rPr>
              <a:t> 대체</a:t>
            </a:r>
          </a:p>
          <a:p>
            <a:pPr>
              <a:lnSpc>
                <a:spcPct val="150000"/>
              </a:lnSpc>
            </a:pPr>
            <a:endParaRPr lang="ko-KR" altLang="en-US" sz="11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bg1"/>
                </a:solidFill>
              </a:rPr>
              <a:t>2) </a:t>
            </a:r>
            <a:r>
              <a:rPr lang="ko-KR" altLang="en-US" sz="1100" dirty="0">
                <a:solidFill>
                  <a:schemeClr val="bg1"/>
                </a:solidFill>
              </a:rPr>
              <a:t>범주형 데이터 정규화</a:t>
            </a:r>
            <a:r>
              <a:rPr lang="en-US" altLang="ko-KR" sz="1100" dirty="0">
                <a:solidFill>
                  <a:schemeClr val="bg1"/>
                </a:solidFill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bg1"/>
                </a:solidFill>
              </a:rPr>
              <a:t>   - </a:t>
            </a:r>
            <a:r>
              <a:rPr lang="en-US" altLang="ko-KR" sz="1100" dirty="0" err="1">
                <a:solidFill>
                  <a:schemeClr val="bg1"/>
                </a:solidFill>
              </a:rPr>
              <a:t>Item_Fat_Content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ko-KR" altLang="en-US" sz="1100" dirty="0">
                <a:solidFill>
                  <a:schemeClr val="bg1"/>
                </a:solidFill>
              </a:rPr>
              <a:t>표기 통일 </a:t>
            </a:r>
            <a:r>
              <a:rPr lang="en-US" altLang="ko-KR" sz="1100" dirty="0">
                <a:solidFill>
                  <a:schemeClr val="bg1"/>
                </a:solidFill>
              </a:rPr>
              <a:t>(Low Fat / Regular)</a:t>
            </a: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bg1"/>
                </a:solidFill>
              </a:rPr>
              <a:t>3) Label Encoding: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bg1"/>
                </a:solidFill>
              </a:rPr>
              <a:t>   - </a:t>
            </a:r>
            <a:r>
              <a:rPr lang="ko-KR" altLang="en-US" sz="1100" dirty="0">
                <a:solidFill>
                  <a:schemeClr val="bg1"/>
                </a:solidFill>
              </a:rPr>
              <a:t>모든 범주형 데이터를 숫자형으로 변환하여 모델 입력 가능하도록 처리</a:t>
            </a:r>
          </a:p>
          <a:p>
            <a:pPr>
              <a:lnSpc>
                <a:spcPct val="150000"/>
              </a:lnSpc>
            </a:pPr>
            <a:endParaRPr lang="ko-KR" altLang="en-US" sz="11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bg1"/>
                </a:solidFill>
              </a:rPr>
              <a:t>4) </a:t>
            </a:r>
            <a:r>
              <a:rPr lang="ko-KR" altLang="en-US" sz="1100" dirty="0">
                <a:solidFill>
                  <a:schemeClr val="bg1"/>
                </a:solidFill>
              </a:rPr>
              <a:t>불필요한 식별자 제거</a:t>
            </a:r>
            <a:r>
              <a:rPr lang="en-US" altLang="ko-KR" sz="1100" dirty="0">
                <a:solidFill>
                  <a:schemeClr val="bg1"/>
                </a:solidFill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bg1"/>
                </a:solidFill>
              </a:rPr>
              <a:t>   - </a:t>
            </a:r>
            <a:r>
              <a:rPr lang="en-US" altLang="ko-KR" sz="1100" dirty="0" err="1">
                <a:solidFill>
                  <a:schemeClr val="bg1"/>
                </a:solidFill>
              </a:rPr>
              <a:t>Item_Identifier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ko-KR" altLang="en-US" sz="1100" dirty="0">
                <a:solidFill>
                  <a:schemeClr val="bg1"/>
                </a:solidFill>
              </a:rPr>
              <a:t>컬럼은 예측에 사용되지 않으므로 제거</a:t>
            </a:r>
          </a:p>
        </p:txBody>
      </p:sp>
    </p:spTree>
    <p:extLst>
      <p:ext uri="{BB962C8B-B14F-4D97-AF65-F5344CB8AC3E}">
        <p14:creationId xmlns:p14="http://schemas.microsoft.com/office/powerpoint/2010/main" val="3616688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데이터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전처리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+ train/</a:t>
            </a:r>
            <a:r>
              <a:rPr kumimoji="0" lang="en-US" altLang="ko-KR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val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분리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(8:2)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6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43FE162-97F4-45E2-BD44-01FCE76556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375" t="28554" r="41687" b="44545"/>
          <a:stretch/>
        </p:blipFill>
        <p:spPr>
          <a:xfrm>
            <a:off x="468674" y="1904504"/>
            <a:ext cx="5420338" cy="204442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B73FF43-F8D2-4EDF-834D-CAE4D410226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187" t="27024" r="37375" b="8762"/>
          <a:stretch/>
        </p:blipFill>
        <p:spPr>
          <a:xfrm>
            <a:off x="6346889" y="2251182"/>
            <a:ext cx="4958617" cy="39418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2E1D46-D861-417C-A70B-7D111419220A}"/>
              </a:ext>
            </a:extLst>
          </p:cNvPr>
          <p:cNvSpPr txBox="1"/>
          <p:nvPr/>
        </p:nvSpPr>
        <p:spPr>
          <a:xfrm>
            <a:off x="2500583" y="4314412"/>
            <a:ext cx="3388429" cy="313547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bg1"/>
                </a:solidFill>
              </a:rPr>
              <a:t>→ </a:t>
            </a:r>
            <a:r>
              <a:rPr lang="ko-KR" altLang="en-US" sz="1100" dirty="0">
                <a:solidFill>
                  <a:schemeClr val="bg1"/>
                </a:solidFill>
              </a:rPr>
              <a:t>가격과 매장 운영 형태는 매출에 큰 영향을 준다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6108E3F-C2E9-4A7E-BC99-C7001E78E21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7375" t="63889" r="68063" b="24556"/>
          <a:stretch/>
        </p:blipFill>
        <p:spPr>
          <a:xfrm>
            <a:off x="468674" y="4054668"/>
            <a:ext cx="1919629" cy="85683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F0AF1E6-5502-42DD-8433-BFB69AA519C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7562" t="29111" r="52188" b="52111"/>
          <a:stretch/>
        </p:blipFill>
        <p:spPr>
          <a:xfrm>
            <a:off x="468674" y="5250904"/>
            <a:ext cx="3688080" cy="128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439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선형 회귀 모델 학습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+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교차검증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7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2C8B1D5-CB15-4666-B997-9E2D97FF72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375" t="28666" r="56875" b="20334"/>
          <a:stretch/>
        </p:blipFill>
        <p:spPr>
          <a:xfrm>
            <a:off x="843231" y="2493910"/>
            <a:ext cx="3139440" cy="349758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72F1C80-45A1-4A2C-9EE7-B668458A89D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500" t="42667" r="65688" b="28000"/>
          <a:stretch/>
        </p:blipFill>
        <p:spPr>
          <a:xfrm>
            <a:off x="4241156" y="3236860"/>
            <a:ext cx="2049780" cy="20116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510993-E0B9-4C3E-AB69-794691260C6B}"/>
              </a:ext>
            </a:extLst>
          </p:cNvPr>
          <p:cNvSpPr txBox="1"/>
          <p:nvPr/>
        </p:nvSpPr>
        <p:spPr>
          <a:xfrm>
            <a:off x="7202152" y="2435474"/>
            <a:ext cx="3935693" cy="3614451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bg1"/>
                </a:solidFill>
              </a:rPr>
              <a:t>모델</a:t>
            </a:r>
            <a:r>
              <a:rPr lang="en-US" altLang="ko-KR" sz="1100" dirty="0">
                <a:solidFill>
                  <a:schemeClr val="bg1"/>
                </a:solidFill>
              </a:rPr>
              <a:t>: Linear Regression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bg1"/>
                </a:solidFill>
              </a:rPr>
              <a:t>데이터 분리</a:t>
            </a:r>
            <a:r>
              <a:rPr lang="en-US" altLang="ko-KR" sz="1100" dirty="0">
                <a:solidFill>
                  <a:schemeClr val="bg1"/>
                </a:solidFill>
              </a:rPr>
              <a:t>: Train 80% / Validation 20%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bg1"/>
                </a:solidFill>
              </a:rPr>
              <a:t>교차검증</a:t>
            </a:r>
            <a:r>
              <a:rPr lang="en-US" altLang="ko-KR" sz="1100" dirty="0">
                <a:solidFill>
                  <a:schemeClr val="bg1"/>
                </a:solidFill>
              </a:rPr>
              <a:t>: K-Fold (5-Fold)</a:t>
            </a: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bg1"/>
                </a:solidFill>
              </a:rPr>
              <a:t>교차검증 결과 </a:t>
            </a:r>
            <a:r>
              <a:rPr lang="en-US" altLang="ko-KR" sz="1100" dirty="0">
                <a:solidFill>
                  <a:schemeClr val="bg1"/>
                </a:solidFill>
              </a:rPr>
              <a:t>R2 </a:t>
            </a:r>
            <a:r>
              <a:rPr lang="ko-KR" altLang="en-US" sz="1100" dirty="0">
                <a:solidFill>
                  <a:schemeClr val="bg1"/>
                </a:solidFill>
              </a:rPr>
              <a:t>평균 ≈ </a:t>
            </a:r>
            <a:r>
              <a:rPr lang="en-US" altLang="ko-KR" sz="1100" dirty="0">
                <a:solidFill>
                  <a:schemeClr val="bg1"/>
                </a:solidFill>
              </a:rPr>
              <a:t>0.50</a:t>
            </a:r>
            <a:r>
              <a:rPr lang="ko-KR" altLang="en-US" sz="1100" dirty="0">
                <a:solidFill>
                  <a:schemeClr val="bg1"/>
                </a:solidFill>
              </a:rPr>
              <a:t>대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bg1"/>
                </a:solidFill>
              </a:rPr>
              <a:t>→ 모델이 약 절반 정도의 매출 변동성을 설명 가능함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bg1"/>
                </a:solidFill>
              </a:rPr>
              <a:t>→ </a:t>
            </a:r>
            <a:r>
              <a:rPr lang="ko-KR" altLang="en-US" sz="1100" dirty="0">
                <a:solidFill>
                  <a:schemeClr val="bg1"/>
                </a:solidFill>
              </a:rPr>
              <a:t>기본 선형 모델로서 충분히 합리적인 성능</a:t>
            </a:r>
            <a:endParaRPr lang="en-US" altLang="ko-KR" sz="11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bg1"/>
                </a:solidFill>
              </a:rPr>
              <a:t>- RMSE ≈ (</a:t>
            </a:r>
            <a:r>
              <a:rPr lang="ko-KR" altLang="en-US" sz="1100" dirty="0">
                <a:solidFill>
                  <a:schemeClr val="bg1"/>
                </a:solidFill>
              </a:rPr>
              <a:t>실제 값과 예측 값 간 오차의 평균 크기</a:t>
            </a:r>
            <a:r>
              <a:rPr lang="en-US" altLang="ko-KR" sz="1100" dirty="0">
                <a:solidFill>
                  <a:schemeClr val="bg1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bg1"/>
                </a:solidFill>
              </a:rPr>
              <a:t>- R2 Score ≈ 0.50 ~ 0.60 </a:t>
            </a:r>
            <a:r>
              <a:rPr lang="ko-KR" altLang="en-US" sz="1100" dirty="0">
                <a:solidFill>
                  <a:schemeClr val="bg1"/>
                </a:solidFill>
              </a:rPr>
              <a:t>수준</a:t>
            </a:r>
          </a:p>
          <a:p>
            <a:pPr>
              <a:lnSpc>
                <a:spcPct val="150000"/>
              </a:lnSpc>
            </a:pPr>
            <a:endParaRPr lang="ko-KR" altLang="en-US" sz="11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bg1"/>
                </a:solidFill>
              </a:rPr>
              <a:t>→ 모델은 매출을 완벽히 예측하진 못하지만</a:t>
            </a:r>
            <a:r>
              <a:rPr lang="en-US" altLang="ko-KR" sz="1100" dirty="0">
                <a:solidFill>
                  <a:schemeClr val="bg1"/>
                </a:solidFill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bg1"/>
                </a:solidFill>
              </a:rPr>
              <a:t>   </a:t>
            </a:r>
            <a:r>
              <a:rPr lang="ko-KR" altLang="en-US" sz="1100" dirty="0">
                <a:solidFill>
                  <a:schemeClr val="bg1"/>
                </a:solidFill>
              </a:rPr>
              <a:t>주요 변수들</a:t>
            </a:r>
            <a:r>
              <a:rPr lang="en-US" altLang="ko-KR" sz="1100" dirty="0">
                <a:solidFill>
                  <a:schemeClr val="bg1"/>
                </a:solidFill>
              </a:rPr>
              <a:t>(</a:t>
            </a:r>
            <a:r>
              <a:rPr lang="en-US" altLang="ko-KR" sz="1100" dirty="0" err="1">
                <a:solidFill>
                  <a:schemeClr val="bg1"/>
                </a:solidFill>
              </a:rPr>
              <a:t>Item_MRP</a:t>
            </a:r>
            <a:r>
              <a:rPr lang="en-US" altLang="ko-KR" sz="1100" dirty="0">
                <a:solidFill>
                  <a:schemeClr val="bg1"/>
                </a:solidFill>
              </a:rPr>
              <a:t>, </a:t>
            </a:r>
            <a:r>
              <a:rPr lang="en-US" altLang="ko-KR" sz="1100" dirty="0" err="1">
                <a:solidFill>
                  <a:schemeClr val="bg1"/>
                </a:solidFill>
              </a:rPr>
              <a:t>Outlet_Type</a:t>
            </a:r>
            <a:r>
              <a:rPr lang="en-US" altLang="ko-KR" sz="1100" dirty="0">
                <a:solidFill>
                  <a:schemeClr val="bg1"/>
                </a:solidFill>
              </a:rPr>
              <a:t> </a:t>
            </a:r>
            <a:r>
              <a:rPr lang="ko-KR" altLang="en-US" sz="1100" dirty="0">
                <a:solidFill>
                  <a:schemeClr val="bg1"/>
                </a:solidFill>
              </a:rPr>
              <a:t>등</a:t>
            </a:r>
            <a:r>
              <a:rPr lang="en-US" altLang="ko-KR" sz="1100" dirty="0">
                <a:solidFill>
                  <a:schemeClr val="bg1"/>
                </a:solidFill>
              </a:rPr>
              <a:t>)</a:t>
            </a:r>
            <a:r>
              <a:rPr lang="ko-KR" altLang="en-US" sz="1100" dirty="0">
                <a:solidFill>
                  <a:schemeClr val="bg1"/>
                </a:solidFill>
              </a:rPr>
              <a:t>이 매출에 미치는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bg1"/>
                </a:solidFill>
              </a:rPr>
              <a:t>   영향을 의미 있게 설명할 수 있음</a:t>
            </a:r>
            <a:r>
              <a:rPr lang="en-US" altLang="ko-KR" sz="1100" dirty="0">
                <a:solidFill>
                  <a:schemeClr val="bg1"/>
                </a:solidFill>
              </a:rPr>
              <a:t>.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E891A57-F2A6-4558-AC45-A5B45D18E2AA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6290936" y="4242700"/>
            <a:ext cx="911216" cy="0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3E65B7D-8CE3-421B-9D88-01F0AC01EFAE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3982671" y="4242700"/>
            <a:ext cx="258485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061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3336</TotalTime>
  <Words>504</Words>
  <Application>Microsoft Office PowerPoint</Application>
  <PresentationFormat>와이드스크린</PresentationFormat>
  <Paragraphs>75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Calibri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205</cp:revision>
  <dcterms:created xsi:type="dcterms:W3CDTF">2025-08-05T00:27:28Z</dcterms:created>
  <dcterms:modified xsi:type="dcterms:W3CDTF">2025-11-07T08:28:03Z</dcterms:modified>
</cp:coreProperties>
</file>