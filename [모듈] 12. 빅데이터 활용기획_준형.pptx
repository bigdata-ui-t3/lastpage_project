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337" r:id="rId4"/>
    <p:sldId id="338" r:id="rId5"/>
    <p:sldId id="286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5" autoAdjust="0"/>
    <p:restoredTop sz="96353" autoAdjust="0"/>
  </p:normalViewPr>
  <p:slideViewPr>
    <p:cSldViewPr snapToGrid="0">
      <p:cViewPr varScale="1">
        <p:scale>
          <a:sx n="110" d="100"/>
          <a:sy n="110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076FB-AF06-4720-A8A0-BBE18807CC0D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2C5D7-43FA-4465-BE4A-D493765FE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130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2C5D7-43FA-4465-BE4A-D493765FE88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068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활용기획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품질 관리 기획하기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조직 수립하기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보안 관리 기획하기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    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349264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운영 관리 기획하기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 품질 관리 기획하기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FB33C3-DC0A-41D3-8044-B9ED3F1B4398}"/>
              </a:ext>
            </a:extLst>
          </p:cNvPr>
          <p:cNvSpPr txBox="1"/>
          <p:nvPr/>
        </p:nvSpPr>
        <p:spPr>
          <a:xfrm>
            <a:off x="607695" y="1452574"/>
            <a:ext cx="5862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과제 예시</a:t>
            </a:r>
            <a:r>
              <a:rPr lang="en-US" altLang="ko-KR" sz="1400" b="1" dirty="0">
                <a:solidFill>
                  <a:schemeClr val="bg1"/>
                </a:solidFill>
              </a:rPr>
              <a:t>1 : </a:t>
            </a:r>
            <a:r>
              <a:rPr lang="en-US" altLang="ko-KR" sz="1400" b="1" dirty="0" err="1">
                <a:solidFill>
                  <a:schemeClr val="bg1"/>
                </a:solidFill>
              </a:rPr>
              <a:t>LastPage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</a:rPr>
              <a:t>프로젝트 품질 이슈 분석 및 근본 원인 보고서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5B88C2-2BE0-41F9-90AE-026EB05837CC}"/>
              </a:ext>
            </a:extLst>
          </p:cNvPr>
          <p:cNvCxnSpPr>
            <a:cxnSpLocks/>
          </p:cNvCxnSpPr>
          <p:nvPr/>
        </p:nvCxnSpPr>
        <p:spPr>
          <a:xfrm>
            <a:off x="666750" y="1770680"/>
            <a:ext cx="1111949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E735FC-FCE4-4BBF-83AE-BA83A68E73D4}"/>
              </a:ext>
            </a:extLst>
          </p:cNvPr>
          <p:cNvSpPr txBox="1"/>
          <p:nvPr/>
        </p:nvSpPr>
        <p:spPr>
          <a:xfrm>
            <a:off x="584059" y="1791530"/>
            <a:ext cx="9617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</a:rPr>
              <a:t>이 과제는 반려동물 추모 플랫폼 “</a:t>
            </a:r>
            <a:r>
              <a:rPr lang="en-US" altLang="ko-KR" sz="1100" dirty="0" err="1">
                <a:solidFill>
                  <a:schemeClr val="bg1"/>
                </a:solidFill>
              </a:rPr>
              <a:t>LastPage</a:t>
            </a:r>
            <a:r>
              <a:rPr lang="en-US" altLang="ko-KR" sz="1100" dirty="0">
                <a:solidFill>
                  <a:schemeClr val="bg1"/>
                </a:solidFill>
              </a:rPr>
              <a:t>”</a:t>
            </a:r>
            <a:r>
              <a:rPr lang="ko-KR" altLang="en-US" sz="1100" dirty="0">
                <a:solidFill>
                  <a:schemeClr val="bg1"/>
                </a:solidFill>
              </a:rPr>
              <a:t>의 품질 관리 프로세스를 통해 품질 관리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ko-KR" altLang="en-US" sz="1100" dirty="0">
                <a:solidFill>
                  <a:schemeClr val="bg1"/>
                </a:solidFill>
              </a:rPr>
              <a:t>이슈 도출 및 분석 단계를 수행하는 것입니다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보호자의 감정 케어와 서비스 완성도를 높이기 위해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데이터 품질과 서비스 프로세스의 품질을 함께 고려합니다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8EDD77-B213-489D-9F99-01A016B94896}"/>
              </a:ext>
            </a:extLst>
          </p:cNvPr>
          <p:cNvSpPr txBox="1"/>
          <p:nvPr/>
        </p:nvSpPr>
        <p:spPr>
          <a:xfrm>
            <a:off x="584060" y="2250679"/>
            <a:ext cx="2530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1. </a:t>
            </a:r>
            <a:r>
              <a:rPr lang="ko-KR" altLang="en-US" sz="1200" b="1" dirty="0">
                <a:solidFill>
                  <a:schemeClr val="bg1"/>
                </a:solidFill>
              </a:rPr>
              <a:t>품질 기준 정의 </a:t>
            </a:r>
            <a:r>
              <a:rPr lang="en-US" altLang="ko-KR" sz="1200" b="1" dirty="0">
                <a:solidFill>
                  <a:schemeClr val="bg1"/>
                </a:solidFill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</a:rPr>
              <a:t>보고서 도입부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6C1EFE-C47F-4FE4-8F40-296B2E5D2638}"/>
              </a:ext>
            </a:extLst>
          </p:cNvPr>
          <p:cNvCxnSpPr>
            <a:cxnSpLocks/>
          </p:cNvCxnSpPr>
          <p:nvPr/>
        </p:nvCxnSpPr>
        <p:spPr>
          <a:xfrm flipV="1">
            <a:off x="666750" y="2750280"/>
            <a:ext cx="11119494" cy="199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53BFEE19-3306-4501-BA1D-5F58C3E8A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65909"/>
              </p:ext>
            </p:extLst>
          </p:nvPr>
        </p:nvGraphicFramePr>
        <p:xfrm>
          <a:off x="666750" y="2854079"/>
          <a:ext cx="10847069" cy="15739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49853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4405854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  <a:gridCol w="4991362">
                  <a:extLst>
                    <a:ext uri="{9D8B030D-6E8A-4147-A177-3AD203B41FA5}">
                      <a16:colId xmlns:a16="http://schemas.microsoft.com/office/drawing/2014/main" val="1087823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품질 기준 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관점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/>
                        <a:t>NCS </a:t>
                      </a:r>
                      <a:r>
                        <a:rPr lang="ko-KR" altLang="en-US" sz="1300"/>
                        <a:t>정의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err="1"/>
                        <a:t>LastPage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적용 예시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386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유용성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사용자가 서비스 요구 사항에 맞는 데이터를 제공받고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활용에 도움이 되어야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보호자가 반려동물 장례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상담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추모 </a:t>
                      </a:r>
                      <a:r>
                        <a:rPr lang="ko-KR" altLang="en-US" sz="1050" dirty="0" err="1"/>
                        <a:t>굿즈</a:t>
                      </a:r>
                      <a:r>
                        <a:rPr lang="ko-KR" altLang="en-US" sz="1050" dirty="0"/>
                        <a:t> 제작 과정을 쉽게 확인하고 예약할 수 있도록 직관적인 마이페이지를 제공하고 있는가</a:t>
                      </a:r>
                      <a:r>
                        <a:rPr lang="en-US" altLang="ko-KR" sz="1050" dirty="0"/>
                        <a:t>?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468245"/>
                  </a:ext>
                </a:extLst>
              </a:tr>
              <a:tr h="4613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정확성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제공되는 데이터</a:t>
                      </a: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정보</a:t>
                      </a:r>
                      <a:r>
                        <a:rPr lang="en-US" altLang="ko-KR" sz="1050" dirty="0"/>
                        <a:t>)</a:t>
                      </a:r>
                      <a:r>
                        <a:rPr lang="ko-KR" altLang="en-US" sz="1050" dirty="0"/>
                        <a:t>가 신뢰할 수 있는지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최신 상태로 유지되어야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장례 및 상담 예약 일정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 err="1"/>
                        <a:t>굿즈</a:t>
                      </a:r>
                      <a:r>
                        <a:rPr lang="ko-KR" altLang="en-US" sz="1050" dirty="0"/>
                        <a:t> 제작 상태 등의 정보가 실시간으로 정확하게 반영되는가</a:t>
                      </a:r>
                      <a:r>
                        <a:rPr lang="en-US" altLang="ko-KR" sz="1050" dirty="0"/>
                        <a:t>?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424429"/>
                  </a:ext>
                </a:extLst>
              </a:tr>
              <a:tr h="3523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접근성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사용자가 필요한 정보를 편리하게 접근할 수 있어야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고령층 사용자나 디지털 취약 계층도 손쉽게 서비스를 이용할 수 있도록 </a:t>
                      </a:r>
                      <a:r>
                        <a:rPr lang="en-US" altLang="ko-KR" sz="1050" dirty="0"/>
                        <a:t>UI/UX</a:t>
                      </a:r>
                      <a:r>
                        <a:rPr lang="ko-KR" altLang="en-US" sz="1050" dirty="0"/>
                        <a:t>가 구성되어 있는가</a:t>
                      </a:r>
                      <a:r>
                        <a:rPr lang="en-US" altLang="ko-KR" sz="1050" dirty="0"/>
                        <a:t>?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38072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2C85B45-D6DA-47B0-B94E-AD714B2A1941}"/>
              </a:ext>
            </a:extLst>
          </p:cNvPr>
          <p:cNvSpPr txBox="1"/>
          <p:nvPr/>
        </p:nvSpPr>
        <p:spPr>
          <a:xfrm>
            <a:off x="584058" y="4545997"/>
            <a:ext cx="2751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2. </a:t>
            </a:r>
            <a:r>
              <a:rPr lang="ko-KR" altLang="en-US" sz="1200" b="1" dirty="0">
                <a:solidFill>
                  <a:schemeClr val="bg1"/>
                </a:solidFill>
              </a:rPr>
              <a:t>품질 관리 이슈 분석 </a:t>
            </a:r>
            <a:r>
              <a:rPr lang="en-US" altLang="ko-KR" sz="1200" b="1" dirty="0">
                <a:solidFill>
                  <a:schemeClr val="bg1"/>
                </a:solidFill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</a:rPr>
              <a:t>핵심 제출물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064A96A-59D5-4088-8640-E831065C2FC6}"/>
              </a:ext>
            </a:extLst>
          </p:cNvPr>
          <p:cNvCxnSpPr>
            <a:cxnSpLocks/>
          </p:cNvCxnSpPr>
          <p:nvPr/>
        </p:nvCxnSpPr>
        <p:spPr>
          <a:xfrm flipV="1">
            <a:off x="666748" y="5072375"/>
            <a:ext cx="11119496" cy="149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2C72A8B0-AF2F-45EA-82EA-293959A26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248284"/>
              </p:ext>
            </p:extLst>
          </p:nvPr>
        </p:nvGraphicFramePr>
        <p:xfrm>
          <a:off x="666748" y="5148056"/>
          <a:ext cx="10766436" cy="15434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66032">
                  <a:extLst>
                    <a:ext uri="{9D8B030D-6E8A-4147-A177-3AD203B41FA5}">
                      <a16:colId xmlns:a16="http://schemas.microsoft.com/office/drawing/2014/main" val="1347987947"/>
                    </a:ext>
                  </a:extLst>
                </a:gridCol>
                <a:gridCol w="1023266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1766678">
                  <a:extLst>
                    <a:ext uri="{9D8B030D-6E8A-4147-A177-3AD203B41FA5}">
                      <a16:colId xmlns:a16="http://schemas.microsoft.com/office/drawing/2014/main" val="305396414"/>
                    </a:ext>
                  </a:extLst>
                </a:gridCol>
                <a:gridCol w="4122469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  <a:gridCol w="3187991">
                  <a:extLst>
                    <a:ext uri="{9D8B030D-6E8A-4147-A177-3AD203B41FA5}">
                      <a16:colId xmlns:a16="http://schemas.microsoft.com/office/drawing/2014/main" val="1087823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/>
                        <a:t>번호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품질 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품질 이슈 </a:t>
                      </a:r>
                      <a:r>
                        <a:rPr lang="en-US" altLang="ko-KR" sz="1300" dirty="0"/>
                        <a:t>(</a:t>
                      </a:r>
                      <a:r>
                        <a:rPr lang="en-US" altLang="ko-KR" sz="1300" dirty="0" err="1"/>
                        <a:t>LastPage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원인 분석 </a:t>
                      </a:r>
                      <a:r>
                        <a:rPr lang="en-US" altLang="ko-KR" sz="1300" dirty="0"/>
                        <a:t>(NCS </a:t>
                      </a:r>
                      <a:r>
                        <a:rPr lang="ko-KR" altLang="en-US" sz="1300" dirty="0"/>
                        <a:t>기준 적용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업무 영향도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3865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정확성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마이페이지 내 예약 정보가 즉시 갱신되지 않음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dirty="0"/>
                        <a:t>실시간 데이터 연동 지연 </a:t>
                      </a:r>
                      <a:r>
                        <a:rPr lang="en-US" altLang="ko-KR" sz="1000" dirty="0"/>
                        <a:t>(API </a:t>
                      </a:r>
                      <a:r>
                        <a:rPr lang="ko-KR" altLang="en-US" sz="1000" dirty="0"/>
                        <a:t>서버 응답 속도 및 </a:t>
                      </a:r>
                      <a:r>
                        <a:rPr lang="en-US" altLang="ko-KR" sz="1000" dirty="0"/>
                        <a:t>DB </a:t>
                      </a:r>
                      <a:r>
                        <a:rPr lang="ko-KR" altLang="en-US" sz="1000" dirty="0"/>
                        <a:t>동기화 문제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b="1" dirty="0"/>
                        <a:t>상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보호자 혼란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예약 중복 및 신뢰도 하락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468245"/>
                  </a:ext>
                </a:extLst>
              </a:tr>
              <a:tr h="461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유용성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상담사 매칭이 사용자 상황에 적합하지 않음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dirty="0"/>
                        <a:t>상담사 데이터의 세부 분류 기준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전문분야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시간대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경험치 등</a:t>
                      </a:r>
                      <a:r>
                        <a:rPr lang="en-US" altLang="ko-KR" sz="1000" dirty="0"/>
                        <a:t>) </a:t>
                      </a:r>
                      <a:r>
                        <a:rPr lang="ko-KR" altLang="en-US" sz="1000" dirty="0"/>
                        <a:t>불명확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b="1" dirty="0"/>
                        <a:t>중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상담 품질 저하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사용자 불만 증가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424429"/>
                  </a:ext>
                </a:extLst>
              </a:tr>
              <a:tr h="3523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3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접근성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모바일 환경에서 일부 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결제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예약 확인</a:t>
                      </a:r>
                      <a:r>
                        <a:rPr lang="en-US" altLang="ko-KR" sz="1000" dirty="0"/>
                        <a:t>) </a:t>
                      </a:r>
                      <a:r>
                        <a:rPr lang="ko-KR" altLang="en-US" sz="1000" dirty="0"/>
                        <a:t>이용 불가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dirty="0"/>
                        <a:t>반응형 디자인 미흡 및 모바일 전용 </a:t>
                      </a:r>
                      <a:r>
                        <a:rPr lang="en-US" altLang="ko-KR" sz="1000" dirty="0"/>
                        <a:t>UI </a:t>
                      </a:r>
                      <a:r>
                        <a:rPr lang="ko-KR" altLang="en-US" sz="1000" dirty="0"/>
                        <a:t>최적화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b="1" dirty="0"/>
                        <a:t>중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모바일 사용자 경험 저하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서비스 </a:t>
                      </a:r>
                      <a:r>
                        <a:rPr lang="ko-KR" altLang="en-US" sz="1000" dirty="0" err="1"/>
                        <a:t>이탈률</a:t>
                      </a:r>
                      <a:r>
                        <a:rPr lang="ko-KR" altLang="en-US" sz="1000" dirty="0"/>
                        <a:t> 상승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380725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92146D06-2C44-46B1-95D1-E8B13C452B21}"/>
              </a:ext>
            </a:extLst>
          </p:cNvPr>
          <p:cNvSpPr txBox="1"/>
          <p:nvPr/>
        </p:nvSpPr>
        <p:spPr>
          <a:xfrm>
            <a:off x="584059" y="2497768"/>
            <a:ext cx="8950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>
                <a:solidFill>
                  <a:schemeClr val="bg1"/>
                </a:solidFill>
              </a:rPr>
              <a:t>LastPage</a:t>
            </a:r>
            <a:r>
              <a:rPr lang="en-US" altLang="ko-KR" sz="1000" dirty="0">
                <a:solidFill>
                  <a:schemeClr val="bg1"/>
                </a:solidFill>
              </a:rPr>
              <a:t> </a:t>
            </a:r>
            <a:r>
              <a:rPr lang="ko-KR" altLang="en-US" sz="1000" dirty="0">
                <a:solidFill>
                  <a:schemeClr val="bg1"/>
                </a:solidFill>
              </a:rPr>
              <a:t>서비스의 품질 기준을 </a:t>
            </a:r>
            <a:r>
              <a:rPr lang="en-US" altLang="ko-KR" sz="1000" dirty="0">
                <a:solidFill>
                  <a:schemeClr val="bg1"/>
                </a:solidFill>
              </a:rPr>
              <a:t>NCS </a:t>
            </a:r>
            <a:r>
              <a:rPr lang="ko-KR" altLang="en-US" sz="1000" dirty="0">
                <a:solidFill>
                  <a:schemeClr val="bg1"/>
                </a:solidFill>
              </a:rPr>
              <a:t>학습 모듈의 기준에 따라 정의하고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프로젝트에서 가장 중요한 기준 </a:t>
            </a:r>
            <a:r>
              <a:rPr lang="en-US" altLang="ko-KR" sz="1000" dirty="0">
                <a:solidFill>
                  <a:schemeClr val="bg1"/>
                </a:solidFill>
              </a:rPr>
              <a:t>3</a:t>
            </a:r>
            <a:r>
              <a:rPr lang="ko-KR" altLang="en-US" sz="1000" dirty="0">
                <a:solidFill>
                  <a:schemeClr val="bg1"/>
                </a:solidFill>
              </a:rPr>
              <a:t>가지를 선정하십시오</a:t>
            </a:r>
            <a:r>
              <a:rPr lang="en-US" altLang="ko-KR" sz="1000" dirty="0">
                <a:solidFill>
                  <a:schemeClr val="bg1"/>
                </a:solidFill>
              </a:rPr>
              <a:t>.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26B372-765B-422A-A3BD-AA2BE758ECEA}"/>
              </a:ext>
            </a:extLst>
          </p:cNvPr>
          <p:cNvSpPr txBox="1"/>
          <p:nvPr/>
        </p:nvSpPr>
        <p:spPr>
          <a:xfrm>
            <a:off x="584059" y="4792344"/>
            <a:ext cx="9902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>
                <a:solidFill>
                  <a:schemeClr val="bg1"/>
                </a:solidFill>
              </a:rPr>
              <a:t>LastPage</a:t>
            </a:r>
            <a:r>
              <a:rPr lang="en-US" altLang="ko-KR" sz="1000" dirty="0">
                <a:solidFill>
                  <a:schemeClr val="bg1"/>
                </a:solidFill>
              </a:rPr>
              <a:t> </a:t>
            </a:r>
            <a:r>
              <a:rPr lang="ko-KR" altLang="en-US" sz="1000" dirty="0">
                <a:solidFill>
                  <a:schemeClr val="bg1"/>
                </a:solidFill>
              </a:rPr>
              <a:t>서비스에서 발생할 가능성이 높은 품질 이슈 </a:t>
            </a:r>
            <a:r>
              <a:rPr lang="en-US" altLang="ko-KR" sz="1000" dirty="0">
                <a:solidFill>
                  <a:schemeClr val="bg1"/>
                </a:solidFill>
              </a:rPr>
              <a:t>3~5</a:t>
            </a:r>
            <a:r>
              <a:rPr lang="ko-KR" altLang="en-US" sz="1000" dirty="0">
                <a:solidFill>
                  <a:schemeClr val="bg1"/>
                </a:solidFill>
              </a:rPr>
              <a:t>가지를 선정하고</a:t>
            </a:r>
            <a:r>
              <a:rPr lang="en-US" altLang="ko-KR" sz="1000" dirty="0">
                <a:solidFill>
                  <a:schemeClr val="bg1"/>
                </a:solidFill>
              </a:rPr>
              <a:t>, NCS </a:t>
            </a:r>
            <a:r>
              <a:rPr lang="ko-KR" altLang="en-US" sz="1000" dirty="0">
                <a:solidFill>
                  <a:schemeClr val="bg1"/>
                </a:solidFill>
              </a:rPr>
              <a:t>학습 모듈의 분석 기준</a:t>
            </a:r>
            <a:r>
              <a:rPr lang="en-US" altLang="ko-KR" sz="1000" dirty="0">
                <a:solidFill>
                  <a:schemeClr val="bg1"/>
                </a:solidFill>
              </a:rPr>
              <a:t>(&lt;</a:t>
            </a:r>
            <a:r>
              <a:rPr lang="ko-KR" altLang="en-US" sz="1000" dirty="0">
                <a:solidFill>
                  <a:schemeClr val="bg1"/>
                </a:solidFill>
              </a:rPr>
              <a:t>표 </a:t>
            </a:r>
            <a:r>
              <a:rPr lang="en-US" altLang="ko-KR" sz="1000" dirty="0">
                <a:solidFill>
                  <a:schemeClr val="bg1"/>
                </a:solidFill>
              </a:rPr>
              <a:t>1-10&gt; </a:t>
            </a:r>
            <a:r>
              <a:rPr lang="ko-KR" altLang="en-US" sz="1000" dirty="0">
                <a:solidFill>
                  <a:schemeClr val="bg1"/>
                </a:solidFill>
              </a:rPr>
              <a:t>참조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r>
              <a:rPr lang="ko-KR" altLang="en-US" sz="1000" dirty="0">
                <a:solidFill>
                  <a:schemeClr val="bg1"/>
                </a:solidFill>
              </a:rPr>
              <a:t>에 따라 근본 원인 및 업무 영향을 분석하십시오</a:t>
            </a:r>
            <a:r>
              <a:rPr lang="en-US" altLang="ko-KR" sz="1000" dirty="0">
                <a:solidFill>
                  <a:schemeClr val="bg1"/>
                </a:solidFill>
              </a:rPr>
              <a:t>.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59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 품질 관리 기획하기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ACAF83A-280E-4AD5-9190-43A2C8D15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392307"/>
              </p:ext>
            </p:extLst>
          </p:nvPr>
        </p:nvGraphicFramePr>
        <p:xfrm>
          <a:off x="666750" y="3952720"/>
          <a:ext cx="9458715" cy="24126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60755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3832542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  <a:gridCol w="4665418">
                  <a:extLst>
                    <a:ext uri="{9D8B030D-6E8A-4147-A177-3AD203B41FA5}">
                      <a16:colId xmlns:a16="http://schemas.microsoft.com/office/drawing/2014/main" val="1087823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수명 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비정형 데이터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이미지</a:t>
                      </a:r>
                      <a:r>
                        <a:rPr lang="en-US" altLang="ko-KR" sz="1300" dirty="0"/>
                        <a:t>·</a:t>
                      </a:r>
                      <a:r>
                        <a:rPr lang="ko-KR" altLang="en-US" sz="1300" dirty="0"/>
                        <a:t>텍스트 등</a:t>
                      </a:r>
                      <a:r>
                        <a:rPr lang="en-US" altLang="ko-KR" sz="1300" dirty="0"/>
                        <a:t>) </a:t>
                      </a:r>
                      <a:r>
                        <a:rPr lang="ko-KR" altLang="en-US" sz="1300" dirty="0"/>
                        <a:t>품질 관리 방안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정형 데이터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예약</a:t>
                      </a:r>
                      <a:r>
                        <a:rPr lang="en-US" altLang="ko-KR" sz="1300" dirty="0"/>
                        <a:t>·</a:t>
                      </a:r>
                      <a:r>
                        <a:rPr lang="ko-KR" altLang="en-US" sz="1300" dirty="0"/>
                        <a:t>상담 정보 등</a:t>
                      </a:r>
                      <a:r>
                        <a:rPr lang="en-US" altLang="ko-KR" sz="1300" dirty="0"/>
                        <a:t>) </a:t>
                      </a:r>
                      <a:r>
                        <a:rPr lang="ko-KR" altLang="en-US" sz="1300" dirty="0"/>
                        <a:t>품질 관리 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3865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이미지</a:t>
                      </a:r>
                      <a:r>
                        <a:rPr lang="en-US" altLang="ko-KR" sz="1050" dirty="0"/>
                        <a:t>·</a:t>
                      </a:r>
                      <a:r>
                        <a:rPr lang="ko-KR" altLang="en-US" sz="1050" dirty="0"/>
                        <a:t>메시지 업로드 시 파일 무결성 및 중복 검증 수행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예약</a:t>
                      </a:r>
                      <a:r>
                        <a:rPr lang="en-US" altLang="ko-KR" sz="1050" dirty="0"/>
                        <a:t>·</a:t>
                      </a:r>
                      <a:r>
                        <a:rPr lang="ko-KR" altLang="en-US" sz="1050" dirty="0"/>
                        <a:t>상담 입력 시 형식 유효성 검사 및 자동 오류 안내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468245"/>
                  </a:ext>
                </a:extLst>
              </a:tr>
              <a:tr h="4613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개인정보 포함 데이터 암호화 및 클라우드 백업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예약</a:t>
                      </a:r>
                      <a:r>
                        <a:rPr lang="en-US" altLang="ko-KR" sz="1050" dirty="0"/>
                        <a:t>·</a:t>
                      </a:r>
                      <a:r>
                        <a:rPr lang="ko-KR" altLang="en-US" sz="1050" dirty="0"/>
                        <a:t>상담 정보 주기적 백업 및 로그 기록 유지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424429"/>
                  </a:ext>
                </a:extLst>
              </a:tr>
              <a:tr h="4613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활용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추모 이미지 로딩 최적화 및 개인정보 </a:t>
                      </a:r>
                      <a:r>
                        <a:rPr lang="ko-KR" altLang="en-US" sz="1050" dirty="0" err="1"/>
                        <a:t>마스킹</a:t>
                      </a:r>
                      <a:r>
                        <a:rPr lang="ko-KR" altLang="en-US" sz="1050" dirty="0"/>
                        <a:t>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관리자 접근 권한 구분 및 익명화 후 통계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635800"/>
                  </a:ext>
                </a:extLst>
              </a:tr>
              <a:tr h="4613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공유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050" dirty="0"/>
                        <a:t>SNS </a:t>
                      </a:r>
                      <a:r>
                        <a:rPr lang="ko-KR" altLang="en-US" sz="1050" dirty="0"/>
                        <a:t>공유 시 사용자 동의 기반 공개 설정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외부 연동 시 </a:t>
                      </a:r>
                      <a:r>
                        <a:rPr lang="en-US" altLang="ko-KR" sz="1050" dirty="0"/>
                        <a:t>API </a:t>
                      </a:r>
                      <a:r>
                        <a:rPr lang="ko-KR" altLang="en-US" sz="1050" dirty="0"/>
                        <a:t>인증키 및 암호화 통신 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32951"/>
                  </a:ext>
                </a:extLst>
              </a:tr>
              <a:tr h="3523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폐기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서비스 탈퇴 시 이미지</a:t>
                      </a:r>
                      <a:r>
                        <a:rPr lang="en-US" altLang="ko-KR" sz="1050" dirty="0"/>
                        <a:t>·</a:t>
                      </a:r>
                      <a:r>
                        <a:rPr lang="ko-KR" altLang="en-US" sz="1050" dirty="0"/>
                        <a:t>메시지 완전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50" dirty="0"/>
                        <a:t>보존 기간 후 </a:t>
                      </a:r>
                      <a:r>
                        <a:rPr lang="ko-KR" altLang="en-US" sz="1050" dirty="0" err="1"/>
                        <a:t>비식별</a:t>
                      </a:r>
                      <a:r>
                        <a:rPr lang="ko-KR" altLang="en-US" sz="1050" dirty="0"/>
                        <a:t> 처리 및 폐기 이력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38072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8BA76AB-659F-4F01-94E2-A4915365C2B5}"/>
              </a:ext>
            </a:extLst>
          </p:cNvPr>
          <p:cNvSpPr txBox="1"/>
          <p:nvPr/>
        </p:nvSpPr>
        <p:spPr>
          <a:xfrm>
            <a:off x="560070" y="1842828"/>
            <a:ext cx="565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과제 예시 </a:t>
            </a:r>
            <a:r>
              <a:rPr lang="en-US" altLang="ko-KR" sz="1400" b="1" dirty="0">
                <a:solidFill>
                  <a:schemeClr val="bg1"/>
                </a:solidFill>
              </a:rPr>
              <a:t>2: </a:t>
            </a:r>
            <a:r>
              <a:rPr lang="en-US" altLang="ko-KR" sz="1400" b="1" dirty="0" err="1">
                <a:solidFill>
                  <a:schemeClr val="bg1"/>
                </a:solidFill>
              </a:rPr>
              <a:t>LastPage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</a:rPr>
              <a:t>프로젝트 생명 </a:t>
            </a:r>
            <a:r>
              <a:rPr lang="ko-KR" altLang="en-US" sz="1400" b="1" dirty="0" err="1">
                <a:solidFill>
                  <a:schemeClr val="bg1"/>
                </a:solidFill>
              </a:rPr>
              <a:t>주기별</a:t>
            </a:r>
            <a:r>
              <a:rPr lang="ko-KR" altLang="en-US" sz="1400" b="1" dirty="0">
                <a:solidFill>
                  <a:schemeClr val="bg1"/>
                </a:solidFill>
              </a:rPr>
              <a:t> 품질 관리 계획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0CFF39A-11F7-429E-8052-CD806E394581}"/>
              </a:ext>
            </a:extLst>
          </p:cNvPr>
          <p:cNvCxnSpPr>
            <a:cxnSpLocks/>
          </p:cNvCxnSpPr>
          <p:nvPr/>
        </p:nvCxnSpPr>
        <p:spPr>
          <a:xfrm>
            <a:off x="647700" y="2223529"/>
            <a:ext cx="1111949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27AD77-7DC2-4750-950C-98F4C2940E57}"/>
              </a:ext>
            </a:extLst>
          </p:cNvPr>
          <p:cNvSpPr txBox="1"/>
          <p:nvPr/>
        </p:nvSpPr>
        <p:spPr>
          <a:xfrm>
            <a:off x="565009" y="2293635"/>
            <a:ext cx="96172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</a:rPr>
              <a:t>이 과제는 데이터의 수명 주기</a:t>
            </a:r>
            <a:r>
              <a:rPr lang="en-US" altLang="ko-KR" sz="1100" dirty="0">
                <a:solidFill>
                  <a:schemeClr val="bg1"/>
                </a:solidFill>
              </a:rPr>
              <a:t>(Life Cycle) </a:t>
            </a:r>
            <a:r>
              <a:rPr lang="ko-KR" altLang="en-US" sz="1100" dirty="0">
                <a:solidFill>
                  <a:schemeClr val="bg1"/>
                </a:solidFill>
              </a:rPr>
              <a:t>단계별 품질 관리 방안에 중점을 둡니다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“</a:t>
            </a:r>
            <a:r>
              <a:rPr lang="en-US" altLang="ko-KR" sz="1100" dirty="0" err="1">
                <a:solidFill>
                  <a:schemeClr val="bg1"/>
                </a:solidFill>
              </a:rPr>
              <a:t>LastPage</a:t>
            </a:r>
            <a:r>
              <a:rPr lang="en-US" altLang="ko-KR" sz="1100" dirty="0">
                <a:solidFill>
                  <a:schemeClr val="bg1"/>
                </a:solidFill>
              </a:rPr>
              <a:t>” </a:t>
            </a:r>
            <a:r>
              <a:rPr lang="ko-KR" altLang="en-US" sz="1100" dirty="0">
                <a:solidFill>
                  <a:schemeClr val="bg1"/>
                </a:solidFill>
              </a:rPr>
              <a:t>서비스에 필요한 데이터</a:t>
            </a:r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ko-KR" altLang="en-US" sz="1100" dirty="0">
                <a:solidFill>
                  <a:schemeClr val="bg1"/>
                </a:solidFill>
              </a:rPr>
              <a:t>보호자 정보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예약 내역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상담 기록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추모 이미지 등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r>
              <a:rPr lang="ko-KR" altLang="en-US" sz="1100" dirty="0">
                <a:solidFill>
                  <a:schemeClr val="bg1"/>
                </a:solidFill>
              </a:rPr>
              <a:t>가 생성 → 저장 → 활용 → 공유 → 폐기되는 전 과정에서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품질 이슈를 예방하기 위한 구체적인 관리 방안을 </a:t>
            </a:r>
            <a:r>
              <a:rPr lang="en-US" altLang="ko-KR" sz="1100" dirty="0">
                <a:solidFill>
                  <a:schemeClr val="bg1"/>
                </a:solidFill>
              </a:rPr>
              <a:t>NCS </a:t>
            </a:r>
            <a:r>
              <a:rPr lang="ko-KR" altLang="en-US" sz="1100" dirty="0">
                <a:solidFill>
                  <a:schemeClr val="bg1"/>
                </a:solidFill>
              </a:rPr>
              <a:t>학습 모듈의 기준</a:t>
            </a:r>
            <a:r>
              <a:rPr lang="en-US" altLang="ko-KR" sz="1100" dirty="0">
                <a:solidFill>
                  <a:schemeClr val="bg1"/>
                </a:solidFill>
              </a:rPr>
              <a:t>(&lt;</a:t>
            </a:r>
            <a:r>
              <a:rPr lang="ko-KR" altLang="en-US" sz="1100" dirty="0">
                <a:solidFill>
                  <a:schemeClr val="bg1"/>
                </a:solidFill>
              </a:rPr>
              <a:t>표 </a:t>
            </a:r>
            <a:r>
              <a:rPr lang="en-US" altLang="ko-KR" sz="1100" dirty="0">
                <a:solidFill>
                  <a:schemeClr val="bg1"/>
                </a:solidFill>
              </a:rPr>
              <a:t>1-14&gt; </a:t>
            </a:r>
            <a:r>
              <a:rPr lang="ko-KR" altLang="en-US" sz="1100" dirty="0">
                <a:solidFill>
                  <a:schemeClr val="bg1"/>
                </a:solidFill>
              </a:rPr>
              <a:t>참고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r>
              <a:rPr lang="ko-KR" altLang="en-US" sz="1100" dirty="0">
                <a:solidFill>
                  <a:schemeClr val="bg1"/>
                </a:solidFill>
              </a:rPr>
              <a:t>에 따라 계획해야 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F63A94-6E69-49B7-89FE-FECF1EB61931}"/>
              </a:ext>
            </a:extLst>
          </p:cNvPr>
          <p:cNvSpPr txBox="1"/>
          <p:nvPr/>
        </p:nvSpPr>
        <p:spPr>
          <a:xfrm>
            <a:off x="569595" y="3048687"/>
            <a:ext cx="565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chemeClr val="bg1"/>
                </a:solidFill>
              </a:rPr>
              <a:t>LastPage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</a:rPr>
              <a:t>데이터 생명 </a:t>
            </a:r>
            <a:r>
              <a:rPr lang="ko-KR" altLang="en-US" sz="1400" b="1" dirty="0" err="1">
                <a:solidFill>
                  <a:schemeClr val="bg1"/>
                </a:solidFill>
              </a:rPr>
              <a:t>주기별</a:t>
            </a:r>
            <a:r>
              <a:rPr lang="ko-KR" altLang="en-US" sz="1400" b="1" dirty="0">
                <a:solidFill>
                  <a:schemeClr val="bg1"/>
                </a:solidFill>
              </a:rPr>
              <a:t> 품질 관리 방안 계획표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CD65BDF-70C2-42A9-A97F-60D437FA3AFA}"/>
              </a:ext>
            </a:extLst>
          </p:cNvPr>
          <p:cNvCxnSpPr>
            <a:cxnSpLocks/>
          </p:cNvCxnSpPr>
          <p:nvPr/>
        </p:nvCxnSpPr>
        <p:spPr>
          <a:xfrm>
            <a:off x="657225" y="3426139"/>
            <a:ext cx="1111949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80D0FD3-F8D4-4C46-8C71-7DF08AEC5E71}"/>
              </a:ext>
            </a:extLst>
          </p:cNvPr>
          <p:cNvSpPr txBox="1"/>
          <p:nvPr/>
        </p:nvSpPr>
        <p:spPr>
          <a:xfrm>
            <a:off x="565009" y="3459588"/>
            <a:ext cx="9617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</a:rPr>
              <a:t>프로젝트의 주요 데이터 유형을 기준으로 각 수명 주기 별 품질 관리 절차를 구체적으로 기술하고</a:t>
            </a:r>
            <a:r>
              <a:rPr lang="en-US" altLang="ko-KR" sz="1100" dirty="0">
                <a:solidFill>
                  <a:schemeClr val="bg1"/>
                </a:solidFill>
              </a:rPr>
              <a:t>,NCS </a:t>
            </a:r>
            <a:r>
              <a:rPr lang="ko-KR" altLang="en-US" sz="1100" dirty="0">
                <a:solidFill>
                  <a:schemeClr val="bg1"/>
                </a:solidFill>
              </a:rPr>
              <a:t>학습 모듈의 품질 관리 기준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ko-KR" altLang="en-US" sz="1100" dirty="0">
                <a:solidFill>
                  <a:schemeClr val="bg1"/>
                </a:solidFill>
              </a:rPr>
              <a:t>정확성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보안성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유용성 등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r>
              <a:rPr lang="ko-KR" altLang="en-US" sz="1100" dirty="0">
                <a:solidFill>
                  <a:schemeClr val="bg1"/>
                </a:solidFill>
              </a:rPr>
              <a:t>에 맞게 작성하십시오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759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2485</TotalTime>
  <Words>640</Words>
  <Application>Microsoft Office PowerPoint</Application>
  <PresentationFormat>와이드스크린</PresentationFormat>
  <Paragraphs>88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153</cp:revision>
  <dcterms:created xsi:type="dcterms:W3CDTF">2025-08-05T00:27:28Z</dcterms:created>
  <dcterms:modified xsi:type="dcterms:W3CDTF">2025-10-21T06:11:55Z</dcterms:modified>
</cp:coreProperties>
</file>