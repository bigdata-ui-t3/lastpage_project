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7" r:id="rId3"/>
    <p:sldId id="354" r:id="rId4"/>
    <p:sldId id="355" r:id="rId5"/>
    <p:sldId id="357" r:id="rId6"/>
    <p:sldId id="361" r:id="rId7"/>
    <p:sldId id="362" r:id="rId8"/>
    <p:sldId id="364" r:id="rId9"/>
    <p:sldId id="360" r:id="rId10"/>
    <p:sldId id="345" r:id="rId11"/>
    <p:sldId id="346" r:id="rId12"/>
    <p:sldId id="347" r:id="rId13"/>
    <p:sldId id="348" r:id="rId14"/>
    <p:sldId id="365" r:id="rId15"/>
    <p:sldId id="366" r:id="rId16"/>
    <p:sldId id="368" r:id="rId17"/>
    <p:sldId id="367" r:id="rId18"/>
    <p:sldId id="369" r:id="rId19"/>
    <p:sldId id="28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llName" initials="F" lastIdx="2" clrIdx="0">
    <p:extLst>
      <p:ext uri="{19B8F6BF-5375-455C-9EA6-DF929625EA0E}">
        <p15:presenceInfo xmlns:p15="http://schemas.microsoft.com/office/powerpoint/2012/main" userId="FullNa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분석 모델링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59613" y="1816731"/>
            <a:ext cx="11256675" cy="4774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문제 정의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라이브러리 불러오기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EDA --------------------------------------------------------------------------------------------------------------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3p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전처리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OLS 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4p – 7p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선형 회귀 모델 학습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교차검증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학습 및 평가 지표 확인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(MSE, MAE, RMSE, R2) 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모델학습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평가지표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지표해석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9p–12p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모델 파일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EXPORT 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13p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STREAMLIT UI CODE 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모델 파일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IMPORT 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15p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서비스 동작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예측 및 분류 확인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17p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라이브러리 불러오기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2242945" y="1734488"/>
            <a:ext cx="7423794" cy="33361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문제 정의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주어진 제품 및 매장 특성들을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(X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기반으로 판매 금액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Item_Outlet_Sales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예측하기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652D2F-066B-4912-AB96-CE2F053A1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679" y="2348711"/>
            <a:ext cx="6992326" cy="17337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DE1DC8-F300-40C4-A57B-529FFFBD4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679" y="4350605"/>
            <a:ext cx="6992326" cy="203900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92D139E-42F9-46B5-9DAF-F333D31B940B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954842" y="4082503"/>
            <a:ext cx="0" cy="268102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EDA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CC1E8-373F-471B-A64D-3A67DD4FE0FA}"/>
              </a:ext>
            </a:extLst>
          </p:cNvPr>
          <p:cNvSpPr txBox="1"/>
          <p:nvPr/>
        </p:nvSpPr>
        <p:spPr>
          <a:xfrm>
            <a:off x="6029444" y="1666597"/>
            <a:ext cx="5587747" cy="5045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탐색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(EDA: Exploratory Data Analysis)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데이터를 본격적으로 모델에 사용하기 전에 구조와 특성을 파악하는 초기 단계입니다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샘플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train.sample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(5))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데이터셋에서 임의의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 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(row)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추출하여 데이터가 어떻게 생겼는지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어떤 종류의 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숫자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문자열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있는지 시각적으로 확인합니다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크기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train.shape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데이터프레임의 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(row)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(column)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개수를 확인합니다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정보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(train.info())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데이터셋의 전반적인 요약 정보를 제공합니다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통계량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train.describe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())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 컬럼들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숫자로 된 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대한 요약 통계량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표준편차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최소값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최대값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사분위수등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제공합니다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결측값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개수 확인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train.isnull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().sum())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컬럼별로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결측값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NaN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몇 개 있는지 정확한 숫자를 보여줍니다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C69D112-AABD-4A04-B39B-6DB2F6F24058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5479391" y="3639350"/>
            <a:ext cx="721964" cy="378142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0358E89-9502-4512-B038-4361309BF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9" y="1666597"/>
            <a:ext cx="2210108" cy="23530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878F83-E208-4763-BBFC-E843F6007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256" y="1666597"/>
            <a:ext cx="3126317" cy="4953494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BFA89D8E-B321-4B98-8234-5EF70D57BB7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444757" y="2843099"/>
            <a:ext cx="177499" cy="1300245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9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95E13-900D-437E-ACBD-668DE3BEA655}"/>
              </a:ext>
            </a:extLst>
          </p:cNvPr>
          <p:cNvSpPr txBox="1"/>
          <p:nvPr/>
        </p:nvSpPr>
        <p:spPr>
          <a:xfrm>
            <a:off x="6370320" y="2527175"/>
            <a:ext cx="5202065" cy="338060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평균값 대체</a:t>
            </a: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대체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데이터 정규화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Item_Fat_Content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표기 통일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(Low Fat / Regular)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Label Encoding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모든 범주형 데이터를 숫자형으로 변환하여 모델 입력 가능하도록 처리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불필요한 식별자 제거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Item_Identifier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컬럼은 예측에 사용되지 않으므로 제거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D91326C0-AC7C-442D-B9E6-DFA673D39736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4484695" y="4217478"/>
            <a:ext cx="1885625" cy="601039"/>
          </a:xfrm>
          <a:prstGeom prst="bentConnector3">
            <a:avLst>
              <a:gd name="adj1" fmla="val 83812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1DE9F87-F178-4A2F-B06D-2DAA8BFD6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78" y="2526992"/>
            <a:ext cx="5068007" cy="18290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FCA5B7-D8B1-4F27-9B0B-690F4AC76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480" y="4561306"/>
            <a:ext cx="3153215" cy="514422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CD6ED4CF-3CB5-44EB-AF3A-EE33BDC254D2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5752285" y="3441520"/>
            <a:ext cx="618035" cy="7759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8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B701FE1-3A81-4E68-8D65-9C6440F9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829" y="2116910"/>
            <a:ext cx="3881186" cy="303102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577201A-721C-4E4B-8877-C8DFD8CB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015" y="2116910"/>
            <a:ext cx="3754514" cy="2665807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2C45785-2B3F-4D51-989E-97E667577E41}"/>
              </a:ext>
            </a:extLst>
          </p:cNvPr>
          <p:cNvCxnSpPr>
            <a:cxnSpLocks/>
          </p:cNvCxnSpPr>
          <p:nvPr/>
        </p:nvCxnSpPr>
        <p:spPr>
          <a:xfrm>
            <a:off x="3681886" y="2992741"/>
            <a:ext cx="463943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1B97FC-9F36-445F-8108-CB0D15017CD3}"/>
              </a:ext>
            </a:extLst>
          </p:cNvPr>
          <p:cNvSpPr txBox="1"/>
          <p:nvPr/>
        </p:nvSpPr>
        <p:spPr>
          <a:xfrm>
            <a:off x="483946" y="5521308"/>
            <a:ext cx="3518574" cy="610616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X_cols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= [c for c in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train.columns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if c !=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y_col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x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 후보들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다 포함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714C8A6-08C4-4539-BC0F-2C6166583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46" y="2116910"/>
            <a:ext cx="3197940" cy="324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7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16BB5CE-BBA1-4307-A71B-4BD523117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18" y="1653248"/>
            <a:ext cx="2534004" cy="15432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BF766B-1894-4691-B62A-09A736579BC4}"/>
              </a:ext>
            </a:extLst>
          </p:cNvPr>
          <p:cNvSpPr txBox="1"/>
          <p:nvPr/>
        </p:nvSpPr>
        <p:spPr>
          <a:xfrm>
            <a:off x="198331" y="4860524"/>
            <a:ext cx="3518574" cy="88761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0.05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이상이면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값과 상관관계가 낮기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때문에 </a:t>
            </a:r>
            <a:r>
              <a:rPr lang="en-US" altLang="ko-KR" sz="12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model.pvalues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&gt; 0.05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를 사용하여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PValue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0.05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이상인 컬럼 확인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EE40D4-FA15-4333-93B2-AD8709358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31" y="1653248"/>
            <a:ext cx="3924848" cy="26102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4A3094-4B0E-4764-B8DF-F80CB7E89946}"/>
              </a:ext>
            </a:extLst>
          </p:cNvPr>
          <p:cNvSpPr txBox="1"/>
          <p:nvPr/>
        </p:nvSpPr>
        <p:spPr>
          <a:xfrm>
            <a:off x="8499318" y="3328823"/>
            <a:ext cx="3403335" cy="30634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다중공선성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회귀분석에서 설명 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독립변수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들이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서로 강하게 상관되어 있는 현상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발생원인</a:t>
            </a:r>
            <a:endParaRPr lang="en-US" altLang="ko-KR" sz="1000" b="1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범주형 독립변수 간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(X1,X2)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의 중복된 의미가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있을때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범주형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-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수치형 검정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카이제곱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연속된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수치값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(ex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날짜정보 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포함되어있을때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컬럼 삭제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수치형 독립변수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(X1,X2)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들간의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변수 범위 차이가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클때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    -&gt;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스케일링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VIF &gt;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 :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다중공선성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심함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VIF &gt; 5 : </a:t>
            </a:r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주의 필요</a:t>
            </a:r>
            <a:endParaRPr lang="en-US" altLang="ko-KR" sz="10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2FC4B95-09F3-4FFA-BECA-0702D040757C}"/>
              </a:ext>
            </a:extLst>
          </p:cNvPr>
          <p:cNvCxnSpPr>
            <a:cxnSpLocks/>
          </p:cNvCxnSpPr>
          <p:nvPr/>
        </p:nvCxnSpPr>
        <p:spPr>
          <a:xfrm>
            <a:off x="8220082" y="2229342"/>
            <a:ext cx="279236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8E5C2A5-73CB-42C3-B021-3961CC44A9C4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1760656" y="4460425"/>
            <a:ext cx="597062" cy="203137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C2233FAA-48CE-4B63-B8BB-5D83DC47C02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220082" y="3655402"/>
            <a:ext cx="279236" cy="120512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5A85D88C-3BFD-43DC-B4ED-D8D2E0243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031" y="1653248"/>
            <a:ext cx="3887051" cy="306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0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OLS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A53B03-7724-480F-AA9D-5CD64BCB5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5" y="1721718"/>
            <a:ext cx="3772426" cy="9050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BD3F85-4D35-4C27-A964-9F3571276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35" y="2788357"/>
            <a:ext cx="4067743" cy="26292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E8714C-80CF-4FCD-A064-CE86FEB09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620" y="2788357"/>
            <a:ext cx="5334744" cy="2448267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66AEF3E-2C0D-4DD4-8DFF-A5E268B84DE1}"/>
              </a:ext>
            </a:extLst>
          </p:cNvPr>
          <p:cNvCxnSpPr>
            <a:cxnSpLocks/>
          </p:cNvCxnSpPr>
          <p:nvPr/>
        </p:nvCxnSpPr>
        <p:spPr>
          <a:xfrm>
            <a:off x="4888378" y="4039551"/>
            <a:ext cx="418242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977204-F0ED-45DF-9A01-C8AAD4B12FB4}"/>
              </a:ext>
            </a:extLst>
          </p:cNvPr>
          <p:cNvSpPr txBox="1"/>
          <p:nvPr/>
        </p:nvSpPr>
        <p:spPr>
          <a:xfrm>
            <a:off x="820635" y="5651069"/>
            <a:ext cx="6939183" cy="88761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스케일링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(Scaling)</a:t>
            </a:r>
            <a:r>
              <a:rPr lang="ko-KR" altLang="en-US" sz="1200" b="1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데이터의 단위나 크기를 일정한 범위로 맞추는 작업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결과적으로 모든 수치형 변수는 평균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표준편차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변환되어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OLS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회귀분석에 적합한 형태가 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C23623AB-5FDE-4583-8AC8-BE619B7BDDEA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rot="16200000" flipH="1">
            <a:off x="3455645" y="4816486"/>
            <a:ext cx="233445" cy="143572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582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선형 회귀 모델 학습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교차검증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10993-E0B9-4C3E-AB69-794691260C6B}"/>
              </a:ext>
            </a:extLst>
          </p:cNvPr>
          <p:cNvSpPr txBox="1"/>
          <p:nvPr/>
        </p:nvSpPr>
        <p:spPr>
          <a:xfrm>
            <a:off x="7479342" y="2139265"/>
            <a:ext cx="4243406" cy="39346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Linear Regression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Train 80% / Validation 20%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K-Fold (5-Fold)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 결과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R2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0.50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모델이 약 절반 정도의 매출 변동성을 설명 가능함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기본 선형 모델로서 충분히 합리적인 성능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RMSE ≈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 값과 예측 값 간 오차의 평균 크기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R2 Score ≈ 0.50 ~ 0.60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모델은 매출을 완벽히 예측하진 못하지만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주요 변수들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매출에 미치는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영향을 의미 있게 설명할 수 있음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4C6666-BAB2-4381-AC4E-3C9A192B3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78" y="2161817"/>
            <a:ext cx="3829584" cy="6954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7422F4-D81B-4452-809E-E7887AD81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78" y="2857239"/>
            <a:ext cx="3829584" cy="3210373"/>
          </a:xfrm>
          <a:prstGeom prst="rect">
            <a:avLst/>
          </a:prstGeom>
        </p:spPr>
      </p:pic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F2083DA-8EB6-45A8-A04E-AD346DD30A56}"/>
              </a:ext>
            </a:extLst>
          </p:cNvPr>
          <p:cNvCxnSpPr>
            <a:cxnSpLocks/>
            <a:stCxn id="8" idx="3"/>
            <a:endCxn id="32" idx="1"/>
          </p:cNvCxnSpPr>
          <p:nvPr/>
        </p:nvCxnSpPr>
        <p:spPr>
          <a:xfrm flipV="1">
            <a:off x="4019862" y="3338101"/>
            <a:ext cx="287956" cy="112432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4D5E142B-0415-490F-A485-EC314481334F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>
            <a:off x="7191386" y="3338101"/>
            <a:ext cx="287956" cy="76846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>
            <a:extLst>
              <a:ext uri="{FF2B5EF4-FFF2-40B4-BE49-F238E27FC236}">
                <a16:creationId xmlns:a16="http://schemas.microsoft.com/office/drawing/2014/main" id="{9ECA9452-28EE-474C-8AD3-5D4EB11CE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818" y="2139265"/>
            <a:ext cx="2883568" cy="239767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4414CEF9-37B3-4FEF-B316-686918BA2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818" y="4536937"/>
            <a:ext cx="288356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61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6E2D2-5252-49B6-B59F-BE2DFA151D2F}"/>
              </a:ext>
            </a:extLst>
          </p:cNvPr>
          <p:cNvSpPr txBox="1"/>
          <p:nvPr/>
        </p:nvSpPr>
        <p:spPr>
          <a:xfrm>
            <a:off x="557939" y="1865294"/>
            <a:ext cx="10955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MSE(Mean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ko-KR" altLang="en-US" sz="1200" dirty="0">
                <a:solidFill>
                  <a:schemeClr val="bg1"/>
                </a:solidFill>
              </a:rPr>
              <a:t> 오차를 제곱하므로 큰 오차에 더 민감하여 이상치에 대한 영향을 크게 받는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MSE</a:t>
            </a:r>
            <a:r>
              <a:rPr lang="ko-KR" altLang="en-US" sz="1200" dirty="0">
                <a:solidFill>
                  <a:schemeClr val="bg1"/>
                </a:solidFill>
              </a:rPr>
              <a:t>의 값이 작을수록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예측값의</a:t>
            </a:r>
            <a:r>
              <a:rPr lang="ko-KR" altLang="en-US" sz="1200" dirty="0">
                <a:solidFill>
                  <a:schemeClr val="bg1"/>
                </a:solidFill>
              </a:rPr>
              <a:t> 차이가 작다</a:t>
            </a:r>
            <a:r>
              <a:rPr lang="en-US" altLang="ko-KR" sz="1200" dirty="0">
                <a:solidFill>
                  <a:schemeClr val="bg1"/>
                </a:solidFill>
              </a:rPr>
              <a:t>. -&gt; </a:t>
            </a:r>
            <a:r>
              <a:rPr lang="ko-KR" altLang="en-US" sz="1200" dirty="0">
                <a:solidFill>
                  <a:schemeClr val="bg1"/>
                </a:solidFill>
              </a:rPr>
              <a:t>값이 작을수록 좋음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MAE(Mean Absolute Error : </a:t>
            </a:r>
            <a:r>
              <a:rPr lang="ko-KR" altLang="en-US" sz="1200" b="1" dirty="0">
                <a:solidFill>
                  <a:schemeClr val="bg1"/>
                </a:solidFill>
              </a:rPr>
              <a:t>평균절대오차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회귀 모델의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얼마나 차이가 나는지를 측정하는 가장 직관적인 오차 지표이다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모든 예측이 </a:t>
            </a:r>
            <a:r>
              <a:rPr lang="ko-KR" altLang="en-US" sz="1200" dirty="0" err="1">
                <a:solidFill>
                  <a:schemeClr val="bg1"/>
                </a:solidFill>
              </a:rPr>
              <a:t>실제값에서</a:t>
            </a:r>
            <a:r>
              <a:rPr lang="ko-KR" altLang="en-US" sz="1200" dirty="0">
                <a:solidFill>
                  <a:schemeClr val="bg1"/>
                </a:solidFill>
              </a:rPr>
              <a:t> 평균적으로 얼마나 벗어났는가를 절댓값 기준으로 계산한다</a:t>
            </a:r>
            <a:r>
              <a:rPr lang="en-US" altLang="ko-KR" sz="1200" dirty="0">
                <a:solidFill>
                  <a:schemeClr val="bg1"/>
                </a:solidFill>
              </a:rPr>
              <a:t>.!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제곱이 아닌 절댓값이므로 큰 오차에 대해 과도하게 </a:t>
            </a:r>
            <a:r>
              <a:rPr lang="ko-KR" altLang="en-US" sz="1200" dirty="0" err="1">
                <a:solidFill>
                  <a:schemeClr val="bg1"/>
                </a:solidFill>
              </a:rPr>
              <a:t>영향받지</a:t>
            </a:r>
            <a:r>
              <a:rPr lang="ko-KR" altLang="en-US" sz="1200" dirty="0">
                <a:solidFill>
                  <a:schemeClr val="bg1"/>
                </a:solidFill>
              </a:rPr>
              <a:t> 않는다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그래서 이상치가 포함된 데이터에서 안정적인 지표로 자주 사용된다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RMSE(Root 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평균제곱근오차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예측 오차를 제곱해 평균</a:t>
            </a:r>
            <a:r>
              <a:rPr lang="en-US" altLang="ko-KR" sz="1200" dirty="0">
                <a:solidFill>
                  <a:schemeClr val="bg1"/>
                </a:solidFill>
              </a:rPr>
              <a:t>(MSE)</a:t>
            </a:r>
            <a:r>
              <a:rPr lang="ko-KR" altLang="en-US" sz="1200" dirty="0">
                <a:solidFill>
                  <a:schemeClr val="bg1"/>
                </a:solidFill>
              </a:rPr>
              <a:t>을 낸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다시 제곱근을 취한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타깃 변수와 같은 단위로 표현되는 </a:t>
            </a:r>
            <a:r>
              <a:rPr lang="en-US" altLang="ko-KR" sz="1200" dirty="0">
                <a:solidFill>
                  <a:schemeClr val="bg1"/>
                </a:solidFill>
              </a:rPr>
              <a:t>“</a:t>
            </a:r>
            <a:r>
              <a:rPr lang="ko-KR" altLang="en-US" sz="1200" dirty="0">
                <a:solidFill>
                  <a:schemeClr val="bg1"/>
                </a:solidFill>
              </a:rPr>
              <a:t>평균적인 오차 규모</a:t>
            </a:r>
            <a:r>
              <a:rPr lang="en-US" altLang="ko-KR" sz="1200" dirty="0">
                <a:solidFill>
                  <a:schemeClr val="bg1"/>
                </a:solidFill>
              </a:rPr>
              <a:t>＂</a:t>
            </a:r>
            <a:r>
              <a:rPr lang="ko-KR" altLang="en-US" sz="1200" dirty="0">
                <a:solidFill>
                  <a:schemeClr val="bg1"/>
                </a:solidFill>
              </a:rPr>
              <a:t>로 값이 작을수록 예측이 정확하다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제곱근을 취하므로 원 데이터와 동일한 단위라 해석이 직관적이다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제곱을 사용하므로 이상치가 클 수록 지표에 영향이 크다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오차 분포가 대략 정상분포일 때</a:t>
            </a:r>
            <a:r>
              <a:rPr lang="en-US" altLang="ko-KR" sz="1200" dirty="0">
                <a:solidFill>
                  <a:schemeClr val="bg1"/>
                </a:solidFill>
              </a:rPr>
              <a:t>, RMSE</a:t>
            </a:r>
            <a:r>
              <a:rPr lang="ko-KR" altLang="en-US" sz="1200" dirty="0">
                <a:solidFill>
                  <a:schemeClr val="bg1"/>
                </a:solidFill>
              </a:rPr>
              <a:t>는 오차의 전형적 크기를 잘 대표한다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. R2(Coefficient of Determination : </a:t>
            </a:r>
            <a:r>
              <a:rPr lang="ko-KR" altLang="en-US" sz="1200" b="1" dirty="0">
                <a:solidFill>
                  <a:schemeClr val="bg1"/>
                </a:solidFill>
              </a:rPr>
              <a:t>결정계수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모델이 실제 데이터를 얼마나 잘 설명하는지를 나타내는 계수로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에 가까울 수록 완벽한 예측이라고 판단한다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변수를 추가할수록 자동으로 증가하기 때문에 주의해야한다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-</a:t>
            </a:r>
            <a:r>
              <a:rPr lang="ko-KR" altLang="en-US" sz="1200" dirty="0">
                <a:solidFill>
                  <a:schemeClr val="bg1"/>
                </a:solidFill>
              </a:rPr>
              <a:t>무한대 </a:t>
            </a:r>
            <a:r>
              <a:rPr lang="en-US" altLang="ko-KR" sz="1200" dirty="0">
                <a:solidFill>
                  <a:schemeClr val="bg1"/>
                </a:solidFill>
              </a:rPr>
              <a:t>~ 1</a:t>
            </a:r>
          </a:p>
        </p:txBody>
      </p:sp>
    </p:spTree>
    <p:extLst>
      <p:ext uri="{BB962C8B-B14F-4D97-AF65-F5344CB8AC3E}">
        <p14:creationId xmlns:p14="http://schemas.microsoft.com/office/powerpoint/2010/main" val="3884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학습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FDAE1-0942-4923-80DE-D01A2A20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59" y="2373410"/>
            <a:ext cx="4858427" cy="1247949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FEFC739-17BF-47BF-A615-A4209378A963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2758735" y="4419595"/>
            <a:ext cx="1596474" cy="3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F8B5B5-573B-48AA-8B28-25B66C243EC6}"/>
              </a:ext>
            </a:extLst>
          </p:cNvPr>
          <p:cNvSpPr txBox="1"/>
          <p:nvPr/>
        </p:nvSpPr>
        <p:spPr>
          <a:xfrm>
            <a:off x="6586925" y="2373410"/>
            <a:ext cx="4997983" cy="3472938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</a:rPr>
              <a:t>선형회귀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LinearRegression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사용하여 학습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모델 학습을 위한 라이브러리를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이름이 </a:t>
            </a:r>
            <a:r>
              <a:rPr lang="en-US" altLang="ko-KR" sz="1200" dirty="0" err="1">
                <a:solidFill>
                  <a:schemeClr val="bg1"/>
                </a:solidFill>
              </a:rPr>
              <a:t>lr</a:t>
            </a:r>
            <a:r>
              <a:rPr lang="ko-KR" altLang="en-US" sz="1200" dirty="0">
                <a:solidFill>
                  <a:schemeClr val="bg1"/>
                </a:solidFill>
              </a:rPr>
              <a:t>인 선형회귀 모델 인스턴스를 생성해줍니다</a:t>
            </a:r>
            <a:r>
              <a:rPr lang="en-US" altLang="ko-KR" sz="1200" dirty="0">
                <a:solidFill>
                  <a:schemeClr val="bg1"/>
                </a:solidFill>
              </a:rPr>
              <a:t>. ( </a:t>
            </a:r>
            <a:r>
              <a:rPr lang="ko-KR" altLang="en-US" sz="1200" dirty="0">
                <a:solidFill>
                  <a:schemeClr val="bg1"/>
                </a:solidFill>
              </a:rPr>
              <a:t>기본적으로 절편을 포함하고 정규화는 하지 않음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학습데이터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사용하여 모델학습을 진행합니다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여기서 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ko-KR" altLang="en-US" sz="1200" dirty="0">
                <a:solidFill>
                  <a:schemeClr val="bg1"/>
                </a:solidFill>
              </a:rPr>
              <a:t>은 독립변수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ko-KR" altLang="en-US" sz="1200" dirty="0">
                <a:solidFill>
                  <a:schemeClr val="bg1"/>
                </a:solidFill>
              </a:rPr>
              <a:t>은 종속변수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정답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</a:rPr>
              <a:t>target)</a:t>
            </a:r>
            <a:r>
              <a:rPr lang="ko-KR" altLang="en-US" sz="1200" dirty="0">
                <a:solidFill>
                  <a:schemeClr val="bg1"/>
                </a:solidFill>
              </a:rPr>
              <a:t>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검증용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 대해 학습된 모델로 예측을 수행합니다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ko-KR" altLang="en-US" sz="1200" dirty="0">
                <a:solidFill>
                  <a:schemeClr val="bg1"/>
                </a:solidFill>
              </a:rPr>
              <a:t>는 정답을 모르는 테스트 데이터를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결과로 각 샘플의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반환합니다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예측값들을</a:t>
            </a:r>
            <a:r>
              <a:rPr lang="ko-KR" altLang="en-US" sz="1200" dirty="0">
                <a:solidFill>
                  <a:schemeClr val="bg1"/>
                </a:solidFill>
              </a:rPr>
              <a:t> 확인해 봅니다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우리는 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en-US" altLang="ko-KR" sz="1200" dirty="0">
                <a:solidFill>
                  <a:schemeClr val="bg1"/>
                </a:solidFill>
              </a:rPr>
              <a:t>’ </a:t>
            </a:r>
            <a:r>
              <a:rPr lang="ko-KR" altLang="en-US" sz="1200" dirty="0">
                <a:solidFill>
                  <a:schemeClr val="bg1"/>
                </a:solidFill>
              </a:rPr>
              <a:t>이 </a:t>
            </a:r>
            <a:r>
              <a:rPr lang="ko-KR" altLang="en-US" sz="1200" dirty="0" err="1">
                <a:solidFill>
                  <a:schemeClr val="bg1"/>
                </a:solidFill>
              </a:rPr>
              <a:t>타겟값입니다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6197A23-BF9E-4220-AD38-4060AF899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58" y="5217833"/>
            <a:ext cx="4858423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48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BE0F0E-D3A2-4F8B-BA45-FF172634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2223821"/>
            <a:ext cx="4058216" cy="36581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/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noFill/>
              <a:ln w="19050"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0.43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0.50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0.65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0.51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110"/>
                </a:stretch>
              </a:blipFill>
              <a:ln w="1905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CA61E70D-3730-477F-A562-961D91853A96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2626751" y="6043104"/>
            <a:ext cx="493821" cy="171475"/>
          </a:xfrm>
          <a:prstGeom prst="bentConnector2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268721B-3573-474B-B3AE-846F86AA5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99" y="6019687"/>
            <a:ext cx="1857634" cy="71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60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 해석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039BE-340B-416A-A500-8B8117E61741}"/>
              </a:ext>
            </a:extLst>
          </p:cNvPr>
          <p:cNvSpPr txBox="1"/>
          <p:nvPr/>
        </p:nvSpPr>
        <p:spPr>
          <a:xfrm>
            <a:off x="5640925" y="2223618"/>
            <a:ext cx="5522517" cy="338060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지표 해석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200" dirty="0">
                <a:solidFill>
                  <a:schemeClr val="bg1"/>
                </a:solidFill>
              </a:rPr>
              <a:t>의 평균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표준편차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최소값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최대값을 근거로 해석해봅니다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평균 매출이 약 </a:t>
            </a:r>
            <a:r>
              <a:rPr lang="en-US" altLang="ko-KR" sz="1200" dirty="0">
                <a:solidFill>
                  <a:schemeClr val="bg1"/>
                </a:solidFill>
              </a:rPr>
              <a:t>2,190, </a:t>
            </a:r>
            <a:r>
              <a:rPr lang="ko-KR" altLang="en-US" sz="1200" dirty="0">
                <a:solidFill>
                  <a:schemeClr val="bg1"/>
                </a:solidFill>
              </a:rPr>
              <a:t>표준편차가 </a:t>
            </a:r>
            <a:r>
              <a:rPr lang="en-US" altLang="ko-KR" sz="1200" dirty="0">
                <a:solidFill>
                  <a:schemeClr val="bg1"/>
                </a:solidFill>
              </a:rPr>
              <a:t>1,706 </a:t>
            </a:r>
            <a:r>
              <a:rPr lang="ko-KR" altLang="en-US" sz="1200" dirty="0">
                <a:solidFill>
                  <a:schemeClr val="bg1"/>
                </a:solidFill>
              </a:rPr>
              <a:t>정도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1. MAE = 860.20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예측이 약 </a:t>
            </a:r>
            <a:r>
              <a:rPr lang="en-US" altLang="ko-KR" sz="1200" dirty="0">
                <a:solidFill>
                  <a:schemeClr val="bg1"/>
                </a:solidFill>
              </a:rPr>
              <a:t>860</a:t>
            </a:r>
            <a:r>
              <a:rPr lang="ko-KR" altLang="en-US" sz="1200" dirty="0">
                <a:solidFill>
                  <a:schemeClr val="bg1"/>
                </a:solidFill>
              </a:rPr>
              <a:t>정도 틀리고 전체 매출 평균에 비해 약 </a:t>
            </a:r>
            <a:r>
              <a:rPr lang="en-US" altLang="ko-KR" sz="1200" dirty="0">
                <a:solidFill>
                  <a:schemeClr val="bg1"/>
                </a:solidFill>
              </a:rPr>
              <a:t>39%</a:t>
            </a:r>
            <a:r>
              <a:rPr lang="ko-KR" altLang="en-US" sz="1200" dirty="0">
                <a:solidFill>
                  <a:schemeClr val="bg1"/>
                </a:solidFill>
              </a:rPr>
              <a:t>의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2. RMSE = 1,124.00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약 </a:t>
            </a:r>
            <a:r>
              <a:rPr lang="en-US" altLang="ko-KR" sz="1200" dirty="0">
                <a:solidFill>
                  <a:schemeClr val="bg1"/>
                </a:solidFill>
              </a:rPr>
              <a:t>1,124</a:t>
            </a:r>
            <a:r>
              <a:rPr lang="ko-KR" altLang="en-US" sz="1200" dirty="0">
                <a:solidFill>
                  <a:schemeClr val="bg1"/>
                </a:solidFill>
              </a:rPr>
              <a:t>정도의 예측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표준편차보다 작으므로 나쁘지 않은 편이라고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3. MSE = 1,263,397 </a:t>
            </a:r>
            <a:r>
              <a:rPr lang="ko-KR" altLang="en-US" sz="1200" dirty="0">
                <a:solidFill>
                  <a:schemeClr val="bg1"/>
                </a:solidFill>
              </a:rPr>
              <a:t>대충 </a:t>
            </a:r>
            <a:r>
              <a:rPr lang="en-US" altLang="ko-KR" sz="1200" dirty="0">
                <a:solidFill>
                  <a:schemeClr val="bg1"/>
                </a:solidFill>
              </a:rPr>
              <a:t>RMSE</a:t>
            </a:r>
            <a:r>
              <a:rPr lang="ko-KR" altLang="en-US" sz="1200" dirty="0">
                <a:solidFill>
                  <a:schemeClr val="bg1"/>
                </a:solidFill>
              </a:rPr>
              <a:t>와 비슷한 지표해석을 한다고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4. R2 = 0.5133</a:t>
            </a:r>
            <a:r>
              <a:rPr lang="ko-KR" altLang="en-US" sz="1200" dirty="0">
                <a:solidFill>
                  <a:schemeClr val="bg1"/>
                </a:solidFill>
              </a:rPr>
              <a:t>으로 이 회귀모델이 매출 변동의 약 </a:t>
            </a:r>
            <a:r>
              <a:rPr lang="en-US" altLang="ko-KR" sz="1200" dirty="0">
                <a:solidFill>
                  <a:schemeClr val="bg1"/>
                </a:solidFill>
              </a:rPr>
              <a:t>51.3%</a:t>
            </a:r>
            <a:r>
              <a:rPr lang="ko-KR" altLang="en-US" sz="1200" dirty="0">
                <a:solidFill>
                  <a:schemeClr val="bg1"/>
                </a:solidFill>
              </a:rPr>
              <a:t>정도를 설명한다고 볼 수 있고 절반정도의 설명력을 갖기때문에 그냥 저냥 적당한 수준의 설명력이라고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992C98-41E2-4E2A-B1E3-BF310E82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2" y="2356144"/>
            <a:ext cx="533474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BA1BB9-39F9-4E12-BBE1-C211C7183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756" y="2356144"/>
            <a:ext cx="1181265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966181-BC86-4E9C-8B43-7860E907398A}"/>
              </a:ext>
            </a:extLst>
          </p:cNvPr>
          <p:cNvSpPr txBox="1"/>
          <p:nvPr/>
        </p:nvSpPr>
        <p:spPr>
          <a:xfrm>
            <a:off x="720134" y="1607445"/>
            <a:ext cx="3859485" cy="633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bg1"/>
                </a:solidFill>
              </a:rPr>
              <a:t>&lt;</a:t>
            </a:r>
            <a:r>
              <a:rPr lang="en-US" altLang="ko-KR" sz="1300" b="1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300" b="1" dirty="0">
                <a:solidFill>
                  <a:schemeClr val="bg1"/>
                </a:solidFill>
              </a:rPr>
              <a:t>의 </a:t>
            </a:r>
            <a:r>
              <a:rPr lang="en-US" altLang="ko-KR" sz="1300" b="1" dirty="0">
                <a:solidFill>
                  <a:schemeClr val="bg1"/>
                </a:solidFill>
              </a:rPr>
              <a:t>describe&gt;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알아보기 쉽게 스케일링하기 전 값으로 비교해봅니다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4B9AF5A-61C7-43B9-A039-8AEF836220CE}"/>
              </a:ext>
            </a:extLst>
          </p:cNvPr>
          <p:cNvCxnSpPr>
            <a:cxnSpLocks/>
          </p:cNvCxnSpPr>
          <p:nvPr/>
        </p:nvCxnSpPr>
        <p:spPr>
          <a:xfrm>
            <a:off x="926282" y="2261278"/>
            <a:ext cx="34094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DBC6FD59-D28E-4B48-B154-5EFDDAFB9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290" y="4137567"/>
            <a:ext cx="1714739" cy="771633"/>
          </a:xfrm>
          <a:prstGeom prst="rect">
            <a:avLst/>
          </a:prstGeom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F43BA0B-A315-4AC4-8E10-1B784FFDF276}"/>
              </a:ext>
            </a:extLst>
          </p:cNvPr>
          <p:cNvCxnSpPr>
            <a:cxnSpLocks/>
            <a:stCxn id="10" idx="3"/>
            <a:endCxn id="5" idx="0"/>
          </p:cNvCxnSpPr>
          <p:nvPr/>
        </p:nvCxnSpPr>
        <p:spPr>
          <a:xfrm>
            <a:off x="2641021" y="3632672"/>
            <a:ext cx="1818639" cy="504895"/>
          </a:xfrm>
          <a:prstGeom prst="bentConnector2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5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6.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모델 파일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EXPORT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325A18-9F33-4A43-A16B-27C2248479CD}"/>
              </a:ext>
            </a:extLst>
          </p:cNvPr>
          <p:cNvSpPr txBox="1"/>
          <p:nvPr/>
        </p:nvSpPr>
        <p:spPr>
          <a:xfrm>
            <a:off x="7682687" y="3429000"/>
            <a:ext cx="3181056" cy="69705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solidFill>
                  <a:schemeClr val="bg1"/>
                </a:solidFill>
              </a:rPr>
              <a:t>Streamlit</a:t>
            </a:r>
            <a:r>
              <a:rPr lang="ko-KR" altLang="en-US" sz="1400" dirty="0">
                <a:solidFill>
                  <a:schemeClr val="bg1"/>
                </a:solidFill>
              </a:rPr>
              <a:t>은 모델을 불러와야 하므로</a:t>
            </a:r>
            <a:br>
              <a:rPr lang="ko-KR" altLang="en-US" sz="1400" dirty="0">
                <a:solidFill>
                  <a:schemeClr val="bg1"/>
                </a:solidFill>
              </a:rPr>
            </a:br>
            <a:r>
              <a:rPr lang="en-US" altLang="ko-KR" sz="1400" dirty="0">
                <a:solidFill>
                  <a:schemeClr val="bg1"/>
                </a:solidFill>
              </a:rPr>
              <a:t>pickle </a:t>
            </a:r>
            <a:r>
              <a:rPr lang="ko-KR" altLang="en-US" sz="1400" dirty="0">
                <a:solidFill>
                  <a:schemeClr val="bg1"/>
                </a:solidFill>
              </a:rPr>
              <a:t>또는 </a:t>
            </a:r>
            <a:r>
              <a:rPr lang="en-US" altLang="ko-KR" sz="1400" dirty="0" err="1">
                <a:solidFill>
                  <a:schemeClr val="bg1"/>
                </a:solidFill>
              </a:rPr>
              <a:t>joblib</a:t>
            </a:r>
            <a:r>
              <a:rPr lang="ko-KR" altLang="en-US" sz="1400" dirty="0">
                <a:solidFill>
                  <a:schemeClr val="bg1"/>
                </a:solidFill>
              </a:rPr>
              <a:t>으로 모델을 저장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BA12061-77C9-40AC-9901-E2639AE6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13" y="2554205"/>
            <a:ext cx="5334744" cy="3143689"/>
          </a:xfrm>
          <a:prstGeom prst="rect">
            <a:avLst/>
          </a:prstGeom>
        </p:spPr>
      </p:pic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2D68D15F-29AF-478A-9413-3A2D4879CEF1}"/>
              </a:ext>
            </a:extLst>
          </p:cNvPr>
          <p:cNvCxnSpPr>
            <a:stCxn id="20" idx="3"/>
            <a:endCxn id="18" idx="1"/>
          </p:cNvCxnSpPr>
          <p:nvPr/>
        </p:nvCxnSpPr>
        <p:spPr>
          <a:xfrm flipV="1">
            <a:off x="6280557" y="3777525"/>
            <a:ext cx="1402130" cy="348525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16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7. STREAMLIT UI CODE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DD4A68-277A-421F-9365-14983E184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171" y="1648903"/>
            <a:ext cx="3651557" cy="4977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02D2CA-8C50-47C7-AB66-94DBF1B4F9DB}"/>
              </a:ext>
            </a:extLst>
          </p:cNvPr>
          <p:cNvSpPr txBox="1"/>
          <p:nvPr/>
        </p:nvSpPr>
        <p:spPr>
          <a:xfrm>
            <a:off x="6380198" y="3062439"/>
            <a:ext cx="5052986" cy="1718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주요 구현 내용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사용자 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상품 무게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노출도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가격 등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받아 </a:t>
            </a:r>
            <a:r>
              <a:rPr lang="en-US" altLang="ko-KR" sz="1200" dirty="0" err="1">
                <a:solidFill>
                  <a:schemeClr val="bg1"/>
                </a:solidFill>
              </a:rPr>
              <a:t>DataFrame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범주형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LabelEncoder</a:t>
            </a:r>
            <a:r>
              <a:rPr lang="en-US" altLang="ko-KR" sz="1200" dirty="0">
                <a:solidFill>
                  <a:schemeClr val="bg1"/>
                </a:solidFill>
              </a:rPr>
              <a:t>) </a:t>
            </a:r>
            <a:r>
              <a:rPr lang="ko-KR" altLang="en-US" sz="1200" dirty="0">
                <a:solidFill>
                  <a:schemeClr val="bg1"/>
                </a:solidFill>
              </a:rPr>
              <a:t>변환 적용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수치형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StandardScaler</a:t>
            </a:r>
            <a:r>
              <a:rPr lang="en-US" altLang="ko-KR" sz="1200" dirty="0">
                <a:solidFill>
                  <a:schemeClr val="bg1"/>
                </a:solidFill>
              </a:rPr>
              <a:t>) </a:t>
            </a:r>
            <a:r>
              <a:rPr lang="ko-KR" altLang="en-US" sz="1200" dirty="0">
                <a:solidFill>
                  <a:schemeClr val="bg1"/>
                </a:solidFill>
              </a:rPr>
              <a:t>동일 스케일 적용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solidFill>
                  <a:schemeClr val="bg1"/>
                </a:solidFill>
              </a:rPr>
              <a:t>전처리</a:t>
            </a:r>
            <a:r>
              <a:rPr lang="ko-KR" altLang="en-US" sz="1200" dirty="0">
                <a:solidFill>
                  <a:schemeClr val="bg1"/>
                </a:solidFill>
              </a:rPr>
              <a:t> 파이프라인을 통일하여 실제 서비스와 학습 환경 일치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예측 버튼 클릭 시 모델 예측 결과를 화면에 출력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B089CFEA-E43E-44B1-848B-E78C8C58E823}"/>
              </a:ext>
            </a:extLst>
          </p:cNvPr>
          <p:cNvCxnSpPr>
            <a:stCxn id="4" idx="3"/>
            <a:endCxn id="9" idx="1"/>
          </p:cNvCxnSpPr>
          <p:nvPr/>
        </p:nvCxnSpPr>
        <p:spPr>
          <a:xfrm flipV="1">
            <a:off x="5201728" y="3921745"/>
            <a:ext cx="1178470" cy="215914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545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8.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모델 파일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IMPORT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A46327-FDBA-4E6E-B313-EF43C4996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64" y="4229965"/>
            <a:ext cx="2579432" cy="196167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CC4F24-CBC6-47F1-89FC-E95E2713AF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151" r="43108" b="75681"/>
          <a:stretch/>
        </p:blipFill>
        <p:spPr>
          <a:xfrm>
            <a:off x="1052258" y="2393167"/>
            <a:ext cx="3994561" cy="11646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8341FE-2151-4558-A534-A462449D221C}"/>
              </a:ext>
            </a:extLst>
          </p:cNvPr>
          <p:cNvSpPr txBox="1"/>
          <p:nvPr/>
        </p:nvSpPr>
        <p:spPr>
          <a:xfrm>
            <a:off x="5905765" y="3464133"/>
            <a:ext cx="4891980" cy="1164614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</a:t>
            </a:r>
            <a:r>
              <a:rPr lang="ko-KR" altLang="en-US" sz="1200" b="1" dirty="0" err="1">
                <a:solidFill>
                  <a:schemeClr val="bg1"/>
                </a:solidFill>
              </a:rPr>
              <a:t>로드된</a:t>
            </a:r>
            <a:r>
              <a:rPr lang="ko-KR" altLang="en-US" sz="1200" b="1" dirty="0">
                <a:solidFill>
                  <a:schemeClr val="bg1"/>
                </a:solidFill>
              </a:rPr>
              <a:t> 파일 구성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final_model.pkl</a:t>
            </a:r>
            <a:r>
              <a:rPr lang="en-US" altLang="ko-KR" sz="1200" dirty="0">
                <a:solidFill>
                  <a:schemeClr val="bg1"/>
                </a:solidFill>
              </a:rPr>
              <a:t> : </a:t>
            </a:r>
            <a:r>
              <a:rPr lang="ko-KR" altLang="en-US" sz="1200" dirty="0">
                <a:solidFill>
                  <a:schemeClr val="bg1"/>
                </a:solidFill>
              </a:rPr>
              <a:t>학습 완료된 선형회귀 모델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scaler.pkl</a:t>
            </a:r>
            <a:r>
              <a:rPr lang="en-US" altLang="ko-KR" sz="1200" dirty="0">
                <a:solidFill>
                  <a:schemeClr val="bg1"/>
                </a:solidFill>
              </a:rPr>
              <a:t> : </a:t>
            </a:r>
            <a:r>
              <a:rPr lang="ko-KR" altLang="en-US" sz="1200" dirty="0">
                <a:solidFill>
                  <a:schemeClr val="bg1"/>
                </a:solidFill>
              </a:rPr>
              <a:t>수치형 데이터 표준화에 사용된 </a:t>
            </a:r>
            <a:r>
              <a:rPr lang="en-US" altLang="ko-KR" sz="1200" dirty="0" err="1">
                <a:solidFill>
                  <a:schemeClr val="bg1"/>
                </a:solidFill>
              </a:rPr>
              <a:t>StandardScalerlabel</a:t>
            </a:r>
            <a:r>
              <a:rPr lang="en-US" altLang="ko-KR" sz="1200" dirty="0">
                <a:solidFill>
                  <a:schemeClr val="bg1"/>
                </a:solidFill>
              </a:rPr>
              <a:t>_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encoders.pkl</a:t>
            </a:r>
            <a:r>
              <a:rPr lang="en-US" altLang="ko-KR" sz="1200" dirty="0">
                <a:solidFill>
                  <a:schemeClr val="bg1"/>
                </a:solidFill>
              </a:rPr>
              <a:t> : </a:t>
            </a:r>
            <a:r>
              <a:rPr lang="ko-KR" altLang="en-US" sz="1200" dirty="0">
                <a:solidFill>
                  <a:schemeClr val="bg1"/>
                </a:solidFill>
              </a:rPr>
              <a:t>각 범주형 </a:t>
            </a:r>
            <a:r>
              <a:rPr lang="ko-KR" altLang="en-US" sz="1200" dirty="0" err="1">
                <a:solidFill>
                  <a:schemeClr val="bg1"/>
                </a:solidFill>
              </a:rPr>
              <a:t>컬럼별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LabelEncoder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매핑 값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4B05ED47-6E1C-43F9-91F9-E3AD4E015028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 rot="5400000">
            <a:off x="2678818" y="3859244"/>
            <a:ext cx="672184" cy="69259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8DE7742F-48E3-46F4-8568-54FB8E19EDCF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4269996" y="4046440"/>
            <a:ext cx="1635769" cy="1164360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24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9.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서비스 동작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C02587-179B-4F5A-B1E8-4E439A0BE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38" y="4717219"/>
            <a:ext cx="1609950" cy="19243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E1B934-DDD7-4F6A-8898-9CEF3B9BCC59}"/>
              </a:ext>
            </a:extLst>
          </p:cNvPr>
          <p:cNvSpPr txBox="1"/>
          <p:nvPr/>
        </p:nvSpPr>
        <p:spPr>
          <a:xfrm>
            <a:off x="7682519" y="3570861"/>
            <a:ext cx="4054700" cy="1718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</a:t>
            </a:r>
            <a:r>
              <a:rPr lang="en-US" altLang="ko-KR" sz="1200" b="1" dirty="0">
                <a:solidFill>
                  <a:schemeClr val="bg1"/>
                </a:solidFill>
              </a:rPr>
              <a:t>docker-</a:t>
            </a:r>
            <a:r>
              <a:rPr lang="en-US" altLang="ko-KR" sz="1200" b="1" dirty="0" err="1">
                <a:solidFill>
                  <a:schemeClr val="bg1"/>
                </a:solidFill>
              </a:rPr>
              <a:t>compose.yml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python:3.10-slim </a:t>
            </a:r>
            <a:r>
              <a:rPr lang="ko-KR" altLang="en-US" sz="1200" dirty="0">
                <a:solidFill>
                  <a:schemeClr val="bg1"/>
                </a:solidFill>
              </a:rPr>
              <a:t>기반 경량 이미지 사용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/app </a:t>
            </a:r>
            <a:r>
              <a:rPr lang="ko-KR" altLang="en-US" sz="1200" dirty="0">
                <a:solidFill>
                  <a:schemeClr val="bg1"/>
                </a:solidFill>
              </a:rPr>
              <a:t>디렉토리를 작업 위치로 지정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로컬 프로젝트 폴더를 컨테이너 내부로 </a:t>
            </a:r>
            <a:r>
              <a:rPr lang="en-US" altLang="ko-KR" sz="1200" dirty="0">
                <a:solidFill>
                  <a:schemeClr val="bg1"/>
                </a:solidFill>
              </a:rPr>
              <a:t>volume </a:t>
            </a:r>
            <a:r>
              <a:rPr lang="ko-KR" altLang="en-US" sz="1200" dirty="0">
                <a:solidFill>
                  <a:schemeClr val="bg1"/>
                </a:solidFill>
              </a:rPr>
              <a:t>매핑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Streamlit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자동 재시작 옵션 설정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requirements.txt </a:t>
            </a:r>
            <a:r>
              <a:rPr lang="ko-KR" altLang="en-US" sz="1200" dirty="0">
                <a:solidFill>
                  <a:schemeClr val="bg1"/>
                </a:solidFill>
              </a:rPr>
              <a:t>설치 후 </a:t>
            </a:r>
            <a:r>
              <a:rPr lang="en-US" altLang="ko-KR" sz="1200" dirty="0" err="1">
                <a:solidFill>
                  <a:schemeClr val="bg1"/>
                </a:solidFill>
              </a:rPr>
              <a:t>streamlit</a:t>
            </a:r>
            <a:r>
              <a:rPr lang="en-US" altLang="ko-KR" sz="1200" dirty="0">
                <a:solidFill>
                  <a:schemeClr val="bg1"/>
                </a:solidFill>
              </a:rPr>
              <a:t> run app.py </a:t>
            </a:r>
            <a:r>
              <a:rPr lang="ko-KR" altLang="en-US" sz="1200" dirty="0">
                <a:solidFill>
                  <a:schemeClr val="bg1"/>
                </a:solidFill>
              </a:rPr>
              <a:t>실행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86FE33-AFE3-4A37-9A29-C07A01C0A090}"/>
              </a:ext>
            </a:extLst>
          </p:cNvPr>
          <p:cNvSpPr txBox="1"/>
          <p:nvPr/>
        </p:nvSpPr>
        <p:spPr>
          <a:xfrm>
            <a:off x="3851720" y="4820072"/>
            <a:ext cx="2396554" cy="171861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</a:t>
            </a:r>
            <a:r>
              <a:rPr lang="en-US" altLang="ko-KR" sz="1200" b="1" dirty="0">
                <a:solidFill>
                  <a:schemeClr val="bg1"/>
                </a:solidFill>
              </a:rPr>
              <a:t>requirements.txt </a:t>
            </a:r>
            <a:r>
              <a:rPr lang="ko-KR" altLang="en-US" sz="1200" b="1" dirty="0">
                <a:solidFill>
                  <a:schemeClr val="bg1"/>
                </a:solidFill>
              </a:rPr>
              <a:t>구성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Streamlit</a:t>
            </a:r>
            <a:r>
              <a:rPr lang="en-US" altLang="ko-KR" sz="1200" dirty="0">
                <a:solidFill>
                  <a:schemeClr val="bg1"/>
                </a:solidFill>
              </a:rPr>
              <a:t> UI </a:t>
            </a:r>
            <a:r>
              <a:rPr lang="ko-KR" altLang="en-US" sz="1200" dirty="0">
                <a:solidFill>
                  <a:schemeClr val="bg1"/>
                </a:solidFill>
              </a:rPr>
              <a:t>구현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Pandas/</a:t>
            </a:r>
            <a:r>
              <a:rPr lang="en-US" altLang="ko-KR" sz="1200" dirty="0" err="1">
                <a:solidFill>
                  <a:schemeClr val="bg1"/>
                </a:solidFill>
              </a:rPr>
              <a:t>Numpy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데이터 처리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Scikit-learn </a:t>
            </a:r>
            <a:r>
              <a:rPr lang="ko-KR" altLang="en-US" sz="1200" dirty="0">
                <a:solidFill>
                  <a:schemeClr val="bg1"/>
                </a:solidFill>
              </a:rPr>
              <a:t>모델 예측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Joblib</a:t>
            </a:r>
            <a:r>
              <a:rPr lang="en-US" altLang="ko-KR" sz="1200" dirty="0">
                <a:solidFill>
                  <a:schemeClr val="bg1"/>
                </a:solidFill>
              </a:rPr>
              <a:t>(PKL </a:t>
            </a:r>
            <a:r>
              <a:rPr lang="ko-KR" altLang="en-US" sz="1200" dirty="0">
                <a:solidFill>
                  <a:schemeClr val="bg1"/>
                </a:solidFill>
              </a:rPr>
              <a:t>로드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Watchdog(</a:t>
            </a:r>
            <a:r>
              <a:rPr lang="ko-KR" altLang="en-US" sz="1200" dirty="0">
                <a:solidFill>
                  <a:schemeClr val="bg1"/>
                </a:solidFill>
              </a:rPr>
              <a:t>자동 </a:t>
            </a:r>
            <a:r>
              <a:rPr lang="en-US" altLang="ko-KR" sz="1200" dirty="0">
                <a:solidFill>
                  <a:schemeClr val="bg1"/>
                </a:solidFill>
              </a:rPr>
              <a:t>reload </a:t>
            </a:r>
            <a:r>
              <a:rPr lang="ko-KR" altLang="en-US" sz="1200" dirty="0">
                <a:solidFill>
                  <a:schemeClr val="bg1"/>
                </a:solidFill>
              </a:rPr>
              <a:t>지원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16C6B0C-FD49-411E-8D4C-C7DECE967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56" y="1821212"/>
            <a:ext cx="6517947" cy="2771909"/>
          </a:xfrm>
          <a:prstGeom prst="rect">
            <a:avLst/>
          </a:prstGeom>
        </p:spPr>
      </p:pic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6FDC322E-B8BB-43CA-9FB8-F6D904A1FF1B}"/>
              </a:ext>
            </a:extLst>
          </p:cNvPr>
          <p:cNvCxnSpPr>
            <a:stCxn id="32" idx="3"/>
            <a:endCxn id="12" idx="1"/>
          </p:cNvCxnSpPr>
          <p:nvPr/>
        </p:nvCxnSpPr>
        <p:spPr>
          <a:xfrm>
            <a:off x="6923703" y="3207167"/>
            <a:ext cx="758816" cy="1223000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A098124B-4F8E-46A2-B3EE-F3E01F973E10}"/>
              </a:ext>
            </a:extLst>
          </p:cNvPr>
          <p:cNvCxnSpPr>
            <a:stCxn id="7" idx="3"/>
            <a:endCxn id="15" idx="1"/>
          </p:cNvCxnSpPr>
          <p:nvPr/>
        </p:nvCxnSpPr>
        <p:spPr>
          <a:xfrm flipV="1">
            <a:off x="2818688" y="5679378"/>
            <a:ext cx="1033032" cy="1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899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10.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예측 및 분류 확인 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944460-312E-484C-9B41-0146E7CD6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893" y="2272669"/>
            <a:ext cx="3441945" cy="36392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626C3B7-6C92-4929-9F05-E2C0E9B7CD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45" r="3494" b="462"/>
          <a:stretch/>
        </p:blipFill>
        <p:spPr>
          <a:xfrm>
            <a:off x="312511" y="2596531"/>
            <a:ext cx="3101808" cy="299153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E903422-2C62-48A9-B5F7-495D5E2704A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414319" y="4092296"/>
            <a:ext cx="230574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9F71D7D-BE1E-4F16-B523-DF26309B445C}"/>
              </a:ext>
            </a:extLst>
          </p:cNvPr>
          <p:cNvSpPr txBox="1"/>
          <p:nvPr/>
        </p:nvSpPr>
        <p:spPr>
          <a:xfrm>
            <a:off x="7430848" y="2293214"/>
            <a:ext cx="4523463" cy="1164614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사용자 </a:t>
            </a:r>
            <a:r>
              <a:rPr lang="ko-KR" altLang="en-US" sz="1200" b="1" dirty="0" err="1">
                <a:solidFill>
                  <a:schemeClr val="bg1"/>
                </a:solidFill>
              </a:rPr>
              <a:t>입력값</a:t>
            </a:r>
            <a:r>
              <a:rPr lang="ko-KR" altLang="en-US" sz="1200" b="1" dirty="0">
                <a:solidFill>
                  <a:schemeClr val="bg1"/>
                </a:solidFill>
              </a:rPr>
              <a:t> 변경 후 예측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상품 가격</a:t>
            </a:r>
            <a:r>
              <a:rPr lang="en-US" altLang="ko-KR" sz="1200" dirty="0">
                <a:solidFill>
                  <a:schemeClr val="bg1"/>
                </a:solidFill>
              </a:rPr>
              <a:t>(MRP) </a:t>
            </a:r>
            <a:r>
              <a:rPr lang="ko-KR" altLang="en-US" sz="1200" dirty="0">
                <a:solidFill>
                  <a:schemeClr val="bg1"/>
                </a:solidFill>
              </a:rPr>
              <a:t>등 주요 </a:t>
            </a:r>
            <a:r>
              <a:rPr lang="ko-KR" altLang="en-US" sz="1200" dirty="0" err="1">
                <a:solidFill>
                  <a:schemeClr val="bg1"/>
                </a:solidFill>
              </a:rPr>
              <a:t>입력값을</a:t>
            </a:r>
            <a:r>
              <a:rPr lang="ko-KR" altLang="en-US" sz="1200" dirty="0">
                <a:solidFill>
                  <a:schemeClr val="bg1"/>
                </a:solidFill>
              </a:rPr>
              <a:t> 조정하여 예측 재실행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ko-KR" altLang="en-US" sz="1200" dirty="0">
                <a:solidFill>
                  <a:schemeClr val="bg1"/>
                </a:solidFill>
              </a:rPr>
              <a:t> 변화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 err="1">
                <a:solidFill>
                  <a:schemeClr val="bg1"/>
                </a:solidFill>
              </a:rPr>
              <a:t>입력값에</a:t>
            </a:r>
            <a:r>
              <a:rPr lang="ko-KR" altLang="en-US" sz="1200" dirty="0">
                <a:solidFill>
                  <a:schemeClr val="bg1"/>
                </a:solidFill>
              </a:rPr>
              <a:t> 따라 모델이 유동적으로 반응함을 시각적으로 검증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355E91-B298-48B5-89DD-626895F7ACA1}"/>
              </a:ext>
            </a:extLst>
          </p:cNvPr>
          <p:cNvSpPr txBox="1"/>
          <p:nvPr/>
        </p:nvSpPr>
        <p:spPr>
          <a:xfrm>
            <a:off x="7430848" y="3639313"/>
            <a:ext cx="4523463" cy="227261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</a:rPr>
              <a:t>☆ </a:t>
            </a:r>
            <a:r>
              <a:rPr lang="ko-KR" altLang="en-US" sz="1200" b="1" dirty="0" err="1">
                <a:solidFill>
                  <a:schemeClr val="bg1"/>
                </a:solidFill>
              </a:rPr>
              <a:t>예측값</a:t>
            </a:r>
            <a:r>
              <a:rPr lang="ko-KR" altLang="en-US" sz="1200" b="1" dirty="0">
                <a:solidFill>
                  <a:schemeClr val="bg1"/>
                </a:solidFill>
              </a:rPr>
              <a:t> 단위가 작은 이유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본 모델은 </a:t>
            </a:r>
            <a:r>
              <a:rPr lang="en-US" altLang="ko-KR" sz="1200" dirty="0">
                <a:solidFill>
                  <a:schemeClr val="bg1"/>
                </a:solidFill>
              </a:rPr>
              <a:t>OLS(</a:t>
            </a:r>
            <a:r>
              <a:rPr lang="ko-KR" altLang="en-US" sz="1200" dirty="0">
                <a:solidFill>
                  <a:schemeClr val="bg1"/>
                </a:solidFill>
              </a:rPr>
              <a:t>선형회귀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사용했기 때문에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범주형 데이터를 </a:t>
            </a:r>
            <a:r>
              <a:rPr lang="en-US" altLang="ko-KR" sz="1200" dirty="0" err="1">
                <a:solidFill>
                  <a:schemeClr val="bg1"/>
                </a:solidFill>
              </a:rPr>
              <a:t>LabelEncoder</a:t>
            </a:r>
            <a:r>
              <a:rPr lang="ko-KR" altLang="en-US" sz="1200" dirty="0">
                <a:solidFill>
                  <a:schemeClr val="bg1"/>
                </a:solidFill>
              </a:rPr>
              <a:t>로 숫자로 변환하고 여러 컬럼을 제거한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수치형 데이터만 </a:t>
            </a:r>
            <a:r>
              <a:rPr lang="en-US" altLang="ko-KR" sz="1200" dirty="0" err="1">
                <a:solidFill>
                  <a:schemeClr val="bg1"/>
                </a:solidFill>
              </a:rPr>
              <a:t>StandardScaler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스케일링하여</a:t>
            </a:r>
            <a:r>
              <a:rPr lang="ko-KR" altLang="en-US" sz="1200" dirty="0">
                <a:solidFill>
                  <a:schemeClr val="bg1"/>
                </a:solidFill>
              </a:rPr>
              <a:t> 학습됨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이 과정에서 모델은 실제 판매액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원 단위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그대로 예측하기보다는 </a:t>
            </a:r>
            <a:r>
              <a:rPr lang="ko-KR" altLang="en-US" sz="1200" dirty="0" err="1">
                <a:solidFill>
                  <a:schemeClr val="bg1"/>
                </a:solidFill>
              </a:rPr>
              <a:t>스케일링된</a:t>
            </a:r>
            <a:r>
              <a:rPr lang="ko-KR" altLang="en-US" sz="1200" dirty="0">
                <a:solidFill>
                  <a:schemeClr val="bg1"/>
                </a:solidFill>
              </a:rPr>
              <a:t> 값들 간의 관계를 기반으로 결과를 출력하게 되므로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1.78</a:t>
            </a:r>
            <a:r>
              <a:rPr lang="ko-KR" altLang="en-US" sz="1200" dirty="0">
                <a:solidFill>
                  <a:schemeClr val="bg1"/>
                </a:solidFill>
              </a:rPr>
              <a:t>처럼 상대적으로 작은 수치로 나타나는 것은 현재 </a:t>
            </a:r>
            <a:r>
              <a:rPr lang="ko-KR" altLang="en-US" sz="1200" dirty="0" err="1">
                <a:solidFill>
                  <a:schemeClr val="bg1"/>
                </a:solidFill>
              </a:rPr>
              <a:t>전처리</a:t>
            </a:r>
            <a:r>
              <a:rPr lang="en-US" altLang="ko-KR" sz="1200" dirty="0">
                <a:solidFill>
                  <a:schemeClr val="bg1"/>
                </a:solidFill>
              </a:rPr>
              <a:t>·</a:t>
            </a:r>
            <a:r>
              <a:rPr lang="ko-KR" altLang="en-US" sz="1200" dirty="0">
                <a:solidFill>
                  <a:schemeClr val="bg1"/>
                </a:solidFill>
              </a:rPr>
              <a:t>학습 구조에서 자연스러운 현상</a:t>
            </a:r>
            <a:r>
              <a:rPr lang="en-US" altLang="ko-KR" sz="1200" dirty="0">
                <a:solidFill>
                  <a:schemeClr val="bg1"/>
                </a:solidFill>
              </a:rPr>
              <a:t>!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BB45C940-36BE-4EAB-ABC6-F73CF31C0111}"/>
              </a:ext>
            </a:extLst>
          </p:cNvPr>
          <p:cNvCxnSpPr>
            <a:stCxn id="6" idx="3"/>
            <a:endCxn id="12" idx="1"/>
          </p:cNvCxnSpPr>
          <p:nvPr/>
        </p:nvCxnSpPr>
        <p:spPr>
          <a:xfrm flipV="1">
            <a:off x="7086838" y="2875521"/>
            <a:ext cx="344010" cy="1216775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31797406-1758-46EE-B4EF-B0490891298F}"/>
              </a:ext>
            </a:extLst>
          </p:cNvPr>
          <p:cNvCxnSpPr>
            <a:stCxn id="6" idx="3"/>
            <a:endCxn id="15" idx="1"/>
          </p:cNvCxnSpPr>
          <p:nvPr/>
        </p:nvCxnSpPr>
        <p:spPr>
          <a:xfrm>
            <a:off x="7086838" y="4092296"/>
            <a:ext cx="344010" cy="683322"/>
          </a:xfrm>
          <a:prstGeom prst="bentConnector3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386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3527</TotalTime>
  <Words>1689</Words>
  <Application>Microsoft Office PowerPoint</Application>
  <PresentationFormat>와이드스크린</PresentationFormat>
  <Paragraphs>176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Calibri</vt:lpstr>
      <vt:lpstr>Cambria Math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243</cp:revision>
  <dcterms:created xsi:type="dcterms:W3CDTF">2025-08-05T00:27:28Z</dcterms:created>
  <dcterms:modified xsi:type="dcterms:W3CDTF">2025-11-17T03:52:29Z</dcterms:modified>
</cp:coreProperties>
</file>